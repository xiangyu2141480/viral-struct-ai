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image" Target="../media/image-1-3.png"/><Relationship Id="rId4" Type="http://schemas.openxmlformats.org/officeDocument/2006/relationships/image" Target="../media/image-1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image" Target="../media/image-5-7.png"/><Relationship Id="rId8" Type="http://schemas.openxmlformats.org/officeDocument/2006/relationships/image" Target="../media/image-5-8.svg"/><Relationship Id="rId9" Type="http://schemas.openxmlformats.org/officeDocument/2006/relationships/image" Target="../media/image-5-9.png"/><Relationship Id="rId10" Type="http://schemas.openxmlformats.org/officeDocument/2006/relationships/image" Target="../media/image-5-10.svg"/><Relationship Id="rId11" Type="http://schemas.openxmlformats.org/officeDocument/2006/relationships/image" Target="../media/image-5-11.png"/><Relationship Id="rId12" Type="http://schemas.openxmlformats.org/officeDocument/2006/relationships/image" Target="../media/image-5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svg"/><Relationship Id="rId3" Type="http://schemas.openxmlformats.org/officeDocument/2006/relationships/image" Target="../media/image-14-3.png"/><Relationship Id="rId4" Type="http://schemas.openxmlformats.org/officeDocument/2006/relationships/image" Target="../media/image-14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0C1426">
                  <a:alpha val="100000"/>
                </a:srgbClr>
              </a:gs>
              <a:gs pos="52000">
                <a:srgbClr val="070A12">
                  <a:alpha val="100000"/>
                </a:srgbClr>
              </a:gs>
              <a:gs pos="100000">
                <a:srgbClr val="05070D">
                  <a:alpha val="100000"/>
                </a:srgbClr>
              </a:gs>
            </a:gsLst>
            <a:path path="circle">
              <a:fillToRect l="50000" t="0" r="5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2D3EE">
                  <a:alpha val="7000"/>
                </a:srgbClr>
              </a:gs>
              <a:gs pos="70000">
                <a:srgbClr val="22D3EE">
                  <a:alpha val="0"/>
                </a:srgbClr>
              </a:gs>
            </a:gsLst>
            <a:path path="circle">
              <a:fillToRect l="50000" t="16000" r="50000" b="84000"/>
            </a:path>
          </a:gra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38750" y="2971800"/>
            <a:ext cx="7810500" cy="12573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719763" y="3700463"/>
            <a:ext cx="142875" cy="142875"/>
          </a:xfrm>
          <a:prstGeom prst="ellipse">
            <a:avLst/>
          </a:prstGeom>
          <a:solidFill>
            <a:srgbClr val="A78BFA"/>
          </a:solidFill>
          <a:ln/>
          <a:effectLst>
            <a:outerShdw sx="100000" sy="100000" kx="0" ky="0" algn="bl" rotWithShape="0" blurRad="152400" dist="50800" dir="16200000">
              <a:srgbClr val="A78BFA">
                <a:alpha val="9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310562" y="3395663"/>
            <a:ext cx="142875" cy="142875"/>
          </a:xfrm>
          <a:prstGeom prst="ellipse">
            <a:avLst/>
          </a:prstGeom>
          <a:solidFill>
            <a:srgbClr val="22D3EE"/>
          </a:solidFill>
          <a:ln/>
          <a:effectLst>
            <a:outerShdw sx="100000" sy="100000" kx="0" ky="0" algn="bl" rotWithShape="0" blurRad="152400" dist="50800" dir="16200000">
              <a:srgbClr val="22D3EE">
                <a:alpha val="9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0425113" y="3681413"/>
            <a:ext cx="142875" cy="142875"/>
          </a:xfrm>
          <a:prstGeom prst="ellipse">
            <a:avLst/>
          </a:prstGeom>
          <a:solidFill>
            <a:srgbClr val="34D399"/>
          </a:solidFill>
          <a:ln/>
          <a:effectLst>
            <a:outerShdw sx="100000" sy="100000" kx="0" ky="0" algn="bl" rotWithShape="0" blurRad="152400" dist="50800" dir="16200000">
              <a:srgbClr val="34D399">
                <a:alpha val="9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2425363" y="3376613"/>
            <a:ext cx="142875" cy="142875"/>
          </a:xfrm>
          <a:prstGeom prst="ellipse">
            <a:avLst/>
          </a:prstGeom>
          <a:solidFill>
            <a:srgbClr val="FBBF24"/>
          </a:solidFill>
          <a:ln/>
          <a:effectLst>
            <a:outerShdw sx="100000" sy="100000" kx="0" ky="0" algn="bl" rotWithShape="0" blurRad="152400" dist="50800" dir="16200000">
              <a:srgbClr val="FBBF24">
                <a:alpha val="9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181600" y="3924300"/>
            <a:ext cx="121920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50" spc="52" kern="0" dirty="0">
                <a:solidFill>
                  <a:srgbClr val="9AA6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Sample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7772400" y="3009900"/>
            <a:ext cx="121920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50" spc="52" kern="0" dirty="0">
                <a:solidFill>
                  <a:srgbClr val="9AA6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Structure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9886950" y="3905250"/>
            <a:ext cx="121920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50" spc="52" kern="0" dirty="0">
                <a:solidFill>
                  <a:srgbClr val="9AA6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Assets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11887200" y="2990850"/>
            <a:ext cx="121920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50" spc="52" kern="0" dirty="0">
                <a:solidFill>
                  <a:srgbClr val="9AA6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Timeline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6033170" y="4762500"/>
            <a:ext cx="6221562" cy="1028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800" b="1" spc="-172" kern="0" dirty="0">
                <a:solidFill>
                  <a:srgbClr val="F4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Viral Struct </a:t>
            </a:r>
            <a:pPr algn="ctr" indent="0" marL="0">
              <a:lnSpc>
                <a:spcPct val="100000"/>
              </a:lnSpc>
              <a:buNone/>
            </a:pPr>
            <a:r>
              <a:rPr lang="en-US" sz="7800" b="1" spc="-172" kern="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7800" dirty="0"/>
          </a:p>
        </p:txBody>
      </p:sp>
      <p:sp>
        <p:nvSpPr>
          <p:cNvPr id="14" name="Text 11"/>
          <p:cNvSpPr/>
          <p:nvPr/>
        </p:nvSpPr>
        <p:spPr>
          <a:xfrm>
            <a:off x="6022692" y="5962650"/>
            <a:ext cx="6242517" cy="4572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spc="22" kern="0" dirty="0">
                <a:solidFill>
                  <a:srgbClr val="AEB9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爆款结构迁移引擎 · 从样例拆解到时间线重组</a:t>
            </a:r>
            <a:endParaRPr lang="en-US" sz="2250" dirty="0"/>
          </a:p>
        </p:txBody>
      </p:sp>
      <p:sp>
        <p:nvSpPr>
          <p:cNvPr id="15" name="Shape 12"/>
          <p:cNvSpPr/>
          <p:nvPr/>
        </p:nvSpPr>
        <p:spPr>
          <a:xfrm>
            <a:off x="7371457" y="6762750"/>
            <a:ext cx="3544987" cy="552450"/>
          </a:xfrm>
          <a:prstGeom prst="roundRect">
            <a:avLst>
              <a:gd name="adj" fmla="val 50000"/>
            </a:avLst>
          </a:prstGeom>
          <a:solidFill>
            <a:srgbClr val="22D3EE">
              <a:alpha val="8000"/>
            </a:srgbClr>
          </a:solidFill>
          <a:ln w="6350">
            <a:solidFill>
              <a:srgbClr val="22D3EE">
                <a:alpha val="34000"/>
              </a:srgbClr>
            </a:solidFill>
            <a:prstDash val="solid"/>
          </a:ln>
          <a:effectLst>
            <a:outerShdw sx="100000" sy="100000" kx="0" ky="0" algn="bl" rotWithShape="0" blurRad="381000" dist="50800" dir="16200000">
              <a:srgbClr val="22D3EE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7625457" y="7005638"/>
            <a:ext cx="66675" cy="66675"/>
          </a:xfrm>
          <a:prstGeom prst="ellipse">
            <a:avLst/>
          </a:prstGeom>
          <a:solidFill>
            <a:srgbClr val="22D3EE"/>
          </a:solidFill>
          <a:ln/>
          <a:effectLst>
            <a:outerShdw sx="100000" sy="100000" kx="0" ky="0" algn="bl" rotWithShape="0" blurRad="95250" dist="50800" dir="16200000">
              <a:srgbClr val="22D3EE">
                <a:alpha val="10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7663632" y="6892925"/>
            <a:ext cx="3141613" cy="3302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CFE9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不是复制爆款,而是</a:t>
            </a:r>
            <a:pPr algn="ctr" indent="0" marL="0">
              <a:buNone/>
            </a:pPr>
            <a:r>
              <a:rPr lang="en-US" sz="1575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编译爆款结构</a:t>
            </a:r>
            <a:endParaRPr lang="en-US" sz="1575" dirty="0"/>
          </a:p>
        </p:txBody>
      </p:sp>
      <p:sp>
        <p:nvSpPr>
          <p:cNvPr id="18" name="Text 15"/>
          <p:cNvSpPr/>
          <p:nvPr/>
        </p:nvSpPr>
        <p:spPr>
          <a:xfrm>
            <a:off x="8063726" y="8629650"/>
            <a:ext cx="216054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425" spc="57" kern="0" dirty="0">
                <a:solidFill>
                  <a:srgbClr val="8A96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崔翔宇 · 严平川 · 张思源</a:t>
            </a:r>
            <a:endParaRPr lang="en-US" sz="1425" dirty="0"/>
          </a:p>
        </p:txBody>
      </p:sp>
      <p:sp>
        <p:nvSpPr>
          <p:cNvPr id="19" name="Text 16"/>
          <p:cNvSpPr/>
          <p:nvPr/>
        </p:nvSpPr>
        <p:spPr>
          <a:xfrm>
            <a:off x="7159283" y="8991600"/>
            <a:ext cx="396933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50" spc="63" kern="0" dirty="0">
                <a:solidFill>
                  <a:srgbClr val="4E58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github.com/Xiangyu2141480/viral-struct-ai</a:t>
            </a:r>
            <a:endParaRPr lang="en-US" sz="1050" dirty="0"/>
          </a:p>
        </p:txBody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9600" y="9601200"/>
            <a:ext cx="209550" cy="20955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933450" y="9623425"/>
            <a:ext cx="1634490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95" kern="0" dirty="0">
                <a:solidFill>
                  <a:srgbClr val="5A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VIRAL STRUCT AI</a:t>
            </a:r>
            <a:endParaRPr lang="en-US" sz="975" dirty="0"/>
          </a:p>
        </p:txBody>
      </p:sp>
      <p:sp>
        <p:nvSpPr>
          <p:cNvPr id="22" name="Shape 18"/>
          <p:cNvSpPr/>
          <p:nvPr/>
        </p:nvSpPr>
        <p:spPr>
          <a:xfrm>
            <a:off x="15430500" y="9572625"/>
            <a:ext cx="152400" cy="28575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23" name="Shape 19"/>
          <p:cNvSpPr/>
          <p:nvPr/>
        </p:nvSpPr>
        <p:spPr>
          <a:xfrm>
            <a:off x="15640050" y="9572625"/>
            <a:ext cx="152400" cy="28575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24" name="Shape 20"/>
          <p:cNvSpPr/>
          <p:nvPr/>
        </p:nvSpPr>
        <p:spPr>
          <a:xfrm>
            <a:off x="15849600" y="9572625"/>
            <a:ext cx="152400" cy="28575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25" name="Shape 21"/>
          <p:cNvSpPr/>
          <p:nvPr/>
        </p:nvSpPr>
        <p:spPr>
          <a:xfrm>
            <a:off x="16059150" y="9572625"/>
            <a:ext cx="152400" cy="28575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26" name="Shape 22"/>
          <p:cNvSpPr/>
          <p:nvPr/>
        </p:nvSpPr>
        <p:spPr>
          <a:xfrm>
            <a:off x="16268700" y="9572625"/>
            <a:ext cx="152400" cy="28575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27" name="Shape 23"/>
          <p:cNvSpPr/>
          <p:nvPr/>
        </p:nvSpPr>
        <p:spPr>
          <a:xfrm>
            <a:off x="16478250" y="9572625"/>
            <a:ext cx="152400" cy="28575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28" name="Shape 24"/>
          <p:cNvSpPr/>
          <p:nvPr/>
        </p:nvSpPr>
        <p:spPr>
          <a:xfrm>
            <a:off x="16687800" y="9572625"/>
            <a:ext cx="152400" cy="28575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29" name="Shape 25"/>
          <p:cNvSpPr/>
          <p:nvPr/>
        </p:nvSpPr>
        <p:spPr>
          <a:xfrm>
            <a:off x="16897350" y="9572625"/>
            <a:ext cx="152400" cy="28575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30" name="Shape 26"/>
          <p:cNvSpPr/>
          <p:nvPr/>
        </p:nvSpPr>
        <p:spPr>
          <a:xfrm>
            <a:off x="17106900" y="9572625"/>
            <a:ext cx="152400" cy="28575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31" name="Shape 27"/>
          <p:cNvSpPr/>
          <p:nvPr/>
        </p:nvSpPr>
        <p:spPr>
          <a:xfrm>
            <a:off x="17316450" y="9572625"/>
            <a:ext cx="152400" cy="28575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32" name="Shape 28"/>
          <p:cNvSpPr/>
          <p:nvPr/>
        </p:nvSpPr>
        <p:spPr>
          <a:xfrm>
            <a:off x="17526000" y="9572625"/>
            <a:ext cx="152400" cy="28575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  <a:effectLst>
            <a:outerShdw sx="100000" sy="100000" kx="0" ky="0" algn="bl" rotWithShape="0" blurRad="95250" dist="50800" dir="16200000">
              <a:srgbClr val="22D3EE">
                <a:alpha val="85000"/>
              </a:srgbClr>
            </a:outerShdw>
          </a:effectLst>
        </p:spPr>
      </p:sp>
      <p:sp>
        <p:nvSpPr>
          <p:cNvPr id="33" name="Text 29"/>
          <p:cNvSpPr/>
          <p:nvPr/>
        </p:nvSpPr>
        <p:spPr>
          <a:xfrm>
            <a:off x="15430500" y="9639300"/>
            <a:ext cx="700286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17" kern="0" dirty="0">
                <a:solidFill>
                  <a:srgbClr val="5A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/ 11</a:t>
            </a:r>
            <a:endParaRPr lang="en-US" sz="97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0C1426">
                  <a:alpha val="100000"/>
                </a:srgbClr>
              </a:gs>
              <a:gs pos="52000">
                <a:srgbClr val="070A12">
                  <a:alpha val="100000"/>
                </a:srgbClr>
              </a:gs>
              <a:gs pos="100000">
                <a:srgbClr val="05070D">
                  <a:alpha val="100000"/>
                </a:srgbClr>
              </a:gs>
            </a:gsLst>
            <a:path path="circle">
              <a:fillToRect l="50000" t="0" r="5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2D3EE">
                  <a:alpha val="7000"/>
                </a:srgbClr>
              </a:gs>
              <a:gs pos="70000">
                <a:srgbClr val="22D3EE">
                  <a:alpha val="0"/>
                </a:srgbClr>
              </a:gs>
            </a:gsLst>
            <a:path path="circle">
              <a:fillToRect l="50000" t="16000" r="50000" b="84000"/>
            </a:path>
          </a:gradFill>
          <a:ln/>
        </p:spPr>
      </p:sp>
      <p:sp>
        <p:nvSpPr>
          <p:cNvPr id="4" name="Shape 2"/>
          <p:cNvSpPr/>
          <p:nvPr/>
        </p:nvSpPr>
        <p:spPr>
          <a:xfrm>
            <a:off x="1257300" y="909638"/>
            <a:ext cx="171450" cy="28575"/>
          </a:xfrm>
          <a:prstGeom prst="roundRect">
            <a:avLst>
              <a:gd name="adj" fmla="val 50000"/>
            </a:avLst>
          </a:prstGeom>
          <a:solidFill>
            <a:srgbClr val="FF4D6D"/>
          </a:solidFill>
          <a:ln/>
          <a:effectLst>
            <a:outerShdw sx="100000" sy="100000" kx="0" ky="0" algn="bl" rotWithShape="0" blurRad="114300" dist="50800" dir="16200000">
              <a:srgbClr val="FF4D6D">
                <a:alpha val="7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562100" y="838200"/>
            <a:ext cx="953691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357" kern="0" dirty="0">
                <a:solidFill>
                  <a:srgbClr val="7C8A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PROBLEM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257300" y="1200150"/>
            <a:ext cx="17350740" cy="6876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650" b="1" spc="-46" kern="0" dirty="0">
                <a:solidFill>
                  <a:srgbClr val="F1F5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爆款可遇不可求,</a:t>
            </a:r>
            <a:pPr algn="l" indent="0" marL="0">
              <a:lnSpc>
                <a:spcPct val="110000"/>
              </a:lnSpc>
              <a:buNone/>
            </a:pPr>
            <a:r>
              <a:rPr lang="en-US" sz="4650" b="1" spc="-46" kern="0" dirty="0">
                <a:solidFill>
                  <a:srgbClr val="FF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照搬</a:t>
            </a:r>
            <a:pPr algn="l" indent="0" marL="0">
              <a:lnSpc>
                <a:spcPct val="110000"/>
              </a:lnSpc>
              <a:buNone/>
            </a:pPr>
            <a:r>
              <a:rPr lang="en-US" sz="4650" b="1" spc="-46" kern="0" dirty="0">
                <a:solidFill>
                  <a:srgbClr val="F1F5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爆款不可复用</a:t>
            </a:r>
            <a:endParaRPr lang="en-US" sz="4650" dirty="0"/>
          </a:p>
        </p:txBody>
      </p:sp>
      <p:sp>
        <p:nvSpPr>
          <p:cNvPr id="7" name="Shape 5"/>
          <p:cNvSpPr/>
          <p:nvPr/>
        </p:nvSpPr>
        <p:spPr>
          <a:xfrm>
            <a:off x="2971800" y="1906885"/>
            <a:ext cx="5334000" cy="6913265"/>
          </a:xfrm>
          <a:prstGeom prst="roundRect">
            <a:avLst>
              <a:gd name="adj" fmla="val 3571"/>
            </a:avLst>
          </a:prstGeom>
          <a:solidFill>
            <a:srgbClr val="FF4D6D">
              <a:alpha val="4000"/>
            </a:srgbClr>
          </a:solidFill>
          <a:ln w="12700">
            <a:solidFill>
              <a:srgbClr val="FF4D6D">
                <a:alpha val="34000"/>
              </a:srgbClr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3403600" y="4160143"/>
            <a:ext cx="169571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68" kern="0" dirty="0">
                <a:solidFill>
                  <a:srgbClr val="FF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普通做法 · 照搬画面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403600" y="4645918"/>
            <a:ext cx="224135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FF4D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425" dirty="0"/>
          </a:p>
        </p:txBody>
      </p:sp>
      <p:sp>
        <p:nvSpPr>
          <p:cNvPr id="10" name="Text 8"/>
          <p:cNvSpPr/>
          <p:nvPr/>
        </p:nvSpPr>
        <p:spPr>
          <a:xfrm>
            <a:off x="3703935" y="4623693"/>
            <a:ext cx="10287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照搬脚本</a:t>
            </a:r>
            <a:endParaRPr lang="en-US" sz="1875" dirty="0"/>
          </a:p>
        </p:txBody>
      </p:sp>
      <p:sp>
        <p:nvSpPr>
          <p:cNvPr id="11" name="Text 9"/>
          <p:cNvSpPr/>
          <p:nvPr/>
        </p:nvSpPr>
        <p:spPr>
          <a:xfrm>
            <a:off x="3403600" y="5185668"/>
            <a:ext cx="224135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FF4D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425" dirty="0"/>
          </a:p>
        </p:txBody>
      </p:sp>
      <p:sp>
        <p:nvSpPr>
          <p:cNvPr id="12" name="Text 10"/>
          <p:cNvSpPr/>
          <p:nvPr/>
        </p:nvSpPr>
        <p:spPr>
          <a:xfrm>
            <a:off x="3703935" y="5163443"/>
            <a:ext cx="10287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照搬镜头</a:t>
            </a:r>
            <a:endParaRPr lang="en-US" sz="1875" dirty="0"/>
          </a:p>
        </p:txBody>
      </p:sp>
      <p:sp>
        <p:nvSpPr>
          <p:cNvPr id="13" name="Text 11"/>
          <p:cNvSpPr/>
          <p:nvPr/>
        </p:nvSpPr>
        <p:spPr>
          <a:xfrm>
            <a:off x="3403600" y="5725418"/>
            <a:ext cx="224135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FF4D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425" dirty="0"/>
          </a:p>
        </p:txBody>
      </p:sp>
      <p:sp>
        <p:nvSpPr>
          <p:cNvPr id="14" name="Text 12"/>
          <p:cNvSpPr/>
          <p:nvPr/>
        </p:nvSpPr>
        <p:spPr>
          <a:xfrm>
            <a:off x="3703935" y="5703193"/>
            <a:ext cx="10287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照搬元素</a:t>
            </a:r>
            <a:endParaRPr lang="en-US" sz="1875" dirty="0"/>
          </a:p>
        </p:txBody>
      </p:sp>
      <p:sp>
        <p:nvSpPr>
          <p:cNvPr id="15" name="Text 13"/>
          <p:cNvSpPr/>
          <p:nvPr/>
        </p:nvSpPr>
        <p:spPr>
          <a:xfrm>
            <a:off x="3403600" y="6265168"/>
            <a:ext cx="224135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FF4D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425" dirty="0"/>
          </a:p>
        </p:txBody>
      </p:sp>
      <p:sp>
        <p:nvSpPr>
          <p:cNvPr id="16" name="Text 14"/>
          <p:cNvSpPr/>
          <p:nvPr/>
        </p:nvSpPr>
        <p:spPr>
          <a:xfrm>
            <a:off x="3703935" y="6242943"/>
            <a:ext cx="1746448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违和感 + IP 风险</a:t>
            </a:r>
            <a:endParaRPr lang="en-US" sz="1875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705850" y="5128518"/>
            <a:ext cx="876300" cy="22860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8892480" y="5452368"/>
            <a:ext cx="579140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90" kern="0" dirty="0">
                <a:solidFill>
                  <a:srgbClr val="5E81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迁移结构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9982200" y="1906885"/>
            <a:ext cx="5334000" cy="6913265"/>
          </a:xfrm>
          <a:prstGeom prst="roundRect">
            <a:avLst>
              <a:gd name="adj" fmla="val 3571"/>
            </a:avLst>
          </a:prstGeom>
          <a:gradFill rotWithShape="1">
            <a:gsLst>
              <a:gs pos="0">
                <a:srgbClr val="22D3EE">
                  <a:alpha val="9000"/>
                </a:srgbClr>
              </a:gs>
              <a:gs pos="100000">
                <a:srgbClr val="A78BFA">
                  <a:alpha val="5000"/>
                </a:srgbClr>
              </a:gs>
            </a:gsLst>
            <a:lin ang="4200000" scaled="0"/>
          </a:gradFill>
          <a:ln w="6350">
            <a:solidFill>
              <a:srgbClr val="22D3EE">
                <a:alpha val="34000"/>
              </a:srgbClr>
            </a:solidFill>
            <a:prstDash val="solid"/>
          </a:ln>
          <a:effectLst>
            <a:outerShdw sx="100000" sy="100000" kx="0" ky="0" algn="bl" rotWithShape="0" blurRad="533400" dist="50800" dir="16200000">
              <a:srgbClr val="22D3EE">
                <a:alpha val="10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10407651" y="4160143"/>
            <a:ext cx="186586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68" kern="0" dirty="0">
                <a:solidFill>
                  <a:srgbClr val="7DE7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我们的做法 · 迁移结构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10407651" y="4730055"/>
            <a:ext cx="85725" cy="85725"/>
          </a:xfrm>
          <a:prstGeom prst="ellipse">
            <a:avLst/>
          </a:prstGeom>
          <a:solidFill>
            <a:srgbClr val="22D3EE"/>
          </a:solidFill>
          <a:ln/>
          <a:effectLst>
            <a:outerShdw sx="100000" sy="100000" kx="0" ky="0" algn="bl" rotWithShape="0" blurRad="95250" dist="50800" dir="16200000">
              <a:srgbClr val="22D3EE">
                <a:alpha val="100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10645776" y="4623693"/>
            <a:ext cx="10287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DCE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抽象结构</a:t>
            </a:r>
            <a:endParaRPr lang="en-US" sz="1875" dirty="0"/>
          </a:p>
        </p:txBody>
      </p:sp>
      <p:sp>
        <p:nvSpPr>
          <p:cNvPr id="23" name="Shape 20"/>
          <p:cNvSpPr/>
          <p:nvPr/>
        </p:nvSpPr>
        <p:spPr>
          <a:xfrm>
            <a:off x="10407651" y="5269806"/>
            <a:ext cx="85725" cy="85725"/>
          </a:xfrm>
          <a:prstGeom prst="ellipse">
            <a:avLst/>
          </a:prstGeom>
          <a:solidFill>
            <a:srgbClr val="A78BFA"/>
          </a:solidFill>
          <a:ln/>
          <a:effectLst>
            <a:outerShdw sx="100000" sy="100000" kx="0" ky="0" algn="bl" rotWithShape="0" blurRad="95250" dist="50800" dir="16200000">
              <a:srgbClr val="A78BFA">
                <a:alpha val="100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10645776" y="5163443"/>
            <a:ext cx="10287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DCE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迁移节奏</a:t>
            </a:r>
            <a:endParaRPr lang="en-US" sz="1875" dirty="0"/>
          </a:p>
        </p:txBody>
      </p:sp>
      <p:sp>
        <p:nvSpPr>
          <p:cNvPr id="25" name="Shape 22"/>
          <p:cNvSpPr/>
          <p:nvPr/>
        </p:nvSpPr>
        <p:spPr>
          <a:xfrm>
            <a:off x="10407651" y="5809556"/>
            <a:ext cx="85725" cy="85725"/>
          </a:xfrm>
          <a:prstGeom prst="ellipse">
            <a:avLst/>
          </a:prstGeom>
          <a:solidFill>
            <a:srgbClr val="34D399"/>
          </a:solidFill>
          <a:ln/>
          <a:effectLst>
            <a:outerShdw sx="100000" sy="100000" kx="0" ky="0" algn="bl" rotWithShape="0" blurRad="95250" dist="50800" dir="16200000">
              <a:srgbClr val="34D399">
                <a:alpha val="100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10645776" y="5703193"/>
            <a:ext cx="10287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DCE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重写表达</a:t>
            </a:r>
            <a:endParaRPr lang="en-US" sz="1875" dirty="0"/>
          </a:p>
        </p:txBody>
      </p:sp>
      <p:sp>
        <p:nvSpPr>
          <p:cNvPr id="27" name="Shape 24"/>
          <p:cNvSpPr/>
          <p:nvPr/>
        </p:nvSpPr>
        <p:spPr>
          <a:xfrm>
            <a:off x="10407651" y="6349305"/>
            <a:ext cx="85725" cy="85725"/>
          </a:xfrm>
          <a:prstGeom prst="ellipse">
            <a:avLst/>
          </a:prstGeom>
          <a:solidFill>
            <a:srgbClr val="FBBF24"/>
          </a:solidFill>
          <a:ln/>
          <a:effectLst>
            <a:outerShdw sx="100000" sy="100000" kx="0" ky="0" algn="bl" rotWithShape="0" blurRad="95250" dist="50800" dir="16200000">
              <a:srgbClr val="FBBF24">
                <a:alpha val="100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10645776" y="6242943"/>
            <a:ext cx="1266825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DCE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适配新品类</a:t>
            </a:r>
            <a:endParaRPr lang="en-US" sz="1875" dirty="0"/>
          </a:p>
        </p:txBody>
      </p:sp>
      <p:sp>
        <p:nvSpPr>
          <p:cNvPr id="29" name="Text 26"/>
          <p:cNvSpPr/>
          <p:nvPr/>
        </p:nvSpPr>
        <p:spPr>
          <a:xfrm>
            <a:off x="468630" y="8820150"/>
            <a:ext cx="1735074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dirty="0">
                <a:solidFill>
                  <a:srgbClr val="AEB9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可迁移的是</a:t>
            </a:r>
            <a:pPr algn="ctr" indent="0" marL="0">
              <a:buNone/>
            </a:pPr>
            <a:r>
              <a:rPr lang="en-US" sz="225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结构</a:t>
            </a:r>
            <a:pPr algn="ctr" indent="0" marL="0">
              <a:buNone/>
            </a:pPr>
            <a:r>
              <a:rPr lang="en-US" sz="2250" dirty="0">
                <a:solidFill>
                  <a:srgbClr val="AEB9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,不是</a:t>
            </a:r>
            <a:pPr algn="ctr" indent="0" marL="0">
              <a:buNone/>
            </a:pPr>
            <a:r>
              <a:rPr lang="en-US" sz="2250" strike="sngStrike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画面</a:t>
            </a:r>
            <a:endParaRPr lang="en-US" sz="2250" dirty="0"/>
          </a:p>
        </p:txBody>
      </p:sp>
      <p:pic>
        <p:nvPicPr>
          <p:cNvPr id="3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9600" y="9601200"/>
            <a:ext cx="209550" cy="209550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933450" y="9623425"/>
            <a:ext cx="1634490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95" kern="0" dirty="0">
                <a:solidFill>
                  <a:srgbClr val="5A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VIRAL STRUCT AI</a:t>
            </a:r>
            <a:endParaRPr lang="en-US" sz="975" dirty="0"/>
          </a:p>
        </p:txBody>
      </p:sp>
      <p:sp>
        <p:nvSpPr>
          <p:cNvPr id="32" name="Shape 28"/>
          <p:cNvSpPr/>
          <p:nvPr/>
        </p:nvSpPr>
        <p:spPr>
          <a:xfrm>
            <a:off x="15430500" y="9572625"/>
            <a:ext cx="152400" cy="28575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33" name="Shape 29"/>
          <p:cNvSpPr/>
          <p:nvPr/>
        </p:nvSpPr>
        <p:spPr>
          <a:xfrm>
            <a:off x="15640050" y="9572625"/>
            <a:ext cx="152400" cy="28575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  <a:effectLst>
            <a:outerShdw sx="100000" sy="100000" kx="0" ky="0" algn="bl" rotWithShape="0" blurRad="95250" dist="50800" dir="16200000">
              <a:srgbClr val="22D3EE">
                <a:alpha val="85000"/>
              </a:srgbClr>
            </a:outerShdw>
          </a:effectLst>
        </p:spPr>
      </p:sp>
      <p:sp>
        <p:nvSpPr>
          <p:cNvPr id="34" name="Shape 30"/>
          <p:cNvSpPr/>
          <p:nvPr/>
        </p:nvSpPr>
        <p:spPr>
          <a:xfrm>
            <a:off x="15849600" y="9572625"/>
            <a:ext cx="152400" cy="28575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35" name="Shape 31"/>
          <p:cNvSpPr/>
          <p:nvPr/>
        </p:nvSpPr>
        <p:spPr>
          <a:xfrm>
            <a:off x="16059150" y="9572625"/>
            <a:ext cx="152400" cy="28575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36" name="Shape 32"/>
          <p:cNvSpPr/>
          <p:nvPr/>
        </p:nvSpPr>
        <p:spPr>
          <a:xfrm>
            <a:off x="16268700" y="9572625"/>
            <a:ext cx="152400" cy="28575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37" name="Shape 33"/>
          <p:cNvSpPr/>
          <p:nvPr/>
        </p:nvSpPr>
        <p:spPr>
          <a:xfrm>
            <a:off x="16478250" y="9572625"/>
            <a:ext cx="152400" cy="28575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38" name="Shape 34"/>
          <p:cNvSpPr/>
          <p:nvPr/>
        </p:nvSpPr>
        <p:spPr>
          <a:xfrm>
            <a:off x="16687800" y="9572625"/>
            <a:ext cx="152400" cy="28575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39" name="Shape 35"/>
          <p:cNvSpPr/>
          <p:nvPr/>
        </p:nvSpPr>
        <p:spPr>
          <a:xfrm>
            <a:off x="16897350" y="9572625"/>
            <a:ext cx="152400" cy="28575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40" name="Shape 36"/>
          <p:cNvSpPr/>
          <p:nvPr/>
        </p:nvSpPr>
        <p:spPr>
          <a:xfrm>
            <a:off x="17106900" y="9572625"/>
            <a:ext cx="152400" cy="28575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41" name="Shape 37"/>
          <p:cNvSpPr/>
          <p:nvPr/>
        </p:nvSpPr>
        <p:spPr>
          <a:xfrm>
            <a:off x="17316450" y="9572625"/>
            <a:ext cx="152400" cy="28575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42" name="Shape 38"/>
          <p:cNvSpPr/>
          <p:nvPr/>
        </p:nvSpPr>
        <p:spPr>
          <a:xfrm>
            <a:off x="17526000" y="9572625"/>
            <a:ext cx="152400" cy="28575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43" name="Text 39"/>
          <p:cNvSpPr/>
          <p:nvPr/>
        </p:nvSpPr>
        <p:spPr>
          <a:xfrm>
            <a:off x="15430500" y="9639300"/>
            <a:ext cx="700286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17" kern="0" dirty="0">
                <a:solidFill>
                  <a:srgbClr val="5A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 11</a:t>
            </a:r>
            <a:endParaRPr lang="en-US" sz="9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0C1426">
                  <a:alpha val="100000"/>
                </a:srgbClr>
              </a:gs>
              <a:gs pos="52000">
                <a:srgbClr val="070A12">
                  <a:alpha val="100000"/>
                </a:srgbClr>
              </a:gs>
              <a:gs pos="100000">
                <a:srgbClr val="05070D">
                  <a:alpha val="100000"/>
                </a:srgbClr>
              </a:gs>
            </a:gsLst>
            <a:path path="circle">
              <a:fillToRect l="50000" t="0" r="5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2D3EE">
                  <a:alpha val="7000"/>
                </a:srgbClr>
              </a:gs>
              <a:gs pos="70000">
                <a:srgbClr val="22D3EE">
                  <a:alpha val="0"/>
                </a:srgbClr>
              </a:gs>
            </a:gsLst>
            <a:path path="circle">
              <a:fillToRect l="50000" t="16000" r="50000" b="84000"/>
            </a:path>
          </a:gradFill>
          <a:ln/>
        </p:spPr>
      </p:sp>
      <p:sp>
        <p:nvSpPr>
          <p:cNvPr id="4" name="Shape 2"/>
          <p:cNvSpPr/>
          <p:nvPr/>
        </p:nvSpPr>
        <p:spPr>
          <a:xfrm>
            <a:off x="1257300" y="909638"/>
            <a:ext cx="171450" cy="28575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  <a:effectLst>
            <a:outerShdw sx="100000" sy="100000" kx="0" ky="0" algn="bl" rotWithShape="0" blurRad="114300" dist="50800" dir="16200000">
              <a:srgbClr val="22D3EE">
                <a:alpha val="7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562100" y="838200"/>
            <a:ext cx="1654681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357" kern="0" dirty="0">
                <a:solidFill>
                  <a:srgbClr val="7C8A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 INSIGHT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257300" y="1200150"/>
            <a:ext cx="17350740" cy="6876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650" b="1" spc="-46" kern="0" dirty="0">
                <a:solidFill>
                  <a:srgbClr val="F1F5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表层画面可以剥离,</a:t>
            </a:r>
            <a:pPr algn="l" indent="0" marL="0">
              <a:lnSpc>
                <a:spcPct val="110000"/>
              </a:lnSpc>
              <a:buNone/>
            </a:pPr>
            <a:r>
              <a:rPr lang="en-US" sz="4650" b="1" spc="-46" kern="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里层结构</a:t>
            </a:r>
            <a:pPr algn="l" indent="0" marL="0">
              <a:lnSpc>
                <a:spcPct val="110000"/>
              </a:lnSpc>
              <a:buNone/>
            </a:pPr>
            <a:r>
              <a:rPr lang="en-US" sz="4650" b="1" spc="-46" kern="0" dirty="0">
                <a:solidFill>
                  <a:srgbClr val="F1F5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才可迁移</a:t>
            </a:r>
            <a:endParaRPr lang="en-US" sz="4650" dirty="0"/>
          </a:p>
        </p:txBody>
      </p:sp>
      <p:sp>
        <p:nvSpPr>
          <p:cNvPr id="7" name="Shape 5"/>
          <p:cNvSpPr/>
          <p:nvPr/>
        </p:nvSpPr>
        <p:spPr>
          <a:xfrm>
            <a:off x="3695700" y="3652143"/>
            <a:ext cx="6858000" cy="774700"/>
          </a:xfrm>
          <a:prstGeom prst="roundRect">
            <a:avLst>
              <a:gd name="adj" fmla="val 19672"/>
            </a:avLst>
          </a:prstGeom>
          <a:solidFill>
            <a:srgbClr val="9AA6BD">
              <a:alpha val="5000"/>
            </a:srgbClr>
          </a:solidFill>
          <a:ln w="12700">
            <a:solidFill>
              <a:srgbClr val="9AA6BD">
                <a:alpha val="40000"/>
              </a:srgbClr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3975100" y="3944243"/>
            <a:ext cx="190690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8A96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SURFACE · 表层</a:t>
            </a:r>
            <a:endParaRPr lang="en-US" sz="1125" dirty="0"/>
          </a:p>
        </p:txBody>
      </p:sp>
      <p:sp>
        <p:nvSpPr>
          <p:cNvPr id="9" name="Text 7"/>
          <p:cNvSpPr/>
          <p:nvPr/>
        </p:nvSpPr>
        <p:spPr>
          <a:xfrm>
            <a:off x="5937250" y="3893443"/>
            <a:ext cx="2036018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7E8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画面 · 商品 · 品牌元素</a:t>
            </a:r>
            <a:endParaRPr lang="en-US" sz="1575" dirty="0"/>
          </a:p>
        </p:txBody>
      </p:sp>
      <p:sp>
        <p:nvSpPr>
          <p:cNvPr id="10" name="Shape 8"/>
          <p:cNvSpPr/>
          <p:nvPr/>
        </p:nvSpPr>
        <p:spPr>
          <a:xfrm>
            <a:off x="9680575" y="3902968"/>
            <a:ext cx="593725" cy="273050"/>
          </a:xfrm>
          <a:prstGeom prst="roundRect">
            <a:avLst>
              <a:gd name="adj" fmla="val 50000"/>
            </a:avLst>
          </a:prstGeom>
          <a:ln w="6350">
            <a:solidFill>
              <a:srgbClr val="9AA6BD">
                <a:alpha val="3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791700" y="3956943"/>
            <a:ext cx="447675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6B7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可剥离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3352800" y="4598293"/>
            <a:ext cx="754380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60000"/>
              </a:lnSpc>
              <a:buNone/>
            </a:pPr>
            <a:r>
              <a:rPr lang="en-US" sz="1500" dirty="0">
                <a:solidFill>
                  <a:srgbClr val="3F4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695700" y="4884043"/>
            <a:ext cx="6858000" cy="1409700"/>
          </a:xfrm>
          <a:prstGeom prst="roundRect">
            <a:avLst>
              <a:gd name="adj" fmla="val 10811"/>
            </a:avLst>
          </a:prstGeom>
          <a:gradFill rotWithShape="1">
            <a:gsLst>
              <a:gs pos="0">
                <a:srgbClr val="22D3EE">
                  <a:alpha val="8000"/>
                </a:srgbClr>
              </a:gs>
              <a:gs pos="100000">
                <a:srgbClr val="A78BFA">
                  <a:alpha val="5000"/>
                </a:srgbClr>
              </a:gs>
            </a:gsLst>
            <a:lin ang="5400000" scaled="0"/>
          </a:gradFill>
          <a:ln w="6350">
            <a:solidFill>
              <a:srgbClr val="22D3EE">
                <a:alpha val="32000"/>
              </a:srgbClr>
            </a:solidFill>
            <a:prstDash val="solid"/>
          </a:ln>
          <a:effectLst>
            <a:outerShdw sx="100000" sy="100000" kx="0" ky="0" algn="bl" rotWithShape="0" blurRad="457200" dist="50800" dir="16200000">
              <a:srgbClr val="22D3EE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968750" y="5179318"/>
            <a:ext cx="2637274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CF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CREATIVE GRAMMAR · 创作语法</a:t>
            </a:r>
            <a:endParaRPr lang="en-US" sz="1125" dirty="0"/>
          </a:p>
        </p:txBody>
      </p:sp>
      <p:sp>
        <p:nvSpPr>
          <p:cNvPr id="15" name="Shape 13"/>
          <p:cNvSpPr/>
          <p:nvPr/>
        </p:nvSpPr>
        <p:spPr>
          <a:xfrm>
            <a:off x="9686925" y="5138043"/>
            <a:ext cx="593725" cy="273050"/>
          </a:xfrm>
          <a:prstGeom prst="roundRect">
            <a:avLst>
              <a:gd name="adj" fmla="val 50000"/>
            </a:avLst>
          </a:prstGeom>
          <a:solidFill>
            <a:srgbClr val="22D3EE">
              <a:alpha val="8000"/>
            </a:srgbClr>
          </a:solidFill>
          <a:ln w="6350">
            <a:solidFill>
              <a:srgbClr val="22D3EE">
                <a:alpha val="4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798050" y="5192018"/>
            <a:ext cx="447675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可迁移</a:t>
            </a:r>
            <a:endParaRPr lang="en-US" sz="975" dirty="0"/>
          </a:p>
        </p:txBody>
      </p:sp>
      <p:sp>
        <p:nvSpPr>
          <p:cNvPr id="17" name="Shape 15"/>
          <p:cNvSpPr/>
          <p:nvPr/>
        </p:nvSpPr>
        <p:spPr>
          <a:xfrm>
            <a:off x="3968750" y="5582543"/>
            <a:ext cx="812800" cy="457200"/>
          </a:xfrm>
          <a:prstGeom prst="roundRect">
            <a:avLst>
              <a:gd name="adj" fmla="val 27083"/>
            </a:avLst>
          </a:prstGeom>
          <a:solidFill>
            <a:srgbClr val="FF4D6D">
              <a:alpha val="13000"/>
            </a:srgbClr>
          </a:solidFill>
          <a:ln w="6350">
            <a:solidFill>
              <a:srgbClr val="FF4D6D">
                <a:alpha val="45000"/>
              </a:srgbClr>
            </a:solidFill>
            <a:prstDash val="solid"/>
          </a:ln>
          <a:effectLst>
            <a:outerShdw sx="100000" sy="100000" kx="0" ky="0" algn="bl" rotWithShape="0" blurRad="209550" dist="50800" dir="16200000">
              <a:srgbClr val="FF4D6D">
                <a:alpha val="16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146550" y="5684143"/>
            <a:ext cx="533400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F80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role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914900" y="5582543"/>
            <a:ext cx="1155700" cy="457200"/>
          </a:xfrm>
          <a:prstGeom prst="roundRect">
            <a:avLst>
              <a:gd name="adj" fmla="val 27083"/>
            </a:avLst>
          </a:prstGeom>
          <a:solidFill>
            <a:srgbClr val="A78BFA">
              <a:alpha val="13000"/>
            </a:srgbClr>
          </a:solidFill>
          <a:ln w="6350">
            <a:solidFill>
              <a:srgbClr val="A78BFA">
                <a:alpha val="45000"/>
              </a:srgbClr>
            </a:solidFill>
            <a:prstDash val="solid"/>
          </a:ln>
          <a:effectLst>
            <a:outerShdw sx="100000" sy="100000" kx="0" ky="0" algn="bl" rotWithShape="0" blurRad="209550" dist="50800" dir="16200000">
              <a:srgbClr val="A78BFA">
                <a:alpha val="16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092700" y="5684143"/>
            <a:ext cx="876300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C4B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subtype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203950" y="5582543"/>
            <a:ext cx="1612900" cy="457200"/>
          </a:xfrm>
          <a:prstGeom prst="roundRect">
            <a:avLst>
              <a:gd name="adj" fmla="val 27083"/>
            </a:avLst>
          </a:prstGeom>
          <a:solidFill>
            <a:srgbClr val="22D3EE">
              <a:alpha val="13000"/>
            </a:srgbClr>
          </a:solidFill>
          <a:ln w="6350">
            <a:solidFill>
              <a:srgbClr val="22D3EE">
                <a:alpha val="45000"/>
              </a:srgbClr>
            </a:solidFill>
            <a:prstDash val="solid"/>
          </a:ln>
          <a:effectLst>
            <a:outerShdw sx="100000" sy="100000" kx="0" ky="0" algn="bl" rotWithShape="0" blurRad="209550" dist="50800" dir="16200000">
              <a:srgbClr val="22D3EE">
                <a:alpha val="16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381750" y="5684143"/>
            <a:ext cx="1333500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7DE7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motionToken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7950200" y="5582543"/>
            <a:ext cx="1384300" cy="457200"/>
          </a:xfrm>
          <a:prstGeom prst="roundRect">
            <a:avLst>
              <a:gd name="adj" fmla="val 27083"/>
            </a:avLst>
          </a:prstGeom>
          <a:solidFill>
            <a:srgbClr val="FBBF24">
              <a:alpha val="13000"/>
            </a:srgbClr>
          </a:solidFill>
          <a:ln w="6350">
            <a:solidFill>
              <a:srgbClr val="FBBF24">
                <a:alpha val="45000"/>
              </a:srgbClr>
            </a:solidFill>
            <a:prstDash val="solid"/>
          </a:ln>
          <a:effectLst>
            <a:outerShdw sx="100000" sy="100000" kx="0" ky="0" algn="bl" rotWithShape="0" blurRad="209550" dist="50800" dir="16200000">
              <a:srgbClr val="FBBF24">
                <a:alpha val="16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128000" y="5684143"/>
            <a:ext cx="1104900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FD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packaging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3352800" y="6465193"/>
            <a:ext cx="754380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60000"/>
              </a:lnSpc>
              <a:buNone/>
            </a:pPr>
            <a:r>
              <a:rPr lang="en-US" sz="1500" dirty="0">
                <a:solidFill>
                  <a:srgbClr val="3F4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3695700" y="6750943"/>
            <a:ext cx="6858000" cy="762000"/>
          </a:xfrm>
          <a:prstGeom prst="roundRect">
            <a:avLst>
              <a:gd name="adj" fmla="val 20000"/>
            </a:avLst>
          </a:prstGeom>
          <a:solidFill>
            <a:srgbClr val="34D399">
              <a:alpha val="5000"/>
            </a:srgbClr>
          </a:solidFill>
          <a:ln w="6350">
            <a:solidFill>
              <a:srgbClr val="34D399">
                <a:alpha val="3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968750" y="7036693"/>
            <a:ext cx="190690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7FE3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EXECUTION · 执行层</a:t>
            </a:r>
            <a:endParaRPr lang="en-US" sz="1125" dirty="0"/>
          </a:p>
        </p:txBody>
      </p:sp>
      <p:sp>
        <p:nvSpPr>
          <p:cNvPr id="28" name="Text 26"/>
          <p:cNvSpPr/>
          <p:nvPr/>
        </p:nvSpPr>
        <p:spPr>
          <a:xfrm>
            <a:off x="5930900" y="6985893"/>
            <a:ext cx="3136156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A9D9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目标品类表达 · 真实素材 · 时间线</a:t>
            </a:r>
            <a:endParaRPr lang="en-US" sz="1575" dirty="0"/>
          </a:p>
        </p:txBody>
      </p:sp>
      <p:sp>
        <p:nvSpPr>
          <p:cNvPr id="29" name="Text 27"/>
          <p:cNvSpPr/>
          <p:nvPr/>
        </p:nvSpPr>
        <p:spPr>
          <a:xfrm>
            <a:off x="11163300" y="4872335"/>
            <a:ext cx="3531870" cy="708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725" dirty="0">
                <a:solidFill>
                  <a:srgbClr val="C4CE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把视频看成</a:t>
            </a:r>
            <a:pPr algn="l" indent="0" marL="0">
              <a:lnSpc>
                <a:spcPct val="150000"/>
              </a:lnSpc>
              <a:buNone/>
            </a:pPr>
            <a:r>
              <a:rPr lang="en-US" sz="1725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结构对象 </a:t>
            </a:r>
            <a:pPr algn="l" indent="0" marL="0">
              <a:lnSpc>
                <a:spcPct val="150000"/>
              </a:lnSpc>
              <a:buNone/>
            </a:pPr>
            <a:r>
              <a:rPr lang="en-US" sz="1725" dirty="0">
                <a:solidFill>
                  <a:srgbClr val="C4CE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,而不是一堆画面。</a:t>
            </a:r>
            <a:endParaRPr lang="en-US" sz="1725" dirty="0"/>
          </a:p>
        </p:txBody>
      </p:sp>
      <p:sp>
        <p:nvSpPr>
          <p:cNvPr id="30" name="Text 28"/>
          <p:cNvSpPr/>
          <p:nvPr/>
        </p:nvSpPr>
        <p:spPr>
          <a:xfrm>
            <a:off x="11163300" y="5713711"/>
            <a:ext cx="3531870" cy="6171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425" dirty="0">
                <a:solidFill>
                  <a:srgbClr val="7E8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表层有版权限制,结构语法却能跨品类复用 —— 这正是「迁移」成立的前提。</a:t>
            </a:r>
            <a:endParaRPr lang="en-US" sz="1425" dirty="0"/>
          </a:p>
        </p:txBody>
      </p:sp>
      <p:pic>
        <p:nvPicPr>
          <p:cNvPr id="3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9600" y="9601200"/>
            <a:ext cx="209550" cy="209550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933450" y="9623425"/>
            <a:ext cx="1634490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95" kern="0" dirty="0">
                <a:solidFill>
                  <a:srgbClr val="5A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VIRAL STRUCT AI</a:t>
            </a:r>
            <a:endParaRPr lang="en-US" sz="975" dirty="0"/>
          </a:p>
        </p:txBody>
      </p:sp>
      <p:sp>
        <p:nvSpPr>
          <p:cNvPr id="33" name="Shape 30"/>
          <p:cNvSpPr/>
          <p:nvPr/>
        </p:nvSpPr>
        <p:spPr>
          <a:xfrm>
            <a:off x="15430500" y="9572625"/>
            <a:ext cx="152400" cy="28575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34" name="Shape 31"/>
          <p:cNvSpPr/>
          <p:nvPr/>
        </p:nvSpPr>
        <p:spPr>
          <a:xfrm>
            <a:off x="15640050" y="9572625"/>
            <a:ext cx="152400" cy="28575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  <a:effectLst>
            <a:outerShdw sx="100000" sy="100000" kx="0" ky="0" algn="bl" rotWithShape="0" blurRad="95250" dist="50800" dir="16200000">
              <a:srgbClr val="22D3EE">
                <a:alpha val="85000"/>
              </a:srgbClr>
            </a:outerShdw>
          </a:effectLst>
        </p:spPr>
      </p:sp>
      <p:sp>
        <p:nvSpPr>
          <p:cNvPr id="35" name="Shape 32"/>
          <p:cNvSpPr/>
          <p:nvPr/>
        </p:nvSpPr>
        <p:spPr>
          <a:xfrm>
            <a:off x="15849600" y="9572625"/>
            <a:ext cx="152400" cy="28575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36" name="Shape 33"/>
          <p:cNvSpPr/>
          <p:nvPr/>
        </p:nvSpPr>
        <p:spPr>
          <a:xfrm>
            <a:off x="16059150" y="9572625"/>
            <a:ext cx="152400" cy="28575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37" name="Shape 34"/>
          <p:cNvSpPr/>
          <p:nvPr/>
        </p:nvSpPr>
        <p:spPr>
          <a:xfrm>
            <a:off x="16268700" y="9572625"/>
            <a:ext cx="152400" cy="28575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38" name="Shape 35"/>
          <p:cNvSpPr/>
          <p:nvPr/>
        </p:nvSpPr>
        <p:spPr>
          <a:xfrm>
            <a:off x="16478250" y="9572625"/>
            <a:ext cx="152400" cy="28575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39" name="Shape 36"/>
          <p:cNvSpPr/>
          <p:nvPr/>
        </p:nvSpPr>
        <p:spPr>
          <a:xfrm>
            <a:off x="16687800" y="9572625"/>
            <a:ext cx="152400" cy="28575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40" name="Shape 37"/>
          <p:cNvSpPr/>
          <p:nvPr/>
        </p:nvSpPr>
        <p:spPr>
          <a:xfrm>
            <a:off x="16897350" y="9572625"/>
            <a:ext cx="152400" cy="28575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41" name="Shape 38"/>
          <p:cNvSpPr/>
          <p:nvPr/>
        </p:nvSpPr>
        <p:spPr>
          <a:xfrm>
            <a:off x="17106900" y="9572625"/>
            <a:ext cx="152400" cy="28575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42" name="Shape 39"/>
          <p:cNvSpPr/>
          <p:nvPr/>
        </p:nvSpPr>
        <p:spPr>
          <a:xfrm>
            <a:off x="17316450" y="9572625"/>
            <a:ext cx="152400" cy="28575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43" name="Shape 40"/>
          <p:cNvSpPr/>
          <p:nvPr/>
        </p:nvSpPr>
        <p:spPr>
          <a:xfrm>
            <a:off x="17526000" y="9572625"/>
            <a:ext cx="152400" cy="28575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44" name="Text 41"/>
          <p:cNvSpPr/>
          <p:nvPr/>
        </p:nvSpPr>
        <p:spPr>
          <a:xfrm>
            <a:off x="15430500" y="9639300"/>
            <a:ext cx="700286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17" kern="0" dirty="0">
                <a:solidFill>
                  <a:srgbClr val="5A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/ 11</a:t>
            </a:r>
            <a:endParaRPr lang="en-US" sz="9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0C1426">
                  <a:alpha val="100000"/>
                </a:srgbClr>
              </a:gs>
              <a:gs pos="52000">
                <a:srgbClr val="070A12">
                  <a:alpha val="100000"/>
                </a:srgbClr>
              </a:gs>
              <a:gs pos="100000">
                <a:srgbClr val="05070D">
                  <a:alpha val="100000"/>
                </a:srgbClr>
              </a:gs>
            </a:gsLst>
            <a:path path="circle">
              <a:fillToRect l="50000" t="0" r="5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2D3EE">
                  <a:alpha val="7000"/>
                </a:srgbClr>
              </a:gs>
              <a:gs pos="70000">
                <a:srgbClr val="22D3EE">
                  <a:alpha val="0"/>
                </a:srgbClr>
              </a:gs>
            </a:gsLst>
            <a:path path="circle">
              <a:fillToRect l="50000" t="16000" r="50000" b="84000"/>
            </a:path>
          </a:gradFill>
          <a:ln/>
        </p:spPr>
      </p:sp>
      <p:sp>
        <p:nvSpPr>
          <p:cNvPr id="4" name="Shape 2"/>
          <p:cNvSpPr/>
          <p:nvPr/>
        </p:nvSpPr>
        <p:spPr>
          <a:xfrm>
            <a:off x="1257300" y="909638"/>
            <a:ext cx="171450" cy="28575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  <a:effectLst>
            <a:outerShdw sx="100000" sy="100000" kx="0" ky="0" algn="bl" rotWithShape="0" blurRad="114300" dist="50800" dir="16200000">
              <a:srgbClr val="22D3EE">
                <a:alpha val="7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562100" y="838200"/>
            <a:ext cx="275776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357" kern="0" dirty="0">
                <a:solidFill>
                  <a:srgbClr val="7C8A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STRUCTURE DEFINITION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842717" y="1473200"/>
            <a:ext cx="930771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EF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结构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3887788" y="1454150"/>
            <a:ext cx="327720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dirty="0">
                <a:solidFill>
                  <a:srgbClr val="4E58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endParaRPr lang="en-US" sz="3300" dirty="0"/>
          </a:p>
        </p:txBody>
      </p:sp>
      <p:sp>
        <p:nvSpPr>
          <p:cNvPr id="8" name="Shape 6"/>
          <p:cNvSpPr/>
          <p:nvPr/>
        </p:nvSpPr>
        <p:spPr>
          <a:xfrm>
            <a:off x="4329807" y="1371600"/>
            <a:ext cx="1361480" cy="717550"/>
          </a:xfrm>
          <a:prstGeom prst="roundRect">
            <a:avLst>
              <a:gd name="adj" fmla="val 18584"/>
            </a:avLst>
          </a:prstGeom>
          <a:solidFill>
            <a:srgbClr val="FF4D6D">
              <a:alpha val="13000"/>
            </a:srgbClr>
          </a:solidFill>
          <a:ln w="6350">
            <a:solidFill>
              <a:srgbClr val="FF4D6D">
                <a:alpha val="45000"/>
              </a:srgbClr>
            </a:solidFill>
            <a:prstDash val="solid"/>
          </a:ln>
          <a:effectLst>
            <a:outerShdw sx="100000" sy="100000" kx="0" ky="0" algn="bl" rotWithShape="0" blurRad="285750" dist="50800" dir="16200000">
              <a:srgbClr val="FF4D6D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07607" y="1454150"/>
            <a:ext cx="1082080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3300" dirty="0">
                <a:solidFill>
                  <a:srgbClr val="FF80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role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5881787" y="1454150"/>
            <a:ext cx="327720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dirty="0">
                <a:solidFill>
                  <a:srgbClr val="4E58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×</a:t>
            </a:r>
            <a:endParaRPr lang="en-US" sz="3300" dirty="0"/>
          </a:p>
        </p:txBody>
      </p:sp>
      <p:sp>
        <p:nvSpPr>
          <p:cNvPr id="11" name="Shape 9"/>
          <p:cNvSpPr/>
          <p:nvPr/>
        </p:nvSpPr>
        <p:spPr>
          <a:xfrm>
            <a:off x="6323806" y="1371600"/>
            <a:ext cx="2115840" cy="717550"/>
          </a:xfrm>
          <a:prstGeom prst="roundRect">
            <a:avLst>
              <a:gd name="adj" fmla="val 18584"/>
            </a:avLst>
          </a:prstGeom>
          <a:solidFill>
            <a:srgbClr val="A78BFA">
              <a:alpha val="13000"/>
            </a:srgbClr>
          </a:solidFill>
          <a:ln w="6350">
            <a:solidFill>
              <a:srgbClr val="A78BFA">
                <a:alpha val="45000"/>
              </a:srgbClr>
            </a:solidFill>
            <a:prstDash val="solid"/>
          </a:ln>
          <a:effectLst>
            <a:outerShdw sx="100000" sy="100000" kx="0" ky="0" algn="bl" rotWithShape="0" blurRad="285750" dist="50800" dir="16200000">
              <a:srgbClr val="A78BFA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501606" y="1454150"/>
            <a:ext cx="1836440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3300" dirty="0">
                <a:solidFill>
                  <a:srgbClr val="C4B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subtype</a:t>
            </a:r>
            <a:endParaRPr lang="en-US" sz="3300" dirty="0"/>
          </a:p>
        </p:txBody>
      </p:sp>
      <p:sp>
        <p:nvSpPr>
          <p:cNvPr id="13" name="Text 11"/>
          <p:cNvSpPr/>
          <p:nvPr/>
        </p:nvSpPr>
        <p:spPr>
          <a:xfrm>
            <a:off x="8630146" y="1454150"/>
            <a:ext cx="327720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dirty="0">
                <a:solidFill>
                  <a:srgbClr val="4E58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×</a:t>
            </a:r>
            <a:endParaRPr lang="en-US" sz="3300" dirty="0"/>
          </a:p>
        </p:txBody>
      </p:sp>
      <p:sp>
        <p:nvSpPr>
          <p:cNvPr id="14" name="Shape 12"/>
          <p:cNvSpPr/>
          <p:nvPr/>
        </p:nvSpPr>
        <p:spPr>
          <a:xfrm>
            <a:off x="9072166" y="1371600"/>
            <a:ext cx="3121720" cy="717550"/>
          </a:xfrm>
          <a:prstGeom prst="roundRect">
            <a:avLst>
              <a:gd name="adj" fmla="val 18584"/>
            </a:avLst>
          </a:prstGeom>
          <a:solidFill>
            <a:srgbClr val="22D3EE">
              <a:alpha val="13000"/>
            </a:srgbClr>
          </a:solidFill>
          <a:ln w="6350">
            <a:solidFill>
              <a:srgbClr val="22D3EE">
                <a:alpha val="45000"/>
              </a:srgbClr>
            </a:solidFill>
            <a:prstDash val="solid"/>
          </a:ln>
          <a:effectLst>
            <a:outerShdw sx="100000" sy="100000" kx="0" ky="0" algn="bl" rotWithShape="0" blurRad="285750" dist="50800" dir="16200000">
              <a:srgbClr val="22D3EE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49966" y="1454150"/>
            <a:ext cx="2859771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3300" dirty="0">
                <a:solidFill>
                  <a:srgbClr val="7DE7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motionToken</a:t>
            </a:r>
            <a:endParaRPr lang="en-US" sz="3300" dirty="0"/>
          </a:p>
        </p:txBody>
      </p:sp>
      <p:sp>
        <p:nvSpPr>
          <p:cNvPr id="16" name="Text 14"/>
          <p:cNvSpPr/>
          <p:nvPr/>
        </p:nvSpPr>
        <p:spPr>
          <a:xfrm>
            <a:off x="12384386" y="1454150"/>
            <a:ext cx="327720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dirty="0">
                <a:solidFill>
                  <a:srgbClr val="4E58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×</a:t>
            </a:r>
            <a:endParaRPr lang="en-US" sz="3300" dirty="0"/>
          </a:p>
        </p:txBody>
      </p:sp>
      <p:sp>
        <p:nvSpPr>
          <p:cNvPr id="17" name="Shape 15"/>
          <p:cNvSpPr/>
          <p:nvPr/>
        </p:nvSpPr>
        <p:spPr>
          <a:xfrm>
            <a:off x="12826405" y="1371600"/>
            <a:ext cx="2618780" cy="717550"/>
          </a:xfrm>
          <a:prstGeom prst="roundRect">
            <a:avLst>
              <a:gd name="adj" fmla="val 18584"/>
            </a:avLst>
          </a:prstGeom>
          <a:solidFill>
            <a:srgbClr val="FBBF24">
              <a:alpha val="13000"/>
            </a:srgbClr>
          </a:solidFill>
          <a:ln w="6350">
            <a:solidFill>
              <a:srgbClr val="FBBF24">
                <a:alpha val="45000"/>
              </a:srgbClr>
            </a:solidFill>
            <a:prstDash val="solid"/>
          </a:ln>
          <a:effectLst>
            <a:outerShdw sx="100000" sy="100000" kx="0" ky="0" algn="bl" rotWithShape="0" blurRad="285750" dist="50800" dir="16200000">
              <a:srgbClr val="FBBF24">
                <a:alpha val="2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3004205" y="1454150"/>
            <a:ext cx="2341743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3300" dirty="0">
                <a:solidFill>
                  <a:srgbClr val="FFD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packaging</a:t>
            </a:r>
            <a:endParaRPr lang="en-US" sz="3300" dirty="0"/>
          </a:p>
        </p:txBody>
      </p:sp>
      <p:sp>
        <p:nvSpPr>
          <p:cNvPr id="19" name="Shape 17"/>
          <p:cNvSpPr/>
          <p:nvPr/>
        </p:nvSpPr>
        <p:spPr>
          <a:xfrm>
            <a:off x="1257300" y="4206875"/>
            <a:ext cx="7239000" cy="3086100"/>
          </a:xfrm>
          <a:prstGeom prst="roundRect">
            <a:avLst>
              <a:gd name="adj" fmla="val 5556"/>
            </a:avLst>
          </a:prstGeom>
          <a:solidFill>
            <a:srgbClr val="0A0F1A">
              <a:alpha val="72000"/>
            </a:srgbClr>
          </a:solidFill>
          <a:ln w="6350">
            <a:solidFill>
              <a:srgbClr val="FFFFFF">
                <a:alpha val="9000"/>
              </a:srgbClr>
            </a:solidFill>
            <a:prstDash val="solid"/>
          </a:ln>
          <a:effectLst>
            <a:outerShdw sx="100000" sy="100000" kx="0" ky="0" algn="bl" rotWithShape="0" blurRad="571500" dist="228600" dir="5400000">
              <a:srgbClr val="000000">
                <a:alpha val="4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263650" y="4670425"/>
            <a:ext cx="7226300" cy="9525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454150" y="4389438"/>
            <a:ext cx="104775" cy="104775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22" name="Shape 20"/>
          <p:cNvSpPr/>
          <p:nvPr/>
        </p:nvSpPr>
        <p:spPr>
          <a:xfrm>
            <a:off x="1635125" y="4389438"/>
            <a:ext cx="104775" cy="104775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23" name="Shape 21"/>
          <p:cNvSpPr/>
          <p:nvPr/>
        </p:nvSpPr>
        <p:spPr>
          <a:xfrm>
            <a:off x="1816100" y="4389438"/>
            <a:ext cx="104775" cy="104775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24" name="Text 22"/>
          <p:cNvSpPr/>
          <p:nvPr/>
        </p:nvSpPr>
        <p:spPr>
          <a:xfrm>
            <a:off x="2111375" y="4356100"/>
            <a:ext cx="95637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B7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ShotSlot.ts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549400" y="4924425"/>
            <a:ext cx="6871589" cy="21526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85000"/>
              </a:lnSpc>
              <a:buNone/>
            </a:pPr>
            <a:r>
              <a:rPr lang="en-US" sz="1500" dirty="0">
                <a:solidFill>
                  <a:srgbClr val="7C8A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pPr algn="l" indent="0" marL="0">
              <a:lnSpc>
                <a:spcPct val="185000"/>
              </a:lnSpc>
              <a:buNone/>
            </a:pPr>
            <a:r>
              <a:rPr lang="en-US" sz="1500" dirty="0">
                <a:solidFill>
                  <a:srgbClr val="C4CE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85000"/>
              </a:lnSpc>
              <a:buNone/>
            </a:pPr>
            <a:r>
              <a:rPr lang="en-US" sz="1500" dirty="0">
                <a:solidFill>
                  <a:srgbClr val="7DE7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ShotSlot </a:t>
            </a:r>
            <a:pPr algn="l" indent="0" marL="0">
              <a:lnSpc>
                <a:spcPct val="185000"/>
              </a:lnSpc>
              <a:buNone/>
            </a:pPr>
            <a:r>
              <a:rPr lang="en-US" sz="1500" dirty="0">
                <a:solidFill>
                  <a:srgbClr val="C4CE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{</a:t>
            </a:r>
            <a:endParaRPr lang="en-US" sz="1500" dirty="0"/>
          </a:p>
          <a:p>
            <a:pPr algn="l" indent="0" marL="0">
              <a:lnSpc>
                <a:spcPct val="185000"/>
              </a:lnSpc>
              <a:buNone/>
            </a:pPr>
            <a:r>
              <a:rPr lang="en-US" sz="1500" dirty="0">
                <a:solidFill>
                  <a:srgbClr val="C4CE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role:         </a:t>
            </a:r>
            <a:endParaRPr lang="en-US" sz="1500" dirty="0"/>
          </a:p>
          <a:p>
            <a:pPr algn="l" indent="0" marL="0">
              <a:lnSpc>
                <a:spcPct val="185000"/>
              </a:lnSpc>
              <a:buNone/>
            </a:pPr>
            <a:r>
              <a:rPr lang="en-US" sz="1500" dirty="0">
                <a:solidFill>
                  <a:srgbClr val="FF80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"hook"</a:t>
            </a:r>
            <a:pPr algn="l" indent="0" marL="0">
              <a:lnSpc>
                <a:spcPct val="185000"/>
              </a:lnSpc>
              <a:buNone/>
            </a:pPr>
            <a:r>
              <a:rPr lang="en-US" sz="1500" dirty="0">
                <a:solidFill>
                  <a:srgbClr val="C4CE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| </a:t>
            </a:r>
            <a:pPr algn="l" indent="0" marL="0">
              <a:lnSpc>
                <a:spcPct val="185000"/>
              </a:lnSpc>
              <a:buNone/>
            </a:pPr>
            <a:r>
              <a:rPr lang="en-US" sz="1500" dirty="0">
                <a:solidFill>
                  <a:srgbClr val="FF80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"selling_point"</a:t>
            </a:r>
            <a:pPr algn="l" indent="0" marL="0">
              <a:lnSpc>
                <a:spcPct val="185000"/>
              </a:lnSpc>
              <a:buNone/>
            </a:pPr>
            <a:r>
              <a:rPr lang="en-US" sz="1500" dirty="0">
                <a:solidFill>
                  <a:srgbClr val="C4CE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| </a:t>
            </a:r>
            <a:pPr algn="l" indent="0" marL="0">
              <a:lnSpc>
                <a:spcPct val="185000"/>
              </a:lnSpc>
              <a:buNone/>
            </a:pPr>
            <a:r>
              <a:rPr lang="en-US" sz="1500" dirty="0">
                <a:solidFill>
                  <a:srgbClr val="FF80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"cta" </a:t>
            </a:r>
            <a:pPr algn="l" indent="0" marL="0">
              <a:lnSpc>
                <a:spcPct val="185000"/>
              </a:lnSpc>
              <a:buNone/>
            </a:pPr>
            <a:r>
              <a:rPr lang="en-US" sz="1500" dirty="0">
                <a:solidFill>
                  <a:srgbClr val="C4CE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500" dirty="0"/>
          </a:p>
          <a:p>
            <a:pPr algn="l" indent="0" marL="0">
              <a:lnSpc>
                <a:spcPct val="185000"/>
              </a:lnSpc>
              <a:buNone/>
            </a:pPr>
            <a:r>
              <a:rPr lang="en-US" sz="1500" dirty="0">
                <a:solidFill>
                  <a:srgbClr val="C4CE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subtype:      </a:t>
            </a:r>
            <a:endParaRPr lang="en-US" sz="1500" dirty="0"/>
          </a:p>
          <a:p>
            <a:pPr algn="l" indent="0" marL="0">
              <a:lnSpc>
                <a:spcPct val="185000"/>
              </a:lnSpc>
              <a:buNone/>
            </a:pPr>
            <a:r>
              <a:rPr lang="en-US" sz="1500" dirty="0">
                <a:solidFill>
                  <a:srgbClr val="C4B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"kinetic_reveal"</a:t>
            </a:r>
            <a:pPr algn="l" indent="0" marL="0">
              <a:lnSpc>
                <a:spcPct val="185000"/>
              </a:lnSpc>
              <a:buNone/>
            </a:pPr>
            <a:r>
              <a:rPr lang="en-US" sz="1500" dirty="0">
                <a:solidFill>
                  <a:srgbClr val="C4CE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| </a:t>
            </a:r>
            <a:pPr algn="l" indent="0" marL="0">
              <a:lnSpc>
                <a:spcPct val="185000"/>
              </a:lnSpc>
              <a:buNone/>
            </a:pPr>
            <a:r>
              <a:rPr lang="en-US" sz="1500" dirty="0">
                <a:solidFill>
                  <a:srgbClr val="C4B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"assembly" </a:t>
            </a:r>
            <a:pPr algn="l" indent="0" marL="0">
              <a:lnSpc>
                <a:spcPct val="185000"/>
              </a:lnSpc>
              <a:buNone/>
            </a:pPr>
            <a:r>
              <a:rPr lang="en-US" sz="1500" dirty="0">
                <a:solidFill>
                  <a:srgbClr val="C4CE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500" dirty="0"/>
          </a:p>
          <a:p>
            <a:pPr algn="l" indent="0" marL="0">
              <a:lnSpc>
                <a:spcPct val="185000"/>
              </a:lnSpc>
              <a:buNone/>
            </a:pPr>
            <a:r>
              <a:rPr lang="en-US" sz="1500" dirty="0">
                <a:solidFill>
                  <a:srgbClr val="C4CE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motionToken:  </a:t>
            </a:r>
            <a:endParaRPr lang="en-US" sz="1500" dirty="0"/>
          </a:p>
          <a:p>
            <a:pPr algn="l" indent="0" marL="0">
              <a:lnSpc>
                <a:spcPct val="185000"/>
              </a:lnSpc>
              <a:buNone/>
            </a:pPr>
            <a:r>
              <a:rPr lang="en-US" sz="1500" dirty="0">
                <a:solidFill>
                  <a:srgbClr val="7DE7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"chaos_to_order"</a:t>
            </a:r>
            <a:pPr algn="l" indent="0" marL="0">
              <a:lnSpc>
                <a:spcPct val="185000"/>
              </a:lnSpc>
              <a:buNone/>
            </a:pPr>
            <a:r>
              <a:rPr lang="en-US" sz="1500" dirty="0">
                <a:solidFill>
                  <a:srgbClr val="C4CE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| </a:t>
            </a:r>
            <a:pPr algn="l" indent="0" marL="0">
              <a:lnSpc>
                <a:spcPct val="185000"/>
              </a:lnSpc>
              <a:buNone/>
            </a:pPr>
            <a:r>
              <a:rPr lang="en-US" sz="1500" dirty="0">
                <a:solidFill>
                  <a:srgbClr val="7DE7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"cta_reveal" </a:t>
            </a:r>
            <a:pPr algn="l" indent="0" marL="0">
              <a:lnSpc>
                <a:spcPct val="185000"/>
              </a:lnSpc>
              <a:buNone/>
            </a:pPr>
            <a:r>
              <a:rPr lang="en-US" sz="1500" dirty="0">
                <a:solidFill>
                  <a:srgbClr val="C4CE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500" dirty="0"/>
          </a:p>
          <a:p>
            <a:pPr algn="l" indent="0" marL="0">
              <a:lnSpc>
                <a:spcPct val="185000"/>
              </a:lnSpc>
              <a:buNone/>
            </a:pPr>
            <a:r>
              <a:rPr lang="en-US" sz="1500" dirty="0">
                <a:solidFill>
                  <a:srgbClr val="C4CE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packaging:    </a:t>
            </a:r>
            <a:endParaRPr lang="en-US" sz="1500" dirty="0"/>
          </a:p>
          <a:p>
            <a:pPr algn="l" indent="0" marL="0">
              <a:lnSpc>
                <a:spcPct val="185000"/>
              </a:lnSpc>
              <a:buNone/>
            </a:pPr>
            <a:r>
              <a:rPr lang="en-US" sz="1500" dirty="0">
                <a:solidFill>
                  <a:srgbClr val="FFD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"subtitle"</a:t>
            </a:r>
            <a:pPr algn="l" indent="0" marL="0">
              <a:lnSpc>
                <a:spcPct val="185000"/>
              </a:lnSpc>
              <a:buNone/>
            </a:pPr>
            <a:r>
              <a:rPr lang="en-US" sz="1500" dirty="0">
                <a:solidFill>
                  <a:srgbClr val="C4CE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| </a:t>
            </a:r>
            <a:pPr algn="l" indent="0" marL="0">
              <a:lnSpc>
                <a:spcPct val="185000"/>
              </a:lnSpc>
              <a:buNone/>
            </a:pPr>
            <a:r>
              <a:rPr lang="en-US" sz="1500" dirty="0">
                <a:solidFill>
                  <a:srgbClr val="FFD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"card" </a:t>
            </a:r>
            <a:pPr algn="l" indent="0" marL="0">
              <a:lnSpc>
                <a:spcPct val="185000"/>
              </a:lnSpc>
              <a:buNone/>
            </a:pPr>
            <a:r>
              <a:rPr lang="en-US" sz="1500" dirty="0">
                <a:solidFill>
                  <a:srgbClr val="C4CE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500" dirty="0"/>
          </a:p>
          <a:p>
            <a:pPr algn="l" indent="0" marL="0">
              <a:lnSpc>
                <a:spcPct val="185000"/>
              </a:lnSpc>
              <a:buNone/>
            </a:pPr>
            <a:r>
              <a:rPr lang="en-US" sz="1500" dirty="0">
                <a:solidFill>
                  <a:srgbClr val="C4CE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9029700" y="4459288"/>
            <a:ext cx="19050" cy="393700"/>
          </a:xfrm>
          <a:prstGeom prst="rect">
            <a:avLst/>
          </a:prstGeom>
          <a:solidFill>
            <a:srgbClr val="FF4D6D"/>
          </a:solidFill>
          <a:ln/>
        </p:spPr>
      </p:sp>
      <p:sp>
        <p:nvSpPr>
          <p:cNvPr id="27" name="Text 25"/>
          <p:cNvSpPr/>
          <p:nvPr/>
        </p:nvSpPr>
        <p:spPr>
          <a:xfrm>
            <a:off x="9220200" y="4516438"/>
            <a:ext cx="8050530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FF80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role </a:t>
            </a:r>
            <a:pPr algn="l" indent="0" marL="0">
              <a:buNone/>
            </a:pPr>
            <a:r>
              <a:rPr lang="en-US" sz="1500" dirty="0">
                <a:solidFill>
                  <a:srgbClr val="AEB9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这一段在「干什么」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029700" y="5005388"/>
            <a:ext cx="19050" cy="39370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9" name="Text 27"/>
          <p:cNvSpPr/>
          <p:nvPr/>
        </p:nvSpPr>
        <p:spPr>
          <a:xfrm>
            <a:off x="9220200" y="5062538"/>
            <a:ext cx="8050530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C4B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subtype </a:t>
            </a:r>
            <a:pPr algn="l" indent="0" marL="0">
              <a:buNone/>
            </a:pPr>
            <a:r>
              <a:rPr lang="en-US" sz="1500" dirty="0">
                <a:solidFill>
                  <a:srgbClr val="AEB9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结构怎么走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9029700" y="5551488"/>
            <a:ext cx="19050" cy="3937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1" name="Text 29"/>
          <p:cNvSpPr/>
          <p:nvPr/>
        </p:nvSpPr>
        <p:spPr>
          <a:xfrm>
            <a:off x="9220200" y="5608638"/>
            <a:ext cx="8050530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7DE7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motionToken </a:t>
            </a:r>
            <a:pPr algn="l" indent="0" marL="0">
              <a:buNone/>
            </a:pPr>
            <a:r>
              <a:rPr lang="en-US" sz="1500" dirty="0">
                <a:solidFill>
                  <a:srgbClr val="AEB9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运动语法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9029700" y="6097588"/>
            <a:ext cx="19050" cy="39370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33" name="Text 31"/>
          <p:cNvSpPr/>
          <p:nvPr/>
        </p:nvSpPr>
        <p:spPr>
          <a:xfrm>
            <a:off x="9220200" y="6154738"/>
            <a:ext cx="8050530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FFD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packaging </a:t>
            </a:r>
            <a:pPr algn="l" indent="0" marL="0">
              <a:buNone/>
            </a:pPr>
            <a:r>
              <a:rPr lang="en-US" sz="1500" dirty="0">
                <a:solidFill>
                  <a:srgbClr val="AEB9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画面包装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9029700" y="6719888"/>
            <a:ext cx="8801100" cy="358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C4CE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结构协议,让「感觉」变成</a:t>
            </a:r>
            <a:pPr algn="l" indent="0" marL="0">
              <a:lnSpc>
                <a:spcPct val="150000"/>
              </a:lnSpc>
              <a:buNone/>
            </a:pPr>
            <a:r>
              <a:rPr lang="en-US" sz="165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可计算对象</a:t>
            </a:r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C4CE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sz="1650" dirty="0"/>
          </a:p>
        </p:txBody>
      </p:sp>
      <p:pic>
        <p:nvPicPr>
          <p:cNvPr id="3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9600" y="9601200"/>
            <a:ext cx="209550" cy="209550"/>
          </a:xfrm>
          <a:prstGeom prst="rect">
            <a:avLst/>
          </a:prstGeom>
        </p:spPr>
      </p:pic>
      <p:sp>
        <p:nvSpPr>
          <p:cNvPr id="36" name="Text 33"/>
          <p:cNvSpPr/>
          <p:nvPr/>
        </p:nvSpPr>
        <p:spPr>
          <a:xfrm>
            <a:off x="933450" y="9623425"/>
            <a:ext cx="1634490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95" kern="0" dirty="0">
                <a:solidFill>
                  <a:srgbClr val="5A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VIRAL STRUCT AI</a:t>
            </a:r>
            <a:endParaRPr lang="en-US" sz="975" dirty="0"/>
          </a:p>
        </p:txBody>
      </p:sp>
      <p:sp>
        <p:nvSpPr>
          <p:cNvPr id="37" name="Shape 34"/>
          <p:cNvSpPr/>
          <p:nvPr/>
        </p:nvSpPr>
        <p:spPr>
          <a:xfrm>
            <a:off x="15430500" y="9572625"/>
            <a:ext cx="152400" cy="28575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38" name="Shape 35"/>
          <p:cNvSpPr/>
          <p:nvPr/>
        </p:nvSpPr>
        <p:spPr>
          <a:xfrm>
            <a:off x="15640050" y="9572625"/>
            <a:ext cx="152400" cy="28575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39" name="Shape 36"/>
          <p:cNvSpPr/>
          <p:nvPr/>
        </p:nvSpPr>
        <p:spPr>
          <a:xfrm>
            <a:off x="15849600" y="9572625"/>
            <a:ext cx="152400" cy="28575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  <a:effectLst>
            <a:outerShdw sx="100000" sy="100000" kx="0" ky="0" algn="bl" rotWithShape="0" blurRad="95250" dist="50800" dir="16200000">
              <a:srgbClr val="22D3EE">
                <a:alpha val="85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16059150" y="9572625"/>
            <a:ext cx="152400" cy="28575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41" name="Shape 38"/>
          <p:cNvSpPr/>
          <p:nvPr/>
        </p:nvSpPr>
        <p:spPr>
          <a:xfrm>
            <a:off x="16268700" y="9572625"/>
            <a:ext cx="152400" cy="28575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42" name="Shape 39"/>
          <p:cNvSpPr/>
          <p:nvPr/>
        </p:nvSpPr>
        <p:spPr>
          <a:xfrm>
            <a:off x="16478250" y="9572625"/>
            <a:ext cx="152400" cy="28575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43" name="Shape 40"/>
          <p:cNvSpPr/>
          <p:nvPr/>
        </p:nvSpPr>
        <p:spPr>
          <a:xfrm>
            <a:off x="16687800" y="9572625"/>
            <a:ext cx="152400" cy="28575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44" name="Shape 41"/>
          <p:cNvSpPr/>
          <p:nvPr/>
        </p:nvSpPr>
        <p:spPr>
          <a:xfrm>
            <a:off x="16897350" y="9572625"/>
            <a:ext cx="152400" cy="28575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45" name="Shape 42"/>
          <p:cNvSpPr/>
          <p:nvPr/>
        </p:nvSpPr>
        <p:spPr>
          <a:xfrm>
            <a:off x="17106900" y="9572625"/>
            <a:ext cx="152400" cy="28575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46" name="Shape 43"/>
          <p:cNvSpPr/>
          <p:nvPr/>
        </p:nvSpPr>
        <p:spPr>
          <a:xfrm>
            <a:off x="17316450" y="9572625"/>
            <a:ext cx="152400" cy="28575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47" name="Shape 44"/>
          <p:cNvSpPr/>
          <p:nvPr/>
        </p:nvSpPr>
        <p:spPr>
          <a:xfrm>
            <a:off x="17526000" y="9572625"/>
            <a:ext cx="152400" cy="28575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48" name="Text 45"/>
          <p:cNvSpPr/>
          <p:nvPr/>
        </p:nvSpPr>
        <p:spPr>
          <a:xfrm>
            <a:off x="15430500" y="9639300"/>
            <a:ext cx="700286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17" kern="0" dirty="0">
                <a:solidFill>
                  <a:srgbClr val="5A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/ 11</a:t>
            </a:r>
            <a:endParaRPr lang="en-US" sz="9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0C1426">
                  <a:alpha val="100000"/>
                </a:srgbClr>
              </a:gs>
              <a:gs pos="52000">
                <a:srgbClr val="070A12">
                  <a:alpha val="100000"/>
                </a:srgbClr>
              </a:gs>
              <a:gs pos="100000">
                <a:srgbClr val="05070D">
                  <a:alpha val="100000"/>
                </a:srgbClr>
              </a:gs>
            </a:gsLst>
            <a:path path="circle">
              <a:fillToRect l="50000" t="0" r="5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2D3EE">
                  <a:alpha val="7000"/>
                </a:srgbClr>
              </a:gs>
              <a:gs pos="70000">
                <a:srgbClr val="22D3EE">
                  <a:alpha val="0"/>
                </a:srgbClr>
              </a:gs>
            </a:gsLst>
            <a:path path="circle">
              <a:fillToRect l="50000" t="16000" r="50000" b="84000"/>
            </a:path>
          </a:gradFill>
          <a:ln/>
        </p:spPr>
      </p:sp>
      <p:sp>
        <p:nvSpPr>
          <p:cNvPr id="4" name="Shape 2"/>
          <p:cNvSpPr/>
          <p:nvPr/>
        </p:nvSpPr>
        <p:spPr>
          <a:xfrm>
            <a:off x="1257300" y="833438"/>
            <a:ext cx="171450" cy="28575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  <a:effectLst>
            <a:outerShdw sx="100000" sy="100000" kx="0" ky="0" algn="bl" rotWithShape="0" blurRad="114300" dist="50800" dir="16200000">
              <a:srgbClr val="22D3EE">
                <a:alpha val="7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562100" y="762000"/>
            <a:ext cx="1204416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357" kern="0" dirty="0">
                <a:solidFill>
                  <a:srgbClr val="7C8A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DEMO CASE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257300" y="1104900"/>
            <a:ext cx="17350740" cy="6141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050" b="1" spc="-40" kern="0" dirty="0">
                <a:solidFill>
                  <a:srgbClr val="F1F5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主案例:MacBook Neo </a:t>
            </a:r>
            <a:pPr algn="l" indent="0" marL="0">
              <a:lnSpc>
                <a:spcPct val="112000"/>
              </a:lnSpc>
              <a:buNone/>
            </a:pPr>
            <a:r>
              <a:rPr lang="en-US" sz="4050" b="1" spc="-40" kern="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</a:t>
            </a:r>
            <a:pPr algn="l" indent="0" marL="0">
              <a:lnSpc>
                <a:spcPct val="112000"/>
              </a:lnSpc>
              <a:buNone/>
            </a:pPr>
            <a:r>
              <a:rPr lang="en-US" sz="4050" b="1" spc="-40" kern="0" dirty="0">
                <a:solidFill>
                  <a:srgbClr val="F1F5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康师傅冰红茶</a:t>
            </a:r>
            <a:endParaRPr lang="en-US" sz="4050" dirty="0"/>
          </a:p>
        </p:txBody>
      </p:sp>
      <p:sp>
        <p:nvSpPr>
          <p:cNvPr id="7" name="Text 5"/>
          <p:cNvSpPr/>
          <p:nvPr/>
        </p:nvSpPr>
        <p:spPr>
          <a:xfrm>
            <a:off x="1485900" y="1928614"/>
            <a:ext cx="2933700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17" kern="0" dirty="0">
                <a:solidFill>
                  <a:srgbClr val="5A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源片结构功能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4238625" y="1928614"/>
            <a:ext cx="3143250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spc="117" kern="0" dirty="0">
                <a:solidFill>
                  <a:srgbClr val="5A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不复制的画面 · 迁移路径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7467600" y="1928614"/>
            <a:ext cx="10267950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17" kern="0" dirty="0">
                <a:solidFill>
                  <a:srgbClr val="5A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目标品类等价表达</a:t>
            </a:r>
            <a:endParaRPr lang="en-US" sz="975" dirty="0"/>
          </a:p>
        </p:txBody>
      </p:sp>
      <p:sp>
        <p:nvSpPr>
          <p:cNvPr id="10" name="Shape 8"/>
          <p:cNvSpPr/>
          <p:nvPr/>
        </p:nvSpPr>
        <p:spPr>
          <a:xfrm>
            <a:off x="1257300" y="2227064"/>
            <a:ext cx="15773400" cy="708025"/>
          </a:xfrm>
          <a:prstGeom prst="roundRect">
            <a:avLst>
              <a:gd name="adj" fmla="val 18834"/>
            </a:avLst>
          </a:prstGeom>
          <a:solidFill>
            <a:srgbClr val="FFFFFF">
              <a:alpha val="2000"/>
            </a:srgbClr>
          </a:solidFill>
          <a:ln w="635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492250" y="2538214"/>
            <a:ext cx="85725" cy="85725"/>
          </a:xfrm>
          <a:prstGeom prst="ellipse">
            <a:avLst/>
          </a:prstGeom>
          <a:solidFill>
            <a:srgbClr val="FF4D6D"/>
          </a:solidFill>
          <a:ln/>
          <a:effectLst>
            <a:outerShdw sx="100000" sy="100000" kx="0" ky="0" algn="bl" rotWithShape="0" blurRad="95250" dist="50800" dir="16200000">
              <a:srgbClr val="FF4D6D">
                <a:alpha val="10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692275" y="2454077"/>
            <a:ext cx="1219200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F80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高冲击 hook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474593" y="2385814"/>
            <a:ext cx="760214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trike="sngStrike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电脑 / 键盘</a:t>
            </a:r>
            <a:endParaRPr lang="en-US" sz="1125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673600" y="2642989"/>
            <a:ext cx="2286000" cy="13335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7473950" y="2422327"/>
            <a:ext cx="10253980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E2E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冰雾 · 冷凝水 · 冰块炸裂</a:t>
            </a:r>
            <a:endParaRPr lang="en-US" sz="1725" dirty="0"/>
          </a:p>
        </p:txBody>
      </p:sp>
      <p:sp>
        <p:nvSpPr>
          <p:cNvPr id="16" name="Shape 13"/>
          <p:cNvSpPr/>
          <p:nvPr/>
        </p:nvSpPr>
        <p:spPr>
          <a:xfrm>
            <a:off x="1257300" y="3068439"/>
            <a:ext cx="15773400" cy="708025"/>
          </a:xfrm>
          <a:prstGeom prst="roundRect">
            <a:avLst>
              <a:gd name="adj" fmla="val 18834"/>
            </a:avLst>
          </a:prstGeom>
          <a:solidFill>
            <a:srgbClr val="FFFFFF">
              <a:alpha val="2000"/>
            </a:srgbClr>
          </a:solidFill>
          <a:ln w="635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492250" y="3379589"/>
            <a:ext cx="85725" cy="85725"/>
          </a:xfrm>
          <a:prstGeom prst="ellipse">
            <a:avLst/>
          </a:prstGeom>
          <a:solidFill>
            <a:srgbClr val="A78BFA"/>
          </a:solidFill>
          <a:ln/>
          <a:effectLst>
            <a:outerShdw sx="100000" sy="100000" kx="0" ky="0" algn="bl" rotWithShape="0" blurRad="95250" dist="50800" dir="16200000">
              <a:srgbClr val="A78BFA">
                <a:alpha val="10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1692275" y="3295452"/>
            <a:ext cx="1257300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C4B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产品 reveal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5530850" y="3227189"/>
            <a:ext cx="64770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trike="sngStrike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机身亮相</a:t>
            </a:r>
            <a:endParaRPr lang="en-US" sz="1125" dirty="0"/>
          </a:p>
        </p:txBody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73600" y="3484364"/>
            <a:ext cx="2286000" cy="13335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7473950" y="3263702"/>
            <a:ext cx="10253980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E2E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瓶身标签锁定特写</a:t>
            </a:r>
            <a:endParaRPr lang="en-US" sz="1725" dirty="0"/>
          </a:p>
        </p:txBody>
      </p:sp>
      <p:sp>
        <p:nvSpPr>
          <p:cNvPr id="22" name="Shape 18"/>
          <p:cNvSpPr/>
          <p:nvPr/>
        </p:nvSpPr>
        <p:spPr>
          <a:xfrm>
            <a:off x="1257300" y="3909814"/>
            <a:ext cx="15773400" cy="708025"/>
          </a:xfrm>
          <a:prstGeom prst="roundRect">
            <a:avLst>
              <a:gd name="adj" fmla="val 18834"/>
            </a:avLst>
          </a:prstGeom>
          <a:solidFill>
            <a:srgbClr val="22D3EE">
              <a:alpha val="5000"/>
            </a:srgbClr>
          </a:solidFill>
          <a:ln w="6350">
            <a:solidFill>
              <a:srgbClr val="22D3EE">
                <a:alpha val="22000"/>
              </a:srgbClr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1492250" y="4220964"/>
            <a:ext cx="85725" cy="85725"/>
          </a:xfrm>
          <a:prstGeom prst="ellipse">
            <a:avLst/>
          </a:prstGeom>
          <a:solidFill>
            <a:srgbClr val="22D3EE"/>
          </a:solidFill>
          <a:ln/>
          <a:effectLst>
            <a:outerShdw sx="100000" sy="100000" kx="0" ky="0" algn="bl" rotWithShape="0" blurRad="95250" dist="50800" dir="16200000">
              <a:srgbClr val="22D3EE">
                <a:alpha val="100000"/>
              </a:srgbClr>
            </a:outerShdw>
          </a:effectLst>
        </p:spPr>
      </p:sp>
      <p:sp>
        <p:nvSpPr>
          <p:cNvPr id="24" name="Text 20"/>
          <p:cNvSpPr/>
          <p:nvPr/>
        </p:nvSpPr>
        <p:spPr>
          <a:xfrm>
            <a:off x="1692275" y="4136827"/>
            <a:ext cx="2011680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7DE7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kinetic assembly</a:t>
            </a:r>
            <a:endParaRPr lang="en-US" sz="1500" dirty="0"/>
          </a:p>
        </p:txBody>
      </p:sp>
      <p:sp>
        <p:nvSpPr>
          <p:cNvPr id="25" name="Text 21"/>
          <p:cNvSpPr/>
          <p:nvPr/>
        </p:nvSpPr>
        <p:spPr>
          <a:xfrm>
            <a:off x="5387975" y="4068564"/>
            <a:ext cx="93345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trike="sngStrike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键盘碎片组装</a:t>
            </a:r>
            <a:endParaRPr lang="en-US" sz="1125" dirty="0"/>
          </a:p>
        </p:txBody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73600" y="4325739"/>
            <a:ext cx="2286000" cy="13335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7473950" y="4105077"/>
            <a:ext cx="10253980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冰块 · 柠檬 · 茶滴汇聚成型</a:t>
            </a:r>
            <a:endParaRPr lang="en-US" sz="1725" dirty="0"/>
          </a:p>
        </p:txBody>
      </p:sp>
      <p:sp>
        <p:nvSpPr>
          <p:cNvPr id="28" name="Shape 23"/>
          <p:cNvSpPr/>
          <p:nvPr/>
        </p:nvSpPr>
        <p:spPr>
          <a:xfrm>
            <a:off x="1257300" y="4751189"/>
            <a:ext cx="15773400" cy="708025"/>
          </a:xfrm>
          <a:prstGeom prst="roundRect">
            <a:avLst>
              <a:gd name="adj" fmla="val 18834"/>
            </a:avLst>
          </a:prstGeom>
          <a:solidFill>
            <a:srgbClr val="FFFFFF">
              <a:alpha val="2000"/>
            </a:srgbClr>
          </a:solidFill>
          <a:ln w="635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1492250" y="5062339"/>
            <a:ext cx="85725" cy="85725"/>
          </a:xfrm>
          <a:prstGeom prst="ellipse">
            <a:avLst/>
          </a:prstGeom>
          <a:solidFill>
            <a:srgbClr val="34D399"/>
          </a:solidFill>
          <a:ln/>
          <a:effectLst>
            <a:outerShdw sx="100000" sy="100000" kx="0" ky="0" algn="bl" rotWithShape="0" blurRad="95250" dist="50800" dir="16200000">
              <a:srgbClr val="34D399">
                <a:alpha val="100000"/>
              </a:srgbClr>
            </a:outerShdw>
          </a:effectLst>
        </p:spPr>
      </p:sp>
      <p:sp>
        <p:nvSpPr>
          <p:cNvPr id="30" name="Text 25"/>
          <p:cNvSpPr/>
          <p:nvPr/>
        </p:nvSpPr>
        <p:spPr>
          <a:xfrm>
            <a:off x="1692275" y="4978202"/>
            <a:ext cx="838200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功能介绍</a:t>
            </a:r>
            <a:endParaRPr lang="en-US" sz="1500" dirty="0"/>
          </a:p>
        </p:txBody>
      </p:sp>
      <p:sp>
        <p:nvSpPr>
          <p:cNvPr id="31" name="Text 26"/>
          <p:cNvSpPr/>
          <p:nvPr/>
        </p:nvSpPr>
        <p:spPr>
          <a:xfrm>
            <a:off x="5275461" y="4909939"/>
            <a:ext cx="1158478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trike="sngStrike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芯片 / 屏幕 / 接口</a:t>
            </a:r>
            <a:endParaRPr lang="en-US" sz="1125" dirty="0"/>
          </a:p>
        </p:txBody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73600" y="5167114"/>
            <a:ext cx="2286000" cy="133350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7473950" y="4946452"/>
            <a:ext cx="10253980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E2E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冰爽 · 茶香 · 解腻 · 适合分享</a:t>
            </a:r>
            <a:endParaRPr lang="en-US" sz="1725" dirty="0"/>
          </a:p>
        </p:txBody>
      </p:sp>
      <p:sp>
        <p:nvSpPr>
          <p:cNvPr id="34" name="Shape 28"/>
          <p:cNvSpPr/>
          <p:nvPr/>
        </p:nvSpPr>
        <p:spPr>
          <a:xfrm>
            <a:off x="1257300" y="5592564"/>
            <a:ext cx="15773400" cy="708025"/>
          </a:xfrm>
          <a:prstGeom prst="roundRect">
            <a:avLst>
              <a:gd name="adj" fmla="val 18834"/>
            </a:avLst>
          </a:prstGeom>
          <a:solidFill>
            <a:srgbClr val="FFFFFF">
              <a:alpha val="2000"/>
            </a:srgbClr>
          </a:solidFill>
          <a:ln w="635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35" name="Shape 29"/>
          <p:cNvSpPr/>
          <p:nvPr/>
        </p:nvSpPr>
        <p:spPr>
          <a:xfrm>
            <a:off x="1492250" y="5903714"/>
            <a:ext cx="85725" cy="85725"/>
          </a:xfrm>
          <a:prstGeom prst="ellipse">
            <a:avLst/>
          </a:prstGeom>
          <a:solidFill>
            <a:srgbClr val="FBBF24"/>
          </a:solidFill>
          <a:ln/>
          <a:effectLst>
            <a:outerShdw sx="100000" sy="100000" kx="0" ky="0" algn="bl" rotWithShape="0" blurRad="95250" dist="50800" dir="16200000">
              <a:srgbClr val="FBBF24">
                <a:alpha val="100000"/>
              </a:srgbClr>
            </a:outerShdw>
          </a:effectLst>
        </p:spPr>
      </p:sp>
      <p:sp>
        <p:nvSpPr>
          <p:cNvPr id="36" name="Text 30"/>
          <p:cNvSpPr/>
          <p:nvPr/>
        </p:nvSpPr>
        <p:spPr>
          <a:xfrm>
            <a:off x="1692275" y="5819577"/>
            <a:ext cx="914400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FD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CTA 收口</a:t>
            </a:r>
            <a:endParaRPr lang="en-US" sz="1500" dirty="0"/>
          </a:p>
        </p:txBody>
      </p:sp>
      <p:sp>
        <p:nvSpPr>
          <p:cNvPr id="37" name="Text 31"/>
          <p:cNvSpPr/>
          <p:nvPr/>
        </p:nvSpPr>
        <p:spPr>
          <a:xfrm>
            <a:off x="5530850" y="5751314"/>
            <a:ext cx="64770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trike="sngStrike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购买卡片</a:t>
            </a:r>
            <a:endParaRPr lang="en-US" sz="1125" dirty="0"/>
          </a:p>
        </p:txBody>
      </p:sp>
      <p:pic>
        <p:nvPicPr>
          <p:cNvPr id="38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673600" y="6008489"/>
            <a:ext cx="2286000" cy="133350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7473950" y="5787827"/>
            <a:ext cx="10253980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E2E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产品定格 + 行动号召</a:t>
            </a:r>
            <a:endParaRPr lang="en-US" sz="1725" dirty="0"/>
          </a:p>
        </p:txBody>
      </p:sp>
      <p:sp>
        <p:nvSpPr>
          <p:cNvPr id="40" name="Text 33"/>
          <p:cNvSpPr/>
          <p:nvPr/>
        </p:nvSpPr>
        <p:spPr>
          <a:xfrm>
            <a:off x="468630" y="8896350"/>
            <a:ext cx="1735074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75" dirty="0">
                <a:solidFill>
                  <a:srgbClr val="AEB9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MacBook 的画面不能复制,但</a:t>
            </a:r>
            <a:pPr algn="ctr" indent="0" marL="0">
              <a:buNone/>
            </a:pPr>
            <a:r>
              <a:rPr lang="en-US" sz="2175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结构能力可以迁移</a:t>
            </a:r>
            <a:endParaRPr lang="en-US" sz="2175" dirty="0"/>
          </a:p>
        </p:txBody>
      </p:sp>
      <p:pic>
        <p:nvPicPr>
          <p:cNvPr id="41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09600" y="9601200"/>
            <a:ext cx="209550" cy="209550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933450" y="9623425"/>
            <a:ext cx="1634490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95" kern="0" dirty="0">
                <a:solidFill>
                  <a:srgbClr val="5A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VIRAL STRUCT AI</a:t>
            </a:r>
            <a:endParaRPr lang="en-US" sz="975" dirty="0"/>
          </a:p>
        </p:txBody>
      </p:sp>
      <p:sp>
        <p:nvSpPr>
          <p:cNvPr id="43" name="Shape 35"/>
          <p:cNvSpPr/>
          <p:nvPr/>
        </p:nvSpPr>
        <p:spPr>
          <a:xfrm>
            <a:off x="15430500" y="9572625"/>
            <a:ext cx="152400" cy="28575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44" name="Shape 36"/>
          <p:cNvSpPr/>
          <p:nvPr/>
        </p:nvSpPr>
        <p:spPr>
          <a:xfrm>
            <a:off x="15640050" y="9572625"/>
            <a:ext cx="152400" cy="28575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45" name="Shape 37"/>
          <p:cNvSpPr/>
          <p:nvPr/>
        </p:nvSpPr>
        <p:spPr>
          <a:xfrm>
            <a:off x="15849600" y="9572625"/>
            <a:ext cx="152400" cy="28575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46" name="Shape 38"/>
          <p:cNvSpPr/>
          <p:nvPr/>
        </p:nvSpPr>
        <p:spPr>
          <a:xfrm>
            <a:off x="16059150" y="9572625"/>
            <a:ext cx="152400" cy="28575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  <a:effectLst>
            <a:outerShdw sx="100000" sy="100000" kx="0" ky="0" algn="bl" rotWithShape="0" blurRad="95250" dist="50800" dir="16200000">
              <a:srgbClr val="22D3EE">
                <a:alpha val="85000"/>
              </a:srgbClr>
            </a:outerShdw>
          </a:effectLst>
        </p:spPr>
      </p:sp>
      <p:sp>
        <p:nvSpPr>
          <p:cNvPr id="47" name="Shape 39"/>
          <p:cNvSpPr/>
          <p:nvPr/>
        </p:nvSpPr>
        <p:spPr>
          <a:xfrm>
            <a:off x="16268700" y="9572625"/>
            <a:ext cx="152400" cy="28575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48" name="Shape 40"/>
          <p:cNvSpPr/>
          <p:nvPr/>
        </p:nvSpPr>
        <p:spPr>
          <a:xfrm>
            <a:off x="16478250" y="9572625"/>
            <a:ext cx="152400" cy="28575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49" name="Shape 41"/>
          <p:cNvSpPr/>
          <p:nvPr/>
        </p:nvSpPr>
        <p:spPr>
          <a:xfrm>
            <a:off x="16687800" y="9572625"/>
            <a:ext cx="152400" cy="28575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50" name="Shape 42"/>
          <p:cNvSpPr/>
          <p:nvPr/>
        </p:nvSpPr>
        <p:spPr>
          <a:xfrm>
            <a:off x="16897350" y="9572625"/>
            <a:ext cx="152400" cy="28575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51" name="Shape 43"/>
          <p:cNvSpPr/>
          <p:nvPr/>
        </p:nvSpPr>
        <p:spPr>
          <a:xfrm>
            <a:off x="17106900" y="9572625"/>
            <a:ext cx="152400" cy="28575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52" name="Shape 44"/>
          <p:cNvSpPr/>
          <p:nvPr/>
        </p:nvSpPr>
        <p:spPr>
          <a:xfrm>
            <a:off x="17316450" y="9572625"/>
            <a:ext cx="152400" cy="28575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53" name="Shape 45"/>
          <p:cNvSpPr/>
          <p:nvPr/>
        </p:nvSpPr>
        <p:spPr>
          <a:xfrm>
            <a:off x="17526000" y="9572625"/>
            <a:ext cx="152400" cy="28575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54" name="Text 46"/>
          <p:cNvSpPr/>
          <p:nvPr/>
        </p:nvSpPr>
        <p:spPr>
          <a:xfrm>
            <a:off x="15430500" y="9639300"/>
            <a:ext cx="700286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17" kern="0" dirty="0">
                <a:solidFill>
                  <a:srgbClr val="5A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/ 11</a:t>
            </a:r>
            <a:endParaRPr lang="en-US" sz="9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0C1426">
                  <a:alpha val="100000"/>
                </a:srgbClr>
              </a:gs>
              <a:gs pos="52000">
                <a:srgbClr val="070A12">
                  <a:alpha val="100000"/>
                </a:srgbClr>
              </a:gs>
              <a:gs pos="100000">
                <a:srgbClr val="05070D">
                  <a:alpha val="100000"/>
                </a:srgbClr>
              </a:gs>
            </a:gsLst>
            <a:path path="circle">
              <a:fillToRect l="50000" t="0" r="5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2D3EE">
                  <a:alpha val="7000"/>
                </a:srgbClr>
              </a:gs>
              <a:gs pos="70000">
                <a:srgbClr val="22D3EE">
                  <a:alpha val="0"/>
                </a:srgbClr>
              </a:gs>
            </a:gsLst>
            <a:path path="circle">
              <a:fillToRect l="50000" t="16000" r="50000" b="84000"/>
            </a:path>
          </a:gradFill>
          <a:ln/>
        </p:spPr>
      </p:sp>
      <p:sp>
        <p:nvSpPr>
          <p:cNvPr id="4" name="Shape 2"/>
          <p:cNvSpPr/>
          <p:nvPr/>
        </p:nvSpPr>
        <p:spPr>
          <a:xfrm>
            <a:off x="1047750" y="833438"/>
            <a:ext cx="171450" cy="28575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  <a:effectLst>
            <a:outerShdw sx="100000" sy="100000" kx="0" ky="0" algn="bl" rotWithShape="0" blurRad="114300" dist="50800" dir="16200000">
              <a:srgbClr val="22D3EE">
                <a:alpha val="7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352550" y="762000"/>
            <a:ext cx="344709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357" kern="0" dirty="0">
                <a:solidFill>
                  <a:srgbClr val="7C8A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PIPELINE · PROTOCOL-FIRST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047750" y="1085850"/>
            <a:ext cx="1781175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750" b="1" spc="-37" kern="0" dirty="0">
                <a:solidFill>
                  <a:srgbClr val="F1F5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从视频证据,到可执行时间线</a:t>
            </a:r>
            <a:endParaRPr lang="en-US" sz="3750" dirty="0"/>
          </a:p>
        </p:txBody>
      </p:sp>
      <p:sp>
        <p:nvSpPr>
          <p:cNvPr id="7" name="Shape 5"/>
          <p:cNvSpPr/>
          <p:nvPr/>
        </p:nvSpPr>
        <p:spPr>
          <a:xfrm>
            <a:off x="2230041" y="2028825"/>
            <a:ext cx="13827919" cy="1905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2151261" y="1943100"/>
            <a:ext cx="171450" cy="171450"/>
          </a:xfrm>
          <a:prstGeom prst="ellipse">
            <a:avLst/>
          </a:prstGeom>
          <a:solidFill>
            <a:srgbClr val="080B12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95250" dist="50800" dir="16200000">
              <a:srgbClr val="A78BFA">
                <a:alpha val="5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715889" y="2247900"/>
            <a:ext cx="1042095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dirty="0">
                <a:solidFill>
                  <a:srgbClr val="9AA6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VideoAnalysis</a:t>
            </a:r>
            <a:endParaRPr lang="en-US" sz="975" dirty="0"/>
          </a:p>
        </p:txBody>
      </p:sp>
      <p:sp>
        <p:nvSpPr>
          <p:cNvPr id="10" name="Shape 8"/>
          <p:cNvSpPr/>
          <p:nvPr/>
        </p:nvSpPr>
        <p:spPr>
          <a:xfrm>
            <a:off x="4453533" y="1943100"/>
            <a:ext cx="171450" cy="171450"/>
          </a:xfrm>
          <a:prstGeom prst="ellipse">
            <a:avLst/>
          </a:prstGeom>
          <a:solidFill>
            <a:srgbClr val="080B12"/>
          </a:solidFill>
          <a:ln w="19050">
            <a:solidFill>
              <a:srgbClr val="22D3EE"/>
            </a:solidFill>
            <a:prstDash val="solid"/>
          </a:ln>
          <a:effectLst>
            <a:outerShdw sx="100000" sy="100000" kx="0" ky="0" algn="bl" rotWithShape="0" blurRad="95250" dist="50800" dir="16200000">
              <a:srgbClr val="22D3EE">
                <a:alpha val="5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762831" y="2247900"/>
            <a:ext cx="1552853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dirty="0">
                <a:solidFill>
                  <a:srgbClr val="9AA6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ViralStructureGraph</a:t>
            </a:r>
            <a:endParaRPr lang="en-US" sz="975" dirty="0"/>
          </a:p>
        </p:txBody>
      </p:sp>
      <p:sp>
        <p:nvSpPr>
          <p:cNvPr id="12" name="Shape 10"/>
          <p:cNvSpPr/>
          <p:nvPr/>
        </p:nvSpPr>
        <p:spPr>
          <a:xfrm>
            <a:off x="6755904" y="1943100"/>
            <a:ext cx="171450" cy="171450"/>
          </a:xfrm>
          <a:prstGeom prst="ellipse">
            <a:avLst/>
          </a:prstGeom>
          <a:solidFill>
            <a:srgbClr val="080B12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95250" dist="50800" dir="16200000">
              <a:srgbClr val="34D399">
                <a:alpha val="5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394847" y="2247900"/>
            <a:ext cx="893465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dirty="0">
                <a:solidFill>
                  <a:srgbClr val="9AA6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AssetCard[]</a:t>
            </a:r>
            <a:endParaRPr lang="en-US" sz="975" dirty="0"/>
          </a:p>
        </p:txBody>
      </p:sp>
      <p:sp>
        <p:nvSpPr>
          <p:cNvPr id="14" name="Shape 12"/>
          <p:cNvSpPr/>
          <p:nvPr/>
        </p:nvSpPr>
        <p:spPr>
          <a:xfrm>
            <a:off x="9058176" y="1943100"/>
            <a:ext cx="171450" cy="171450"/>
          </a:xfrm>
          <a:prstGeom prst="ellipse">
            <a:avLst/>
          </a:prstGeom>
          <a:solidFill>
            <a:srgbClr val="080B12"/>
          </a:solidFill>
          <a:ln w="19050">
            <a:solidFill>
              <a:srgbClr val="FBBF24"/>
            </a:solidFill>
            <a:prstDash val="solid"/>
          </a:ln>
          <a:effectLst>
            <a:outerShdw sx="100000" sy="100000" kx="0" ky="0" algn="bl" rotWithShape="0" blurRad="95250" dist="50800" dir="16200000">
              <a:srgbClr val="FBBF24">
                <a:alpha val="5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697218" y="2247900"/>
            <a:ext cx="893465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dirty="0">
                <a:solidFill>
                  <a:srgbClr val="9AA6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SlotMatch[]</a:t>
            </a:r>
            <a:endParaRPr lang="en-US" sz="975" dirty="0"/>
          </a:p>
        </p:txBody>
      </p:sp>
      <p:sp>
        <p:nvSpPr>
          <p:cNvPr id="16" name="Shape 14"/>
          <p:cNvSpPr/>
          <p:nvPr/>
        </p:nvSpPr>
        <p:spPr>
          <a:xfrm>
            <a:off x="11360547" y="1943100"/>
            <a:ext cx="171450" cy="171450"/>
          </a:xfrm>
          <a:prstGeom prst="ellipse">
            <a:avLst/>
          </a:prstGeom>
          <a:solidFill>
            <a:srgbClr val="080B12"/>
          </a:solidFill>
          <a:ln w="19050">
            <a:solidFill>
              <a:srgbClr val="FF4D6D"/>
            </a:solidFill>
            <a:prstDash val="solid"/>
          </a:ln>
          <a:effectLst>
            <a:outerShdw sx="100000" sy="100000" kx="0" ky="0" algn="bl" rotWithShape="0" blurRad="95250" dist="50800" dir="16200000">
              <a:srgbClr val="FF4D6D">
                <a:alpha val="5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1073805" y="2247900"/>
            <a:ext cx="744934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dirty="0">
                <a:solidFill>
                  <a:srgbClr val="9AA6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Diagnosis</a:t>
            </a:r>
            <a:endParaRPr lang="en-US" sz="975" dirty="0"/>
          </a:p>
        </p:txBody>
      </p:sp>
      <p:sp>
        <p:nvSpPr>
          <p:cNvPr id="18" name="Shape 16"/>
          <p:cNvSpPr/>
          <p:nvPr/>
        </p:nvSpPr>
        <p:spPr>
          <a:xfrm>
            <a:off x="13662820" y="1943100"/>
            <a:ext cx="171450" cy="171450"/>
          </a:xfrm>
          <a:prstGeom prst="ellipse">
            <a:avLst/>
          </a:prstGeom>
          <a:solidFill>
            <a:srgbClr val="080B12"/>
          </a:solidFill>
          <a:ln w="19050">
            <a:solidFill>
              <a:srgbClr val="22D3EE"/>
            </a:solidFill>
            <a:prstDash val="solid"/>
          </a:ln>
          <a:effectLst>
            <a:outerShdw sx="100000" sy="100000" kx="0" ky="0" algn="bl" rotWithShape="0" blurRad="95250" dist="50800" dir="16200000">
              <a:srgbClr val="22D3EE">
                <a:alpha val="5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2931300" y="2247900"/>
            <a:ext cx="1634490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dirty="0">
                <a:solidFill>
                  <a:srgbClr val="9AA6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OrchestratedTimeline</a:t>
            </a:r>
            <a:endParaRPr lang="en-US" sz="975" dirty="0"/>
          </a:p>
        </p:txBody>
      </p:sp>
      <p:sp>
        <p:nvSpPr>
          <p:cNvPr id="20" name="Shape 18"/>
          <p:cNvSpPr/>
          <p:nvPr/>
        </p:nvSpPr>
        <p:spPr>
          <a:xfrm>
            <a:off x="15965191" y="1943100"/>
            <a:ext cx="171450" cy="171450"/>
          </a:xfrm>
          <a:prstGeom prst="ellipse">
            <a:avLst/>
          </a:prstGeom>
          <a:solidFill>
            <a:srgbClr val="080B12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95250" dist="50800" dir="16200000">
              <a:srgbClr val="34D399">
                <a:alpha val="5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5418495" y="2247900"/>
            <a:ext cx="1264940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dirty="0">
                <a:solidFill>
                  <a:srgbClr val="9AA6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AuthoredTimeline</a:t>
            </a:r>
            <a:endParaRPr lang="en-US" sz="975" dirty="0"/>
          </a:p>
        </p:txBody>
      </p:sp>
      <p:sp>
        <p:nvSpPr>
          <p:cNvPr id="22" name="Shape 20"/>
          <p:cNvSpPr/>
          <p:nvPr/>
        </p:nvSpPr>
        <p:spPr>
          <a:xfrm>
            <a:off x="1047750" y="5283200"/>
            <a:ext cx="8001000" cy="1054100"/>
          </a:xfrm>
          <a:prstGeom prst="roundRect">
            <a:avLst>
              <a:gd name="adj" fmla="val 14458"/>
            </a:avLst>
          </a:prstGeom>
          <a:solidFill>
            <a:srgbClr val="34D399">
              <a:alpha val="5000"/>
            </a:srgbClr>
          </a:solidFill>
          <a:ln w="6350">
            <a:solidFill>
              <a:srgbClr val="34D399">
                <a:alpha val="22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320800" y="5518150"/>
            <a:ext cx="8200390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QUALITYREPORT / SAFETYSTATUS</a:t>
            </a:r>
            <a:endParaRPr lang="en-US" sz="975" dirty="0"/>
          </a:p>
        </p:txBody>
      </p:sp>
      <p:sp>
        <p:nvSpPr>
          <p:cNvPr id="24" name="Text 22"/>
          <p:cNvSpPr/>
          <p:nvPr/>
        </p:nvSpPr>
        <p:spPr>
          <a:xfrm>
            <a:off x="1320800" y="5797550"/>
            <a:ext cx="820039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C8D2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中间结果可校验,守住安全边界 —— 每一步都能验证、可回退。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9239250" y="5283200"/>
            <a:ext cx="8001000" cy="1054100"/>
          </a:xfrm>
          <a:prstGeom prst="roundRect">
            <a:avLst>
              <a:gd name="adj" fmla="val 14458"/>
            </a:avLst>
          </a:prstGeom>
          <a:solidFill>
            <a:srgbClr val="FBBF24">
              <a:alpha val="5000"/>
            </a:srgbClr>
          </a:solidFill>
          <a:ln w="6350">
            <a:solidFill>
              <a:srgbClr val="FBBF24">
                <a:alpha val="22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512300" y="5518150"/>
            <a:ext cx="8200390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FFD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MATERIALGAP[] · 缺口分支</a:t>
            </a:r>
            <a:endParaRPr lang="en-US" sz="975" dirty="0"/>
          </a:p>
        </p:txBody>
      </p:sp>
      <p:sp>
        <p:nvSpPr>
          <p:cNvPr id="27" name="Text 25"/>
          <p:cNvSpPr/>
          <p:nvPr/>
        </p:nvSpPr>
        <p:spPr>
          <a:xfrm>
            <a:off x="9512300" y="5797550"/>
            <a:ext cx="820039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C8D2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素材不足时显式建缺口,而不是悄悄编造 —— 诚实是默认行为。</a:t>
            </a:r>
            <a:endParaRPr lang="en-US" sz="1650" dirty="0"/>
          </a:p>
        </p:txBody>
      </p:sp>
      <p:sp>
        <p:nvSpPr>
          <p:cNvPr id="28" name="Text 26"/>
          <p:cNvSpPr/>
          <p:nvPr/>
        </p:nvSpPr>
        <p:spPr>
          <a:xfrm>
            <a:off x="1047750" y="6546850"/>
            <a:ext cx="396280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7C8A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1520230" y="6546850"/>
            <a:ext cx="900509" cy="317500"/>
          </a:xfrm>
          <a:prstGeom prst="roundRect">
            <a:avLst>
              <a:gd name="adj" fmla="val 24000"/>
            </a:avLst>
          </a:prstGeom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650405" y="6619875"/>
            <a:ext cx="71635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9AA6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apps/web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2515989" y="6546850"/>
            <a:ext cx="900509" cy="317500"/>
          </a:xfrm>
          <a:prstGeom prst="roundRect">
            <a:avLst>
              <a:gd name="adj" fmla="val 24000"/>
            </a:avLst>
          </a:prstGeom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646164" y="6619875"/>
            <a:ext cx="71635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9AA6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apps/api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3511748" y="6546850"/>
            <a:ext cx="1460500" cy="317500"/>
          </a:xfrm>
          <a:prstGeom prst="roundRect">
            <a:avLst>
              <a:gd name="adj" fmla="val 24000"/>
            </a:avLst>
          </a:prstGeom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41923" y="6619875"/>
            <a:ext cx="127635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9AA6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packages/shared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067499" y="6546850"/>
            <a:ext cx="1860550" cy="317500"/>
          </a:xfrm>
          <a:prstGeom prst="roundRect">
            <a:avLst>
              <a:gd name="adj" fmla="val 24000"/>
            </a:avLst>
          </a:prstGeom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197674" y="6619875"/>
            <a:ext cx="167640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9AA6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packages/video-agent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7023299" y="6546850"/>
            <a:ext cx="820440" cy="317500"/>
          </a:xfrm>
          <a:prstGeom prst="roundRect">
            <a:avLst>
              <a:gd name="adj" fmla="val 24000"/>
            </a:avLst>
          </a:prstGeom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153474" y="6619875"/>
            <a:ext cx="63629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9AA6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scripts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7938989" y="6546850"/>
            <a:ext cx="1140520" cy="317500"/>
          </a:xfrm>
          <a:prstGeom prst="roundRect">
            <a:avLst>
              <a:gd name="adj" fmla="val 24000"/>
            </a:avLst>
          </a:prstGeom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069164" y="6619875"/>
            <a:ext cx="95637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9AA6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seed_assets</a:t>
            </a:r>
            <a:endParaRPr lang="en-US" sz="1050" dirty="0"/>
          </a:p>
        </p:txBody>
      </p:sp>
      <p:pic>
        <p:nvPicPr>
          <p:cNvPr id="4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9600" y="9601200"/>
            <a:ext cx="209550" cy="209550"/>
          </a:xfrm>
          <a:prstGeom prst="rect">
            <a:avLst/>
          </a:prstGeom>
        </p:spPr>
      </p:pic>
      <p:sp>
        <p:nvSpPr>
          <p:cNvPr id="42" name="Text 39"/>
          <p:cNvSpPr/>
          <p:nvPr/>
        </p:nvSpPr>
        <p:spPr>
          <a:xfrm>
            <a:off x="933450" y="9623425"/>
            <a:ext cx="1634490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95" kern="0" dirty="0">
                <a:solidFill>
                  <a:srgbClr val="5A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VIRAL STRUCT AI</a:t>
            </a:r>
            <a:endParaRPr lang="en-US" sz="975" dirty="0"/>
          </a:p>
        </p:txBody>
      </p:sp>
      <p:sp>
        <p:nvSpPr>
          <p:cNvPr id="43" name="Shape 40"/>
          <p:cNvSpPr/>
          <p:nvPr/>
        </p:nvSpPr>
        <p:spPr>
          <a:xfrm>
            <a:off x="15430500" y="9572625"/>
            <a:ext cx="152400" cy="28575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44" name="Shape 41"/>
          <p:cNvSpPr/>
          <p:nvPr/>
        </p:nvSpPr>
        <p:spPr>
          <a:xfrm>
            <a:off x="15640050" y="9572625"/>
            <a:ext cx="152400" cy="28575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45" name="Shape 42"/>
          <p:cNvSpPr/>
          <p:nvPr/>
        </p:nvSpPr>
        <p:spPr>
          <a:xfrm>
            <a:off x="15849600" y="9572625"/>
            <a:ext cx="152400" cy="28575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46" name="Shape 43"/>
          <p:cNvSpPr/>
          <p:nvPr/>
        </p:nvSpPr>
        <p:spPr>
          <a:xfrm>
            <a:off x="16059150" y="9572625"/>
            <a:ext cx="152400" cy="28575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47" name="Shape 44"/>
          <p:cNvSpPr/>
          <p:nvPr/>
        </p:nvSpPr>
        <p:spPr>
          <a:xfrm>
            <a:off x="16268700" y="9572625"/>
            <a:ext cx="152400" cy="28575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48" name="Shape 45"/>
          <p:cNvSpPr/>
          <p:nvPr/>
        </p:nvSpPr>
        <p:spPr>
          <a:xfrm>
            <a:off x="16478250" y="9572625"/>
            <a:ext cx="152400" cy="28575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  <a:effectLst>
            <a:outerShdw sx="100000" sy="100000" kx="0" ky="0" algn="bl" rotWithShape="0" blurRad="95250" dist="50800" dir="16200000">
              <a:srgbClr val="22D3EE">
                <a:alpha val="85000"/>
              </a:srgbClr>
            </a:outerShdw>
          </a:effectLst>
        </p:spPr>
      </p:sp>
      <p:sp>
        <p:nvSpPr>
          <p:cNvPr id="49" name="Shape 46"/>
          <p:cNvSpPr/>
          <p:nvPr/>
        </p:nvSpPr>
        <p:spPr>
          <a:xfrm>
            <a:off x="16687800" y="9572625"/>
            <a:ext cx="152400" cy="28575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50" name="Shape 47"/>
          <p:cNvSpPr/>
          <p:nvPr/>
        </p:nvSpPr>
        <p:spPr>
          <a:xfrm>
            <a:off x="16897350" y="9572625"/>
            <a:ext cx="152400" cy="28575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51" name="Shape 48"/>
          <p:cNvSpPr/>
          <p:nvPr/>
        </p:nvSpPr>
        <p:spPr>
          <a:xfrm>
            <a:off x="17106900" y="9572625"/>
            <a:ext cx="152400" cy="28575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52" name="Shape 49"/>
          <p:cNvSpPr/>
          <p:nvPr/>
        </p:nvSpPr>
        <p:spPr>
          <a:xfrm>
            <a:off x="17316450" y="9572625"/>
            <a:ext cx="152400" cy="28575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53" name="Shape 50"/>
          <p:cNvSpPr/>
          <p:nvPr/>
        </p:nvSpPr>
        <p:spPr>
          <a:xfrm>
            <a:off x="17526000" y="9572625"/>
            <a:ext cx="152400" cy="28575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54" name="Text 51"/>
          <p:cNvSpPr/>
          <p:nvPr/>
        </p:nvSpPr>
        <p:spPr>
          <a:xfrm>
            <a:off x="15430500" y="9639300"/>
            <a:ext cx="700286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17" kern="0" dirty="0">
                <a:solidFill>
                  <a:srgbClr val="5A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/ 11</a:t>
            </a:r>
            <a:endParaRPr lang="en-US" sz="97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0C1426">
                  <a:alpha val="100000"/>
                </a:srgbClr>
              </a:gs>
              <a:gs pos="52000">
                <a:srgbClr val="070A12">
                  <a:alpha val="100000"/>
                </a:srgbClr>
              </a:gs>
              <a:gs pos="100000">
                <a:srgbClr val="05070D">
                  <a:alpha val="100000"/>
                </a:srgbClr>
              </a:gs>
            </a:gsLst>
            <a:path path="circle">
              <a:fillToRect l="50000" t="0" r="5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2D3EE">
                  <a:alpha val="7000"/>
                </a:srgbClr>
              </a:gs>
              <a:gs pos="70000">
                <a:srgbClr val="22D3EE">
                  <a:alpha val="0"/>
                </a:srgbClr>
              </a:gs>
            </a:gsLst>
            <a:path path="circle">
              <a:fillToRect l="50000" t="16000" r="50000" b="84000"/>
            </a:path>
          </a:gradFill>
          <a:ln/>
        </p:spPr>
      </p:sp>
      <p:sp>
        <p:nvSpPr>
          <p:cNvPr id="4" name="Shape 2"/>
          <p:cNvSpPr/>
          <p:nvPr/>
        </p:nvSpPr>
        <p:spPr>
          <a:xfrm>
            <a:off x="1047750" y="833438"/>
            <a:ext cx="171450" cy="28575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  <a:effectLst>
            <a:outerShdw sx="100000" sy="100000" kx="0" ky="0" algn="bl" rotWithShape="0" blurRad="114300" dist="50800" dir="16200000">
              <a:srgbClr val="22D3EE">
                <a:alpha val="7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352550" y="762000"/>
            <a:ext cx="344709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357" kern="0" dirty="0">
                <a:solidFill>
                  <a:srgbClr val="7C8A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PIPELINE · PROTOCOL-FIRST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047750" y="1085850"/>
            <a:ext cx="1781175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750" b="1" spc="-37" kern="0" dirty="0">
                <a:solidFill>
                  <a:srgbClr val="F1F5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从视频证据,到可执行时间线</a:t>
            </a:r>
            <a:endParaRPr lang="en-US" sz="3750" dirty="0"/>
          </a:p>
        </p:txBody>
      </p:sp>
      <p:sp>
        <p:nvSpPr>
          <p:cNvPr id="7" name="Shape 5"/>
          <p:cNvSpPr/>
          <p:nvPr/>
        </p:nvSpPr>
        <p:spPr>
          <a:xfrm>
            <a:off x="2230041" y="2028825"/>
            <a:ext cx="13827919" cy="1905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2125544" y="1917383"/>
            <a:ext cx="222885" cy="222885"/>
          </a:xfrm>
          <a:prstGeom prst="ellipse">
            <a:avLst/>
          </a:prstGeom>
          <a:solidFill>
            <a:srgbClr val="A78BFA"/>
          </a:solidFill>
          <a:ln w="24765">
            <a:solidFill>
              <a:srgbClr val="A78BFA"/>
            </a:solidFill>
            <a:prstDash val="solid"/>
          </a:ln>
          <a:effectLst>
            <a:outerShdw sx="100000" sy="100000" kx="0" ky="0" algn="bl" rotWithShape="0" blurRad="190500" dist="50800" dir="16200000">
              <a:srgbClr val="A78BFA">
                <a:alpha val="10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715889" y="2247900"/>
            <a:ext cx="1042095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dirty="0">
                <a:solidFill>
                  <a:srgbClr val="9AA6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VideoAnalysis</a:t>
            </a:r>
            <a:endParaRPr lang="en-US" sz="975" dirty="0"/>
          </a:p>
        </p:txBody>
      </p:sp>
      <p:sp>
        <p:nvSpPr>
          <p:cNvPr id="10" name="Shape 8"/>
          <p:cNvSpPr/>
          <p:nvPr/>
        </p:nvSpPr>
        <p:spPr>
          <a:xfrm>
            <a:off x="4453533" y="1943100"/>
            <a:ext cx="171450" cy="171450"/>
          </a:xfrm>
          <a:prstGeom prst="ellipse">
            <a:avLst/>
          </a:prstGeom>
          <a:solidFill>
            <a:srgbClr val="080B12"/>
          </a:solidFill>
          <a:ln w="19050">
            <a:solidFill>
              <a:srgbClr val="22D3EE"/>
            </a:solidFill>
            <a:prstDash val="solid"/>
          </a:ln>
          <a:effectLst>
            <a:outerShdw sx="100000" sy="100000" kx="0" ky="0" algn="bl" rotWithShape="0" blurRad="95250" dist="50800" dir="16200000">
              <a:srgbClr val="22D3EE">
                <a:alpha val="5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762831" y="2247900"/>
            <a:ext cx="1552853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dirty="0">
                <a:solidFill>
                  <a:srgbClr val="9AA6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ViralStructureGraph</a:t>
            </a:r>
            <a:endParaRPr lang="en-US" sz="975" dirty="0"/>
          </a:p>
        </p:txBody>
      </p:sp>
      <p:sp>
        <p:nvSpPr>
          <p:cNvPr id="12" name="Shape 10"/>
          <p:cNvSpPr/>
          <p:nvPr/>
        </p:nvSpPr>
        <p:spPr>
          <a:xfrm>
            <a:off x="6755904" y="1943100"/>
            <a:ext cx="171450" cy="171450"/>
          </a:xfrm>
          <a:prstGeom prst="ellipse">
            <a:avLst/>
          </a:prstGeom>
          <a:solidFill>
            <a:srgbClr val="080B12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95250" dist="50800" dir="16200000">
              <a:srgbClr val="34D399">
                <a:alpha val="5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394847" y="2247900"/>
            <a:ext cx="893465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dirty="0">
                <a:solidFill>
                  <a:srgbClr val="9AA6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AssetCard[]</a:t>
            </a:r>
            <a:endParaRPr lang="en-US" sz="975" dirty="0"/>
          </a:p>
        </p:txBody>
      </p:sp>
      <p:sp>
        <p:nvSpPr>
          <p:cNvPr id="14" name="Shape 12"/>
          <p:cNvSpPr/>
          <p:nvPr/>
        </p:nvSpPr>
        <p:spPr>
          <a:xfrm>
            <a:off x="9058176" y="1943100"/>
            <a:ext cx="171450" cy="171450"/>
          </a:xfrm>
          <a:prstGeom prst="ellipse">
            <a:avLst/>
          </a:prstGeom>
          <a:solidFill>
            <a:srgbClr val="080B12"/>
          </a:solidFill>
          <a:ln w="19050">
            <a:solidFill>
              <a:srgbClr val="FBBF24"/>
            </a:solidFill>
            <a:prstDash val="solid"/>
          </a:ln>
          <a:effectLst>
            <a:outerShdw sx="100000" sy="100000" kx="0" ky="0" algn="bl" rotWithShape="0" blurRad="95250" dist="50800" dir="16200000">
              <a:srgbClr val="FBBF24">
                <a:alpha val="5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697218" y="2247900"/>
            <a:ext cx="893465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dirty="0">
                <a:solidFill>
                  <a:srgbClr val="9AA6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SlotMatch[]</a:t>
            </a:r>
            <a:endParaRPr lang="en-US" sz="975" dirty="0"/>
          </a:p>
        </p:txBody>
      </p:sp>
      <p:sp>
        <p:nvSpPr>
          <p:cNvPr id="16" name="Shape 14"/>
          <p:cNvSpPr/>
          <p:nvPr/>
        </p:nvSpPr>
        <p:spPr>
          <a:xfrm>
            <a:off x="11360547" y="1943100"/>
            <a:ext cx="171450" cy="171450"/>
          </a:xfrm>
          <a:prstGeom prst="ellipse">
            <a:avLst/>
          </a:prstGeom>
          <a:solidFill>
            <a:srgbClr val="080B12"/>
          </a:solidFill>
          <a:ln w="19050">
            <a:solidFill>
              <a:srgbClr val="FF4D6D"/>
            </a:solidFill>
            <a:prstDash val="solid"/>
          </a:ln>
          <a:effectLst>
            <a:outerShdw sx="100000" sy="100000" kx="0" ky="0" algn="bl" rotWithShape="0" blurRad="95250" dist="50800" dir="16200000">
              <a:srgbClr val="FF4D6D">
                <a:alpha val="5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1073805" y="2247900"/>
            <a:ext cx="744934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dirty="0">
                <a:solidFill>
                  <a:srgbClr val="9AA6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Diagnosis</a:t>
            </a:r>
            <a:endParaRPr lang="en-US" sz="975" dirty="0"/>
          </a:p>
        </p:txBody>
      </p:sp>
      <p:sp>
        <p:nvSpPr>
          <p:cNvPr id="18" name="Shape 16"/>
          <p:cNvSpPr/>
          <p:nvPr/>
        </p:nvSpPr>
        <p:spPr>
          <a:xfrm>
            <a:off x="13662820" y="1943100"/>
            <a:ext cx="171450" cy="171450"/>
          </a:xfrm>
          <a:prstGeom prst="ellipse">
            <a:avLst/>
          </a:prstGeom>
          <a:solidFill>
            <a:srgbClr val="080B12"/>
          </a:solidFill>
          <a:ln w="19050">
            <a:solidFill>
              <a:srgbClr val="22D3EE"/>
            </a:solidFill>
            <a:prstDash val="solid"/>
          </a:ln>
          <a:effectLst>
            <a:outerShdw sx="100000" sy="100000" kx="0" ky="0" algn="bl" rotWithShape="0" blurRad="95250" dist="50800" dir="16200000">
              <a:srgbClr val="22D3EE">
                <a:alpha val="5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2931300" y="2247900"/>
            <a:ext cx="1634490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dirty="0">
                <a:solidFill>
                  <a:srgbClr val="9AA6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OrchestratedTimeline</a:t>
            </a:r>
            <a:endParaRPr lang="en-US" sz="975" dirty="0"/>
          </a:p>
        </p:txBody>
      </p:sp>
      <p:sp>
        <p:nvSpPr>
          <p:cNvPr id="20" name="Shape 18"/>
          <p:cNvSpPr/>
          <p:nvPr/>
        </p:nvSpPr>
        <p:spPr>
          <a:xfrm>
            <a:off x="15965191" y="1943100"/>
            <a:ext cx="171450" cy="171450"/>
          </a:xfrm>
          <a:prstGeom prst="ellipse">
            <a:avLst/>
          </a:prstGeom>
          <a:solidFill>
            <a:srgbClr val="080B12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95250" dist="50800" dir="16200000">
              <a:srgbClr val="34D399">
                <a:alpha val="5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5418495" y="2247900"/>
            <a:ext cx="1264940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dirty="0">
                <a:solidFill>
                  <a:srgbClr val="9AA6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AuthoredTimeline</a:t>
            </a:r>
            <a:endParaRPr lang="en-US" sz="975" dirty="0"/>
          </a:p>
        </p:txBody>
      </p:sp>
      <p:sp>
        <p:nvSpPr>
          <p:cNvPr id="22" name="Text 20"/>
          <p:cNvSpPr/>
          <p:nvPr/>
        </p:nvSpPr>
        <p:spPr>
          <a:xfrm>
            <a:off x="1047750" y="5051425"/>
            <a:ext cx="1781175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203" kern="0" dirty="0">
                <a:solidFill>
                  <a:srgbClr val="C4B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 1 · VIDEO UNDERSTANDING</a:t>
            </a:r>
            <a:endParaRPr lang="en-US" sz="1125" dirty="0"/>
          </a:p>
        </p:txBody>
      </p:sp>
      <p:sp>
        <p:nvSpPr>
          <p:cNvPr id="23" name="Shape 21"/>
          <p:cNvSpPr/>
          <p:nvPr/>
        </p:nvSpPr>
        <p:spPr>
          <a:xfrm>
            <a:off x="1047750" y="5451475"/>
            <a:ext cx="4649292" cy="889000"/>
          </a:xfrm>
          <a:prstGeom prst="roundRect">
            <a:avLst>
              <a:gd name="adj" fmla="val 15000"/>
            </a:avLst>
          </a:prstGeom>
          <a:solidFill>
            <a:srgbClr val="FFFFFF">
              <a:alpha val="2000"/>
            </a:srgbClr>
          </a:solidFill>
          <a:ln w="635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82700" y="5648325"/>
            <a:ext cx="4597331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6B7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282700" y="5870575"/>
            <a:ext cx="4597331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E2E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Video</a:t>
            </a:r>
            <a:endParaRPr lang="en-US" sz="1575" dirty="0"/>
          </a:p>
        </p:txBody>
      </p:sp>
      <p:sp>
        <p:nvSpPr>
          <p:cNvPr id="26" name="Text 24"/>
          <p:cNvSpPr/>
          <p:nvPr/>
        </p:nvSpPr>
        <p:spPr>
          <a:xfrm>
            <a:off x="5830392" y="5451475"/>
            <a:ext cx="304800" cy="927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F4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6192342" y="5451475"/>
            <a:ext cx="5903218" cy="889000"/>
          </a:xfrm>
          <a:prstGeom prst="roundRect">
            <a:avLst>
              <a:gd name="adj" fmla="val 15000"/>
            </a:avLst>
          </a:prstGeom>
          <a:solidFill>
            <a:srgbClr val="A78BFA">
              <a:alpha val="5000"/>
            </a:srgbClr>
          </a:solidFill>
          <a:ln w="6350">
            <a:solidFill>
              <a:srgbClr val="A78BFA">
                <a:alpha val="25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27291" y="5648325"/>
            <a:ext cx="5976650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C4B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PROCESS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427291" y="5870575"/>
            <a:ext cx="5976650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Rough Scan → Fine Scan</a:t>
            </a:r>
            <a:endParaRPr lang="en-US" sz="1575" dirty="0"/>
          </a:p>
        </p:txBody>
      </p:sp>
      <p:sp>
        <p:nvSpPr>
          <p:cNvPr id="30" name="Text 28"/>
          <p:cNvSpPr/>
          <p:nvPr/>
        </p:nvSpPr>
        <p:spPr>
          <a:xfrm>
            <a:off x="12228909" y="5451475"/>
            <a:ext cx="304800" cy="927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F4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12590859" y="5451475"/>
            <a:ext cx="4649391" cy="889000"/>
          </a:xfrm>
          <a:prstGeom prst="roundRect">
            <a:avLst>
              <a:gd name="adj" fmla="val 15000"/>
            </a:avLst>
          </a:prstGeom>
          <a:solidFill>
            <a:srgbClr val="FFFFFF">
              <a:alpha val="2000"/>
            </a:srgbClr>
          </a:solidFill>
          <a:ln w="635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2825810" y="5648325"/>
            <a:ext cx="4597440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6B7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2825810" y="5870575"/>
            <a:ext cx="4597440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E2E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VideoAnalysis + beats</a:t>
            </a:r>
            <a:endParaRPr lang="en-US" sz="1575" dirty="0"/>
          </a:p>
        </p:txBody>
      </p:sp>
      <p:sp>
        <p:nvSpPr>
          <p:cNvPr id="34" name="Shape 32"/>
          <p:cNvSpPr/>
          <p:nvPr/>
        </p:nvSpPr>
        <p:spPr>
          <a:xfrm>
            <a:off x="1047750" y="6550025"/>
            <a:ext cx="16192500" cy="546100"/>
          </a:xfrm>
          <a:prstGeom prst="roundRect">
            <a:avLst>
              <a:gd name="adj" fmla="val 20930"/>
            </a:avLst>
          </a:prstGeom>
          <a:solidFill>
            <a:srgbClr val="A78BFA">
              <a:alpha val="6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1047750" y="6550025"/>
            <a:ext cx="25400" cy="54610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36" name="Text 34"/>
          <p:cNvSpPr/>
          <p:nvPr/>
        </p:nvSpPr>
        <p:spPr>
          <a:xfrm>
            <a:off x="1263650" y="6750050"/>
            <a:ext cx="816868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08" kern="0" dirty="0">
                <a:solidFill>
                  <a:srgbClr val="C4B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GUARDRAIL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2137668" y="6683375"/>
            <a:ext cx="3198912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C8D2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不逐帧硬扫,用候选峰值提高信噪比</a:t>
            </a:r>
            <a:endParaRPr lang="en-US" sz="1500" dirty="0"/>
          </a:p>
        </p:txBody>
      </p:sp>
      <p:pic>
        <p:nvPicPr>
          <p:cNvPr id="3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9600" y="9601200"/>
            <a:ext cx="209550" cy="209550"/>
          </a:xfrm>
          <a:prstGeom prst="rect">
            <a:avLst/>
          </a:prstGeom>
        </p:spPr>
      </p:pic>
      <p:sp>
        <p:nvSpPr>
          <p:cNvPr id="39" name="Text 36"/>
          <p:cNvSpPr/>
          <p:nvPr/>
        </p:nvSpPr>
        <p:spPr>
          <a:xfrm>
            <a:off x="933450" y="9623425"/>
            <a:ext cx="1634490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95" kern="0" dirty="0">
                <a:solidFill>
                  <a:srgbClr val="5A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VIRAL STRUCT AI</a:t>
            </a:r>
            <a:endParaRPr lang="en-US" sz="975" dirty="0"/>
          </a:p>
        </p:txBody>
      </p:sp>
      <p:sp>
        <p:nvSpPr>
          <p:cNvPr id="40" name="Shape 37"/>
          <p:cNvSpPr/>
          <p:nvPr/>
        </p:nvSpPr>
        <p:spPr>
          <a:xfrm>
            <a:off x="15430500" y="9572625"/>
            <a:ext cx="152400" cy="28575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41" name="Shape 38"/>
          <p:cNvSpPr/>
          <p:nvPr/>
        </p:nvSpPr>
        <p:spPr>
          <a:xfrm>
            <a:off x="15640050" y="9572625"/>
            <a:ext cx="152400" cy="28575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42" name="Shape 39"/>
          <p:cNvSpPr/>
          <p:nvPr/>
        </p:nvSpPr>
        <p:spPr>
          <a:xfrm>
            <a:off x="15849600" y="9572625"/>
            <a:ext cx="152400" cy="28575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43" name="Shape 40"/>
          <p:cNvSpPr/>
          <p:nvPr/>
        </p:nvSpPr>
        <p:spPr>
          <a:xfrm>
            <a:off x="16059150" y="9572625"/>
            <a:ext cx="152400" cy="28575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44" name="Shape 41"/>
          <p:cNvSpPr/>
          <p:nvPr/>
        </p:nvSpPr>
        <p:spPr>
          <a:xfrm>
            <a:off x="16268700" y="9572625"/>
            <a:ext cx="152400" cy="28575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45" name="Shape 42"/>
          <p:cNvSpPr/>
          <p:nvPr/>
        </p:nvSpPr>
        <p:spPr>
          <a:xfrm>
            <a:off x="16478250" y="9572625"/>
            <a:ext cx="152400" cy="28575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  <a:effectLst>
            <a:outerShdw sx="100000" sy="100000" kx="0" ky="0" algn="bl" rotWithShape="0" blurRad="95250" dist="50800" dir="16200000">
              <a:srgbClr val="22D3EE">
                <a:alpha val="85000"/>
              </a:srgbClr>
            </a:outerShdw>
          </a:effectLst>
        </p:spPr>
      </p:sp>
      <p:sp>
        <p:nvSpPr>
          <p:cNvPr id="46" name="Shape 43"/>
          <p:cNvSpPr/>
          <p:nvPr/>
        </p:nvSpPr>
        <p:spPr>
          <a:xfrm>
            <a:off x="16687800" y="9572625"/>
            <a:ext cx="152400" cy="28575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47" name="Shape 44"/>
          <p:cNvSpPr/>
          <p:nvPr/>
        </p:nvSpPr>
        <p:spPr>
          <a:xfrm>
            <a:off x="16897350" y="9572625"/>
            <a:ext cx="152400" cy="28575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48" name="Shape 45"/>
          <p:cNvSpPr/>
          <p:nvPr/>
        </p:nvSpPr>
        <p:spPr>
          <a:xfrm>
            <a:off x="17106900" y="9572625"/>
            <a:ext cx="152400" cy="28575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49" name="Shape 46"/>
          <p:cNvSpPr/>
          <p:nvPr/>
        </p:nvSpPr>
        <p:spPr>
          <a:xfrm>
            <a:off x="17316450" y="9572625"/>
            <a:ext cx="152400" cy="28575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50" name="Shape 47"/>
          <p:cNvSpPr/>
          <p:nvPr/>
        </p:nvSpPr>
        <p:spPr>
          <a:xfrm>
            <a:off x="17526000" y="9572625"/>
            <a:ext cx="152400" cy="28575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51" name="Text 48"/>
          <p:cNvSpPr/>
          <p:nvPr/>
        </p:nvSpPr>
        <p:spPr>
          <a:xfrm>
            <a:off x="15430500" y="9639300"/>
            <a:ext cx="700286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17" kern="0" dirty="0">
                <a:solidFill>
                  <a:srgbClr val="5A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/ 11</a:t>
            </a:r>
            <a:endParaRPr lang="en-US" sz="97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0C1426">
                  <a:alpha val="100000"/>
                </a:srgbClr>
              </a:gs>
              <a:gs pos="52000">
                <a:srgbClr val="070A12">
                  <a:alpha val="100000"/>
                </a:srgbClr>
              </a:gs>
              <a:gs pos="100000">
                <a:srgbClr val="05070D">
                  <a:alpha val="100000"/>
                </a:srgbClr>
              </a:gs>
            </a:gsLst>
            <a:path path="circle">
              <a:fillToRect l="50000" t="0" r="5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2D3EE">
                  <a:alpha val="7000"/>
                </a:srgbClr>
              </a:gs>
              <a:gs pos="70000">
                <a:srgbClr val="22D3EE">
                  <a:alpha val="0"/>
                </a:srgbClr>
              </a:gs>
            </a:gsLst>
            <a:path path="circle">
              <a:fillToRect l="50000" t="16000" r="50000" b="84000"/>
            </a:path>
          </a:gradFill>
          <a:ln/>
        </p:spPr>
      </p:sp>
      <p:sp>
        <p:nvSpPr>
          <p:cNvPr id="4" name="Shape 2"/>
          <p:cNvSpPr/>
          <p:nvPr/>
        </p:nvSpPr>
        <p:spPr>
          <a:xfrm>
            <a:off x="1047750" y="833438"/>
            <a:ext cx="171450" cy="28575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  <a:effectLst>
            <a:outerShdw sx="100000" sy="100000" kx="0" ky="0" algn="bl" rotWithShape="0" blurRad="114300" dist="50800" dir="16200000">
              <a:srgbClr val="22D3EE">
                <a:alpha val="7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352550" y="762000"/>
            <a:ext cx="344709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357" kern="0" dirty="0">
                <a:solidFill>
                  <a:srgbClr val="7C8A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PIPELINE · PROTOCOL-FIRST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047750" y="1085850"/>
            <a:ext cx="1781175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750" b="1" spc="-37" kern="0" dirty="0">
                <a:solidFill>
                  <a:srgbClr val="F1F5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从视频证据,到可执行时间线</a:t>
            </a:r>
            <a:endParaRPr lang="en-US" sz="3750" dirty="0"/>
          </a:p>
        </p:txBody>
      </p:sp>
      <p:sp>
        <p:nvSpPr>
          <p:cNvPr id="7" name="Shape 5"/>
          <p:cNvSpPr/>
          <p:nvPr/>
        </p:nvSpPr>
        <p:spPr>
          <a:xfrm>
            <a:off x="1085850" y="1847850"/>
            <a:ext cx="2302272" cy="876300"/>
          </a:xfrm>
          <a:prstGeom prst="roundRect">
            <a:avLst>
              <a:gd name="adj" fmla="val 17391"/>
            </a:avLst>
          </a:prstGeom>
          <a:solidFill>
            <a:srgbClr val="A78BFA">
              <a:alpha val="7000"/>
            </a:srgbClr>
          </a:solidFill>
          <a:ln w="6350">
            <a:solidFill>
              <a:srgbClr val="A78BFA"/>
            </a:solidFill>
            <a:prstDash val="solid"/>
          </a:ln>
          <a:effectLst>
            <a:outerShdw sx="100000" sy="100000" kx="0" ky="0" algn="bl" rotWithShape="0" blurRad="419100" dist="50800" dir="16200000">
              <a:srgbClr val="A78BFA">
                <a:alpha val="19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30041" y="2028825"/>
            <a:ext cx="13827919" cy="1905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2151261" y="1943100"/>
            <a:ext cx="171450" cy="171450"/>
          </a:xfrm>
          <a:prstGeom prst="ellipse">
            <a:avLst/>
          </a:prstGeom>
          <a:solidFill>
            <a:srgbClr val="080B12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95250" dist="50800" dir="16200000">
              <a:srgbClr val="A78BFA">
                <a:alpha val="5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715889" y="2247900"/>
            <a:ext cx="1042095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dirty="0">
                <a:solidFill>
                  <a:srgbClr val="9AA6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VideoAnalysis</a:t>
            </a:r>
            <a:endParaRPr lang="en-US" sz="975" dirty="0"/>
          </a:p>
        </p:txBody>
      </p:sp>
      <p:sp>
        <p:nvSpPr>
          <p:cNvPr id="11" name="Shape 9"/>
          <p:cNvSpPr/>
          <p:nvPr/>
        </p:nvSpPr>
        <p:spPr>
          <a:xfrm>
            <a:off x="4427815" y="1917383"/>
            <a:ext cx="222885" cy="222885"/>
          </a:xfrm>
          <a:prstGeom prst="ellipse">
            <a:avLst/>
          </a:prstGeom>
          <a:solidFill>
            <a:srgbClr val="22D3EE"/>
          </a:solidFill>
          <a:ln w="24765">
            <a:solidFill>
              <a:srgbClr val="22D3EE"/>
            </a:solidFill>
            <a:prstDash val="solid"/>
          </a:ln>
          <a:effectLst>
            <a:outerShdw sx="100000" sy="100000" kx="0" ky="0" algn="bl" rotWithShape="0" blurRad="190500" dist="50800" dir="16200000">
              <a:srgbClr val="22D3EE">
                <a:alpha val="10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762831" y="2247900"/>
            <a:ext cx="1552853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dirty="0">
                <a:solidFill>
                  <a:srgbClr val="9AA6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ViralStructureGraph</a:t>
            </a:r>
            <a:endParaRPr lang="en-US" sz="975" dirty="0"/>
          </a:p>
        </p:txBody>
      </p:sp>
      <p:sp>
        <p:nvSpPr>
          <p:cNvPr id="13" name="Shape 11"/>
          <p:cNvSpPr/>
          <p:nvPr/>
        </p:nvSpPr>
        <p:spPr>
          <a:xfrm>
            <a:off x="6755904" y="1943100"/>
            <a:ext cx="171450" cy="171450"/>
          </a:xfrm>
          <a:prstGeom prst="ellipse">
            <a:avLst/>
          </a:prstGeom>
          <a:solidFill>
            <a:srgbClr val="080B12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95250" dist="50800" dir="16200000">
              <a:srgbClr val="34D399">
                <a:alpha val="5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394847" y="2247900"/>
            <a:ext cx="893465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dirty="0">
                <a:solidFill>
                  <a:srgbClr val="9AA6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AssetCard[]</a:t>
            </a:r>
            <a:endParaRPr lang="en-US" sz="975" dirty="0"/>
          </a:p>
        </p:txBody>
      </p:sp>
      <p:sp>
        <p:nvSpPr>
          <p:cNvPr id="15" name="Shape 13"/>
          <p:cNvSpPr/>
          <p:nvPr/>
        </p:nvSpPr>
        <p:spPr>
          <a:xfrm>
            <a:off x="9058176" y="1943100"/>
            <a:ext cx="171450" cy="171450"/>
          </a:xfrm>
          <a:prstGeom prst="ellipse">
            <a:avLst/>
          </a:prstGeom>
          <a:solidFill>
            <a:srgbClr val="080B12"/>
          </a:solidFill>
          <a:ln w="19050">
            <a:solidFill>
              <a:srgbClr val="FBBF24"/>
            </a:solidFill>
            <a:prstDash val="solid"/>
          </a:ln>
          <a:effectLst>
            <a:outerShdw sx="100000" sy="100000" kx="0" ky="0" algn="bl" rotWithShape="0" blurRad="95250" dist="50800" dir="16200000">
              <a:srgbClr val="FBBF24">
                <a:alpha val="5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697218" y="2247900"/>
            <a:ext cx="893465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dirty="0">
                <a:solidFill>
                  <a:srgbClr val="9AA6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SlotMatch[]</a:t>
            </a:r>
            <a:endParaRPr lang="en-US" sz="975" dirty="0"/>
          </a:p>
        </p:txBody>
      </p:sp>
      <p:sp>
        <p:nvSpPr>
          <p:cNvPr id="17" name="Shape 15"/>
          <p:cNvSpPr/>
          <p:nvPr/>
        </p:nvSpPr>
        <p:spPr>
          <a:xfrm>
            <a:off x="11360547" y="1943100"/>
            <a:ext cx="171450" cy="171450"/>
          </a:xfrm>
          <a:prstGeom prst="ellipse">
            <a:avLst/>
          </a:prstGeom>
          <a:solidFill>
            <a:srgbClr val="080B12"/>
          </a:solidFill>
          <a:ln w="19050">
            <a:solidFill>
              <a:srgbClr val="FF4D6D"/>
            </a:solidFill>
            <a:prstDash val="solid"/>
          </a:ln>
          <a:effectLst>
            <a:outerShdw sx="100000" sy="100000" kx="0" ky="0" algn="bl" rotWithShape="0" blurRad="95250" dist="50800" dir="16200000">
              <a:srgbClr val="FF4D6D">
                <a:alpha val="5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1073805" y="2247900"/>
            <a:ext cx="744934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dirty="0">
                <a:solidFill>
                  <a:srgbClr val="9AA6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Diagnosis</a:t>
            </a:r>
            <a:endParaRPr lang="en-US" sz="975" dirty="0"/>
          </a:p>
        </p:txBody>
      </p:sp>
      <p:sp>
        <p:nvSpPr>
          <p:cNvPr id="19" name="Shape 17"/>
          <p:cNvSpPr/>
          <p:nvPr/>
        </p:nvSpPr>
        <p:spPr>
          <a:xfrm>
            <a:off x="13662820" y="1943100"/>
            <a:ext cx="171450" cy="171450"/>
          </a:xfrm>
          <a:prstGeom prst="ellipse">
            <a:avLst/>
          </a:prstGeom>
          <a:solidFill>
            <a:srgbClr val="080B12"/>
          </a:solidFill>
          <a:ln w="19050">
            <a:solidFill>
              <a:srgbClr val="22D3EE"/>
            </a:solidFill>
            <a:prstDash val="solid"/>
          </a:ln>
          <a:effectLst>
            <a:outerShdw sx="100000" sy="100000" kx="0" ky="0" algn="bl" rotWithShape="0" blurRad="95250" dist="50800" dir="16200000">
              <a:srgbClr val="22D3EE">
                <a:alpha val="5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2931300" y="2247900"/>
            <a:ext cx="1634490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dirty="0">
                <a:solidFill>
                  <a:srgbClr val="9AA6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OrchestratedTimeline</a:t>
            </a:r>
            <a:endParaRPr lang="en-US" sz="975" dirty="0"/>
          </a:p>
        </p:txBody>
      </p:sp>
      <p:sp>
        <p:nvSpPr>
          <p:cNvPr id="21" name="Shape 19"/>
          <p:cNvSpPr/>
          <p:nvPr/>
        </p:nvSpPr>
        <p:spPr>
          <a:xfrm>
            <a:off x="15965191" y="1943100"/>
            <a:ext cx="171450" cy="171450"/>
          </a:xfrm>
          <a:prstGeom prst="ellipse">
            <a:avLst/>
          </a:prstGeom>
          <a:solidFill>
            <a:srgbClr val="080B12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95250" dist="50800" dir="16200000">
              <a:srgbClr val="34D399">
                <a:alpha val="5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5418495" y="2247900"/>
            <a:ext cx="1264940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dirty="0">
                <a:solidFill>
                  <a:srgbClr val="9AA6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AuthoredTimeline</a:t>
            </a:r>
            <a:endParaRPr lang="en-US" sz="975" dirty="0"/>
          </a:p>
        </p:txBody>
      </p:sp>
      <p:sp>
        <p:nvSpPr>
          <p:cNvPr id="23" name="Text 21"/>
          <p:cNvSpPr/>
          <p:nvPr/>
        </p:nvSpPr>
        <p:spPr>
          <a:xfrm>
            <a:off x="1047750" y="5041900"/>
            <a:ext cx="1781175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203" kern="0" dirty="0">
                <a:solidFill>
                  <a:srgbClr val="7DE7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 2 · STRUCTURE ABSTRACTION</a:t>
            </a:r>
            <a:endParaRPr lang="en-US" sz="1125" dirty="0"/>
          </a:p>
        </p:txBody>
      </p:sp>
      <p:sp>
        <p:nvSpPr>
          <p:cNvPr id="24" name="Shape 22"/>
          <p:cNvSpPr/>
          <p:nvPr/>
        </p:nvSpPr>
        <p:spPr>
          <a:xfrm>
            <a:off x="1047750" y="5441950"/>
            <a:ext cx="4649292" cy="908050"/>
          </a:xfrm>
          <a:prstGeom prst="roundRect">
            <a:avLst>
              <a:gd name="adj" fmla="val 14685"/>
            </a:avLst>
          </a:prstGeom>
          <a:solidFill>
            <a:srgbClr val="FFFFFF">
              <a:alpha val="2000"/>
            </a:srgbClr>
          </a:solidFill>
          <a:ln w="635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282700" y="5638800"/>
            <a:ext cx="4597331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6B7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282700" y="5861050"/>
            <a:ext cx="4597331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E2E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VideoAnalysis</a:t>
            </a:r>
            <a:endParaRPr lang="en-US" sz="1575" dirty="0"/>
          </a:p>
        </p:txBody>
      </p:sp>
      <p:sp>
        <p:nvSpPr>
          <p:cNvPr id="27" name="Text 25"/>
          <p:cNvSpPr/>
          <p:nvPr/>
        </p:nvSpPr>
        <p:spPr>
          <a:xfrm>
            <a:off x="5830392" y="5441950"/>
            <a:ext cx="304800" cy="946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F4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6192342" y="5441950"/>
            <a:ext cx="5903218" cy="908050"/>
          </a:xfrm>
          <a:prstGeom prst="roundRect">
            <a:avLst>
              <a:gd name="adj" fmla="val 14685"/>
            </a:avLst>
          </a:prstGeom>
          <a:solidFill>
            <a:srgbClr val="22D3EE">
              <a:alpha val="5000"/>
            </a:srgbClr>
          </a:solidFill>
          <a:ln w="6350">
            <a:solidFill>
              <a:srgbClr val="22D3EE">
                <a:alpha val="25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27291" y="5638800"/>
            <a:ext cx="5976650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7DE7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PROCESS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427291" y="5861050"/>
            <a:ext cx="597665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 · subtype · motion 抽象</a:t>
            </a:r>
            <a:endParaRPr lang="en-US" sz="1575" dirty="0"/>
          </a:p>
        </p:txBody>
      </p:sp>
      <p:sp>
        <p:nvSpPr>
          <p:cNvPr id="31" name="Text 29"/>
          <p:cNvSpPr/>
          <p:nvPr/>
        </p:nvSpPr>
        <p:spPr>
          <a:xfrm>
            <a:off x="12228909" y="5441950"/>
            <a:ext cx="304800" cy="946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F4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12590859" y="5441950"/>
            <a:ext cx="4649391" cy="908050"/>
          </a:xfrm>
          <a:prstGeom prst="roundRect">
            <a:avLst>
              <a:gd name="adj" fmla="val 14685"/>
            </a:avLst>
          </a:prstGeom>
          <a:solidFill>
            <a:srgbClr val="FFFFFF">
              <a:alpha val="2000"/>
            </a:srgbClr>
          </a:solidFill>
          <a:ln w="635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2825810" y="5638800"/>
            <a:ext cx="4597440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6B7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2825810" y="5861050"/>
            <a:ext cx="4597440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E2E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ViralStructureGraph</a:t>
            </a:r>
            <a:endParaRPr lang="en-US" sz="1575" dirty="0"/>
          </a:p>
        </p:txBody>
      </p:sp>
      <p:sp>
        <p:nvSpPr>
          <p:cNvPr id="35" name="Shape 33"/>
          <p:cNvSpPr/>
          <p:nvPr/>
        </p:nvSpPr>
        <p:spPr>
          <a:xfrm>
            <a:off x="1047750" y="6559550"/>
            <a:ext cx="16192500" cy="546100"/>
          </a:xfrm>
          <a:prstGeom prst="roundRect">
            <a:avLst>
              <a:gd name="adj" fmla="val 20930"/>
            </a:avLst>
          </a:prstGeom>
          <a:solidFill>
            <a:srgbClr val="22D3EE">
              <a:alpha val="6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1047750" y="6559550"/>
            <a:ext cx="25400" cy="5461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7" name="Text 35"/>
          <p:cNvSpPr/>
          <p:nvPr/>
        </p:nvSpPr>
        <p:spPr>
          <a:xfrm>
            <a:off x="1263650" y="6759575"/>
            <a:ext cx="816868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08" kern="0" dirty="0">
                <a:solidFill>
                  <a:srgbClr val="7DE7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GUARDRAIL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137668" y="6692900"/>
            <a:ext cx="2360712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C8D2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抽取结构,不复制源片内容</a:t>
            </a:r>
            <a:endParaRPr lang="en-US" sz="1500" dirty="0"/>
          </a:p>
        </p:txBody>
      </p:sp>
      <p:pic>
        <p:nvPicPr>
          <p:cNvPr id="3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9600" y="9601200"/>
            <a:ext cx="209550" cy="209550"/>
          </a:xfrm>
          <a:prstGeom prst="rect">
            <a:avLst/>
          </a:prstGeom>
        </p:spPr>
      </p:pic>
      <p:sp>
        <p:nvSpPr>
          <p:cNvPr id="40" name="Text 37"/>
          <p:cNvSpPr/>
          <p:nvPr/>
        </p:nvSpPr>
        <p:spPr>
          <a:xfrm>
            <a:off x="933450" y="9623425"/>
            <a:ext cx="1634490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95" kern="0" dirty="0">
                <a:solidFill>
                  <a:srgbClr val="5A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VIRAL STRUCT AI</a:t>
            </a:r>
            <a:endParaRPr lang="en-US" sz="975" dirty="0"/>
          </a:p>
        </p:txBody>
      </p:sp>
      <p:sp>
        <p:nvSpPr>
          <p:cNvPr id="41" name="Shape 38"/>
          <p:cNvSpPr/>
          <p:nvPr/>
        </p:nvSpPr>
        <p:spPr>
          <a:xfrm>
            <a:off x="15430500" y="9572625"/>
            <a:ext cx="152400" cy="28575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42" name="Shape 39"/>
          <p:cNvSpPr/>
          <p:nvPr/>
        </p:nvSpPr>
        <p:spPr>
          <a:xfrm>
            <a:off x="15640050" y="9572625"/>
            <a:ext cx="152400" cy="28575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43" name="Shape 40"/>
          <p:cNvSpPr/>
          <p:nvPr/>
        </p:nvSpPr>
        <p:spPr>
          <a:xfrm>
            <a:off x="15849600" y="9572625"/>
            <a:ext cx="152400" cy="28575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44" name="Shape 41"/>
          <p:cNvSpPr/>
          <p:nvPr/>
        </p:nvSpPr>
        <p:spPr>
          <a:xfrm>
            <a:off x="16059150" y="9572625"/>
            <a:ext cx="152400" cy="28575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45" name="Shape 42"/>
          <p:cNvSpPr/>
          <p:nvPr/>
        </p:nvSpPr>
        <p:spPr>
          <a:xfrm>
            <a:off x="16268700" y="9572625"/>
            <a:ext cx="152400" cy="28575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46" name="Shape 43"/>
          <p:cNvSpPr/>
          <p:nvPr/>
        </p:nvSpPr>
        <p:spPr>
          <a:xfrm>
            <a:off x="16478250" y="9572625"/>
            <a:ext cx="152400" cy="28575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  <a:effectLst>
            <a:outerShdw sx="100000" sy="100000" kx="0" ky="0" algn="bl" rotWithShape="0" blurRad="95250" dist="50800" dir="16200000">
              <a:srgbClr val="22D3EE">
                <a:alpha val="85000"/>
              </a:srgbClr>
            </a:outerShdw>
          </a:effectLst>
        </p:spPr>
      </p:sp>
      <p:sp>
        <p:nvSpPr>
          <p:cNvPr id="47" name="Shape 44"/>
          <p:cNvSpPr/>
          <p:nvPr/>
        </p:nvSpPr>
        <p:spPr>
          <a:xfrm>
            <a:off x="16687800" y="9572625"/>
            <a:ext cx="152400" cy="28575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48" name="Shape 45"/>
          <p:cNvSpPr/>
          <p:nvPr/>
        </p:nvSpPr>
        <p:spPr>
          <a:xfrm>
            <a:off x="16897350" y="9572625"/>
            <a:ext cx="152400" cy="28575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49" name="Shape 46"/>
          <p:cNvSpPr/>
          <p:nvPr/>
        </p:nvSpPr>
        <p:spPr>
          <a:xfrm>
            <a:off x="17106900" y="9572625"/>
            <a:ext cx="152400" cy="28575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50" name="Shape 47"/>
          <p:cNvSpPr/>
          <p:nvPr/>
        </p:nvSpPr>
        <p:spPr>
          <a:xfrm>
            <a:off x="17316450" y="9572625"/>
            <a:ext cx="152400" cy="28575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51" name="Shape 48"/>
          <p:cNvSpPr/>
          <p:nvPr/>
        </p:nvSpPr>
        <p:spPr>
          <a:xfrm>
            <a:off x="17526000" y="9572625"/>
            <a:ext cx="152400" cy="28575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52" name="Text 49"/>
          <p:cNvSpPr/>
          <p:nvPr/>
        </p:nvSpPr>
        <p:spPr>
          <a:xfrm>
            <a:off x="15430500" y="9639300"/>
            <a:ext cx="700286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17" kern="0" dirty="0">
                <a:solidFill>
                  <a:srgbClr val="5A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/ 11</a:t>
            </a:r>
            <a:endParaRPr lang="en-US" sz="97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0C1426">
                  <a:alpha val="100000"/>
                </a:srgbClr>
              </a:gs>
              <a:gs pos="52000">
                <a:srgbClr val="070A12">
                  <a:alpha val="100000"/>
                </a:srgbClr>
              </a:gs>
              <a:gs pos="100000">
                <a:srgbClr val="05070D">
                  <a:alpha val="100000"/>
                </a:srgbClr>
              </a:gs>
            </a:gsLst>
            <a:path path="circle">
              <a:fillToRect l="50000" t="0" r="5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2D3EE">
                  <a:alpha val="7000"/>
                </a:srgbClr>
              </a:gs>
              <a:gs pos="70000">
                <a:srgbClr val="22D3EE">
                  <a:alpha val="0"/>
                </a:srgbClr>
              </a:gs>
            </a:gsLst>
            <a:path path="circle">
              <a:fillToRect l="50000" t="16000" r="50000" b="84000"/>
            </a:path>
          </a:gradFill>
          <a:ln/>
        </p:spPr>
      </p:sp>
      <p:sp>
        <p:nvSpPr>
          <p:cNvPr id="4" name="Shape 2"/>
          <p:cNvSpPr/>
          <p:nvPr/>
        </p:nvSpPr>
        <p:spPr>
          <a:xfrm>
            <a:off x="1047750" y="833438"/>
            <a:ext cx="171450" cy="28575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  <a:effectLst>
            <a:outerShdw sx="100000" sy="100000" kx="0" ky="0" algn="bl" rotWithShape="0" blurRad="114300" dist="50800" dir="16200000">
              <a:srgbClr val="22D3EE">
                <a:alpha val="7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352550" y="762000"/>
            <a:ext cx="344709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357" kern="0" dirty="0">
                <a:solidFill>
                  <a:srgbClr val="7C8A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PIPELINE · PROTOCOL-FIRST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047750" y="1085850"/>
            <a:ext cx="1781175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750" b="1" spc="-37" kern="0" dirty="0">
                <a:solidFill>
                  <a:srgbClr val="F1F5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从视频证据,到可执行时间线</a:t>
            </a:r>
            <a:endParaRPr lang="en-US" sz="3750" dirty="0"/>
          </a:p>
        </p:txBody>
      </p:sp>
      <p:sp>
        <p:nvSpPr>
          <p:cNvPr id="7" name="Shape 5"/>
          <p:cNvSpPr/>
          <p:nvPr/>
        </p:nvSpPr>
        <p:spPr>
          <a:xfrm>
            <a:off x="3388122" y="1847850"/>
            <a:ext cx="2302272" cy="876300"/>
          </a:xfrm>
          <a:prstGeom prst="roundRect">
            <a:avLst>
              <a:gd name="adj" fmla="val 17391"/>
            </a:avLst>
          </a:prstGeom>
          <a:solidFill>
            <a:srgbClr val="22D3EE">
              <a:alpha val="7000"/>
            </a:srgbClr>
          </a:solidFill>
          <a:ln w="6350">
            <a:solidFill>
              <a:srgbClr val="22D3EE"/>
            </a:solidFill>
            <a:prstDash val="solid"/>
          </a:ln>
          <a:effectLst>
            <a:outerShdw sx="100000" sy="100000" kx="0" ky="0" algn="bl" rotWithShape="0" blurRad="419100" dist="50800" dir="16200000">
              <a:srgbClr val="22D3EE">
                <a:alpha val="19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30041" y="2028825"/>
            <a:ext cx="13827919" cy="1905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2151261" y="1943100"/>
            <a:ext cx="171450" cy="171450"/>
          </a:xfrm>
          <a:prstGeom prst="ellipse">
            <a:avLst/>
          </a:prstGeom>
          <a:solidFill>
            <a:srgbClr val="080B12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95250" dist="50800" dir="16200000">
              <a:srgbClr val="A78BFA">
                <a:alpha val="5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715889" y="2247900"/>
            <a:ext cx="1042095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dirty="0">
                <a:solidFill>
                  <a:srgbClr val="9AA6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VideoAnalysis</a:t>
            </a:r>
            <a:endParaRPr lang="en-US" sz="975" dirty="0"/>
          </a:p>
        </p:txBody>
      </p:sp>
      <p:sp>
        <p:nvSpPr>
          <p:cNvPr id="11" name="Shape 9"/>
          <p:cNvSpPr/>
          <p:nvPr/>
        </p:nvSpPr>
        <p:spPr>
          <a:xfrm>
            <a:off x="4453533" y="1943100"/>
            <a:ext cx="171450" cy="171450"/>
          </a:xfrm>
          <a:prstGeom prst="ellipse">
            <a:avLst/>
          </a:prstGeom>
          <a:solidFill>
            <a:srgbClr val="080B12"/>
          </a:solidFill>
          <a:ln w="19050">
            <a:solidFill>
              <a:srgbClr val="22D3EE"/>
            </a:solidFill>
            <a:prstDash val="solid"/>
          </a:ln>
          <a:effectLst>
            <a:outerShdw sx="100000" sy="100000" kx="0" ky="0" algn="bl" rotWithShape="0" blurRad="95250" dist="50800" dir="16200000">
              <a:srgbClr val="22D3EE">
                <a:alpha val="5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762831" y="2247900"/>
            <a:ext cx="1552853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dirty="0">
                <a:solidFill>
                  <a:srgbClr val="9AA6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ViralStructureGraph</a:t>
            </a:r>
            <a:endParaRPr lang="en-US" sz="975" dirty="0"/>
          </a:p>
        </p:txBody>
      </p:sp>
      <p:sp>
        <p:nvSpPr>
          <p:cNvPr id="13" name="Shape 11"/>
          <p:cNvSpPr/>
          <p:nvPr/>
        </p:nvSpPr>
        <p:spPr>
          <a:xfrm>
            <a:off x="6730186" y="1917383"/>
            <a:ext cx="222886" cy="222885"/>
          </a:xfrm>
          <a:prstGeom prst="ellipse">
            <a:avLst/>
          </a:prstGeom>
          <a:solidFill>
            <a:srgbClr val="34D399"/>
          </a:solidFill>
          <a:ln w="24765">
            <a:solidFill>
              <a:srgbClr val="34D399"/>
            </a:solidFill>
            <a:prstDash val="solid"/>
          </a:ln>
          <a:effectLst>
            <a:outerShdw sx="100000" sy="100000" kx="0" ky="0" algn="bl" rotWithShape="0" blurRad="190500" dist="50800" dir="16200000">
              <a:srgbClr val="34D399">
                <a:alpha val="10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394847" y="2247900"/>
            <a:ext cx="893465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dirty="0">
                <a:solidFill>
                  <a:srgbClr val="9AA6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AssetCard[]</a:t>
            </a:r>
            <a:endParaRPr lang="en-US" sz="975" dirty="0"/>
          </a:p>
        </p:txBody>
      </p:sp>
      <p:sp>
        <p:nvSpPr>
          <p:cNvPr id="15" name="Shape 13"/>
          <p:cNvSpPr/>
          <p:nvPr/>
        </p:nvSpPr>
        <p:spPr>
          <a:xfrm>
            <a:off x="9058176" y="1943100"/>
            <a:ext cx="171450" cy="171450"/>
          </a:xfrm>
          <a:prstGeom prst="ellipse">
            <a:avLst/>
          </a:prstGeom>
          <a:solidFill>
            <a:srgbClr val="080B12"/>
          </a:solidFill>
          <a:ln w="19050">
            <a:solidFill>
              <a:srgbClr val="FBBF24"/>
            </a:solidFill>
            <a:prstDash val="solid"/>
          </a:ln>
          <a:effectLst>
            <a:outerShdw sx="100000" sy="100000" kx="0" ky="0" algn="bl" rotWithShape="0" blurRad="95250" dist="50800" dir="16200000">
              <a:srgbClr val="FBBF24">
                <a:alpha val="5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697218" y="2247900"/>
            <a:ext cx="893465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dirty="0">
                <a:solidFill>
                  <a:srgbClr val="9AA6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SlotMatch[]</a:t>
            </a:r>
            <a:endParaRPr lang="en-US" sz="975" dirty="0"/>
          </a:p>
        </p:txBody>
      </p:sp>
      <p:sp>
        <p:nvSpPr>
          <p:cNvPr id="17" name="Shape 15"/>
          <p:cNvSpPr/>
          <p:nvPr/>
        </p:nvSpPr>
        <p:spPr>
          <a:xfrm>
            <a:off x="11360547" y="1943100"/>
            <a:ext cx="171450" cy="171450"/>
          </a:xfrm>
          <a:prstGeom prst="ellipse">
            <a:avLst/>
          </a:prstGeom>
          <a:solidFill>
            <a:srgbClr val="080B12"/>
          </a:solidFill>
          <a:ln w="19050">
            <a:solidFill>
              <a:srgbClr val="FF4D6D"/>
            </a:solidFill>
            <a:prstDash val="solid"/>
          </a:ln>
          <a:effectLst>
            <a:outerShdw sx="100000" sy="100000" kx="0" ky="0" algn="bl" rotWithShape="0" blurRad="95250" dist="50800" dir="16200000">
              <a:srgbClr val="FF4D6D">
                <a:alpha val="5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1073805" y="2247900"/>
            <a:ext cx="744934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dirty="0">
                <a:solidFill>
                  <a:srgbClr val="9AA6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Diagnosis</a:t>
            </a:r>
            <a:endParaRPr lang="en-US" sz="975" dirty="0"/>
          </a:p>
        </p:txBody>
      </p:sp>
      <p:sp>
        <p:nvSpPr>
          <p:cNvPr id="19" name="Shape 17"/>
          <p:cNvSpPr/>
          <p:nvPr/>
        </p:nvSpPr>
        <p:spPr>
          <a:xfrm>
            <a:off x="13662820" y="1943100"/>
            <a:ext cx="171450" cy="171450"/>
          </a:xfrm>
          <a:prstGeom prst="ellipse">
            <a:avLst/>
          </a:prstGeom>
          <a:solidFill>
            <a:srgbClr val="080B12"/>
          </a:solidFill>
          <a:ln w="19050">
            <a:solidFill>
              <a:srgbClr val="22D3EE"/>
            </a:solidFill>
            <a:prstDash val="solid"/>
          </a:ln>
          <a:effectLst>
            <a:outerShdw sx="100000" sy="100000" kx="0" ky="0" algn="bl" rotWithShape="0" blurRad="95250" dist="50800" dir="16200000">
              <a:srgbClr val="22D3EE">
                <a:alpha val="5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2931300" y="2247900"/>
            <a:ext cx="1634490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dirty="0">
                <a:solidFill>
                  <a:srgbClr val="9AA6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OrchestratedTimeline</a:t>
            </a:r>
            <a:endParaRPr lang="en-US" sz="975" dirty="0"/>
          </a:p>
        </p:txBody>
      </p:sp>
      <p:sp>
        <p:nvSpPr>
          <p:cNvPr id="21" name="Shape 19"/>
          <p:cNvSpPr/>
          <p:nvPr/>
        </p:nvSpPr>
        <p:spPr>
          <a:xfrm>
            <a:off x="15965191" y="1943100"/>
            <a:ext cx="171450" cy="171450"/>
          </a:xfrm>
          <a:prstGeom prst="ellipse">
            <a:avLst/>
          </a:prstGeom>
          <a:solidFill>
            <a:srgbClr val="080B12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95250" dist="50800" dir="16200000">
              <a:srgbClr val="34D399">
                <a:alpha val="5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5418495" y="2247900"/>
            <a:ext cx="1264940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dirty="0">
                <a:solidFill>
                  <a:srgbClr val="9AA6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AuthoredTimeline</a:t>
            </a:r>
            <a:endParaRPr lang="en-US" sz="975" dirty="0"/>
          </a:p>
        </p:txBody>
      </p:sp>
      <p:sp>
        <p:nvSpPr>
          <p:cNvPr id="23" name="Text 21"/>
          <p:cNvSpPr/>
          <p:nvPr/>
        </p:nvSpPr>
        <p:spPr>
          <a:xfrm>
            <a:off x="1047750" y="5041900"/>
            <a:ext cx="1781175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203" kern="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 3 · ASSET UNDERSTANDING</a:t>
            </a:r>
            <a:endParaRPr lang="en-US" sz="1125" dirty="0"/>
          </a:p>
        </p:txBody>
      </p:sp>
      <p:sp>
        <p:nvSpPr>
          <p:cNvPr id="24" name="Shape 22"/>
          <p:cNvSpPr/>
          <p:nvPr/>
        </p:nvSpPr>
        <p:spPr>
          <a:xfrm>
            <a:off x="1047750" y="5441950"/>
            <a:ext cx="4649292" cy="908050"/>
          </a:xfrm>
          <a:prstGeom prst="roundRect">
            <a:avLst>
              <a:gd name="adj" fmla="val 14685"/>
            </a:avLst>
          </a:prstGeom>
          <a:solidFill>
            <a:srgbClr val="FFFFFF">
              <a:alpha val="2000"/>
            </a:srgbClr>
          </a:solidFill>
          <a:ln w="635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282700" y="5638800"/>
            <a:ext cx="4597331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6B7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282700" y="5861050"/>
            <a:ext cx="4597331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E2E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图片 / 视频 / 长视频</a:t>
            </a:r>
            <a:endParaRPr lang="en-US" sz="1575" dirty="0"/>
          </a:p>
        </p:txBody>
      </p:sp>
      <p:sp>
        <p:nvSpPr>
          <p:cNvPr id="27" name="Text 25"/>
          <p:cNvSpPr/>
          <p:nvPr/>
        </p:nvSpPr>
        <p:spPr>
          <a:xfrm>
            <a:off x="5830392" y="5441950"/>
            <a:ext cx="304800" cy="946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F4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6192342" y="5441950"/>
            <a:ext cx="5903218" cy="908050"/>
          </a:xfrm>
          <a:prstGeom prst="roundRect">
            <a:avLst>
              <a:gd name="adj" fmla="val 14685"/>
            </a:avLst>
          </a:prstGeom>
          <a:solidFill>
            <a:srgbClr val="34D399">
              <a:alpha val="5000"/>
            </a:srgbClr>
          </a:solidFill>
          <a:ln w="6350">
            <a:solidFill>
              <a:srgbClr val="34D399">
                <a:alpha val="25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27291" y="5638800"/>
            <a:ext cx="5976650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PROCESS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427291" y="5861050"/>
            <a:ext cx="597665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keyframes + 切片 + quality</a:t>
            </a:r>
            <a:endParaRPr lang="en-US" sz="1575" dirty="0"/>
          </a:p>
        </p:txBody>
      </p:sp>
      <p:sp>
        <p:nvSpPr>
          <p:cNvPr id="31" name="Text 29"/>
          <p:cNvSpPr/>
          <p:nvPr/>
        </p:nvSpPr>
        <p:spPr>
          <a:xfrm>
            <a:off x="12228909" y="5441950"/>
            <a:ext cx="304800" cy="946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F4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12590859" y="5441950"/>
            <a:ext cx="4649391" cy="908050"/>
          </a:xfrm>
          <a:prstGeom prst="roundRect">
            <a:avLst>
              <a:gd name="adj" fmla="val 14685"/>
            </a:avLst>
          </a:prstGeom>
          <a:solidFill>
            <a:srgbClr val="FFFFFF">
              <a:alpha val="2000"/>
            </a:srgbClr>
          </a:solidFill>
          <a:ln w="635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2825810" y="5638800"/>
            <a:ext cx="4597440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6B7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2825810" y="5861050"/>
            <a:ext cx="4597440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E2E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AssetCard[]</a:t>
            </a:r>
            <a:endParaRPr lang="en-US" sz="1575" dirty="0"/>
          </a:p>
        </p:txBody>
      </p:sp>
      <p:sp>
        <p:nvSpPr>
          <p:cNvPr id="35" name="Shape 33"/>
          <p:cNvSpPr/>
          <p:nvPr/>
        </p:nvSpPr>
        <p:spPr>
          <a:xfrm>
            <a:off x="1047750" y="6559550"/>
            <a:ext cx="16192500" cy="546100"/>
          </a:xfrm>
          <a:prstGeom prst="roundRect">
            <a:avLst>
              <a:gd name="adj" fmla="val 20930"/>
            </a:avLst>
          </a:prstGeom>
          <a:solidFill>
            <a:srgbClr val="34D399">
              <a:alpha val="6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1047750" y="6559550"/>
            <a:ext cx="25400" cy="54610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37" name="Text 35"/>
          <p:cNvSpPr/>
          <p:nvPr/>
        </p:nvSpPr>
        <p:spPr>
          <a:xfrm>
            <a:off x="1263650" y="6759575"/>
            <a:ext cx="816868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08" kern="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GUARDRAIL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137668" y="6692900"/>
            <a:ext cx="3352800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C8D2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避免一个长视频被误复用到所有槽位</a:t>
            </a:r>
            <a:endParaRPr lang="en-US" sz="1500" dirty="0"/>
          </a:p>
        </p:txBody>
      </p:sp>
      <p:pic>
        <p:nvPicPr>
          <p:cNvPr id="3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9600" y="9601200"/>
            <a:ext cx="209550" cy="209550"/>
          </a:xfrm>
          <a:prstGeom prst="rect">
            <a:avLst/>
          </a:prstGeom>
        </p:spPr>
      </p:pic>
      <p:sp>
        <p:nvSpPr>
          <p:cNvPr id="40" name="Text 37"/>
          <p:cNvSpPr/>
          <p:nvPr/>
        </p:nvSpPr>
        <p:spPr>
          <a:xfrm>
            <a:off x="933450" y="9623425"/>
            <a:ext cx="1634490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95" kern="0" dirty="0">
                <a:solidFill>
                  <a:srgbClr val="5A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VIRAL STRUCT AI</a:t>
            </a:r>
            <a:endParaRPr lang="en-US" sz="975" dirty="0"/>
          </a:p>
        </p:txBody>
      </p:sp>
      <p:sp>
        <p:nvSpPr>
          <p:cNvPr id="41" name="Shape 38"/>
          <p:cNvSpPr/>
          <p:nvPr/>
        </p:nvSpPr>
        <p:spPr>
          <a:xfrm>
            <a:off x="15430500" y="9572625"/>
            <a:ext cx="152400" cy="28575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42" name="Shape 39"/>
          <p:cNvSpPr/>
          <p:nvPr/>
        </p:nvSpPr>
        <p:spPr>
          <a:xfrm>
            <a:off x="15640050" y="9572625"/>
            <a:ext cx="152400" cy="28575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43" name="Shape 40"/>
          <p:cNvSpPr/>
          <p:nvPr/>
        </p:nvSpPr>
        <p:spPr>
          <a:xfrm>
            <a:off x="15849600" y="9572625"/>
            <a:ext cx="152400" cy="28575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44" name="Shape 41"/>
          <p:cNvSpPr/>
          <p:nvPr/>
        </p:nvSpPr>
        <p:spPr>
          <a:xfrm>
            <a:off x="16059150" y="9572625"/>
            <a:ext cx="152400" cy="28575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45" name="Shape 42"/>
          <p:cNvSpPr/>
          <p:nvPr/>
        </p:nvSpPr>
        <p:spPr>
          <a:xfrm>
            <a:off x="16268700" y="9572625"/>
            <a:ext cx="152400" cy="28575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46" name="Shape 43"/>
          <p:cNvSpPr/>
          <p:nvPr/>
        </p:nvSpPr>
        <p:spPr>
          <a:xfrm>
            <a:off x="16478250" y="9572625"/>
            <a:ext cx="152400" cy="28575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  <a:effectLst>
            <a:outerShdw sx="100000" sy="100000" kx="0" ky="0" algn="bl" rotWithShape="0" blurRad="95250" dist="50800" dir="16200000">
              <a:srgbClr val="22D3EE">
                <a:alpha val="85000"/>
              </a:srgbClr>
            </a:outerShdw>
          </a:effectLst>
        </p:spPr>
      </p:sp>
      <p:sp>
        <p:nvSpPr>
          <p:cNvPr id="47" name="Shape 44"/>
          <p:cNvSpPr/>
          <p:nvPr/>
        </p:nvSpPr>
        <p:spPr>
          <a:xfrm>
            <a:off x="16687800" y="9572625"/>
            <a:ext cx="152400" cy="28575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48" name="Shape 45"/>
          <p:cNvSpPr/>
          <p:nvPr/>
        </p:nvSpPr>
        <p:spPr>
          <a:xfrm>
            <a:off x="16897350" y="9572625"/>
            <a:ext cx="152400" cy="28575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49" name="Shape 46"/>
          <p:cNvSpPr/>
          <p:nvPr/>
        </p:nvSpPr>
        <p:spPr>
          <a:xfrm>
            <a:off x="17106900" y="9572625"/>
            <a:ext cx="152400" cy="28575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50" name="Shape 47"/>
          <p:cNvSpPr/>
          <p:nvPr/>
        </p:nvSpPr>
        <p:spPr>
          <a:xfrm>
            <a:off x="17316450" y="9572625"/>
            <a:ext cx="152400" cy="28575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51" name="Shape 48"/>
          <p:cNvSpPr/>
          <p:nvPr/>
        </p:nvSpPr>
        <p:spPr>
          <a:xfrm>
            <a:off x="17526000" y="9572625"/>
            <a:ext cx="152400" cy="28575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52" name="Text 49"/>
          <p:cNvSpPr/>
          <p:nvPr/>
        </p:nvSpPr>
        <p:spPr>
          <a:xfrm>
            <a:off x="15430500" y="9639300"/>
            <a:ext cx="700286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17" kern="0" dirty="0">
                <a:solidFill>
                  <a:srgbClr val="5A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/ 11</a:t>
            </a:r>
            <a:endParaRPr lang="en-US" sz="97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0C1426">
                  <a:alpha val="100000"/>
                </a:srgbClr>
              </a:gs>
              <a:gs pos="52000">
                <a:srgbClr val="070A12">
                  <a:alpha val="100000"/>
                </a:srgbClr>
              </a:gs>
              <a:gs pos="100000">
                <a:srgbClr val="05070D">
                  <a:alpha val="100000"/>
                </a:srgbClr>
              </a:gs>
            </a:gsLst>
            <a:path path="circle">
              <a:fillToRect l="50000" t="0" r="5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2D3EE">
                  <a:alpha val="7000"/>
                </a:srgbClr>
              </a:gs>
              <a:gs pos="70000">
                <a:srgbClr val="22D3EE">
                  <a:alpha val="0"/>
                </a:srgbClr>
              </a:gs>
            </a:gsLst>
            <a:path path="circle">
              <a:fillToRect l="50000" t="16000" r="50000" b="84000"/>
            </a:path>
          </a:gradFill>
          <a:ln/>
        </p:spPr>
      </p:sp>
      <p:sp>
        <p:nvSpPr>
          <p:cNvPr id="4" name="Shape 2"/>
          <p:cNvSpPr/>
          <p:nvPr/>
        </p:nvSpPr>
        <p:spPr>
          <a:xfrm>
            <a:off x="1047750" y="833438"/>
            <a:ext cx="171450" cy="28575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  <a:effectLst>
            <a:outerShdw sx="100000" sy="100000" kx="0" ky="0" algn="bl" rotWithShape="0" blurRad="114300" dist="50800" dir="16200000">
              <a:srgbClr val="22D3EE">
                <a:alpha val="7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352550" y="762000"/>
            <a:ext cx="344709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357" kern="0" dirty="0">
                <a:solidFill>
                  <a:srgbClr val="7C8A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PIPELINE · PROTOCOL-FIRST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047750" y="1085850"/>
            <a:ext cx="1781175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750" b="1" spc="-37" kern="0" dirty="0">
                <a:solidFill>
                  <a:srgbClr val="F1F5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从视频证据,到可执行时间线</a:t>
            </a:r>
            <a:endParaRPr lang="en-US" sz="3750" dirty="0"/>
          </a:p>
        </p:txBody>
      </p:sp>
      <p:sp>
        <p:nvSpPr>
          <p:cNvPr id="7" name="Shape 5"/>
          <p:cNvSpPr/>
          <p:nvPr/>
        </p:nvSpPr>
        <p:spPr>
          <a:xfrm>
            <a:off x="5690493" y="1847850"/>
            <a:ext cx="2302272" cy="876300"/>
          </a:xfrm>
          <a:prstGeom prst="roundRect">
            <a:avLst>
              <a:gd name="adj" fmla="val 17391"/>
            </a:avLst>
          </a:prstGeom>
          <a:solidFill>
            <a:srgbClr val="34D399">
              <a:alpha val="7000"/>
            </a:srgbClr>
          </a:solidFill>
          <a:ln w="6350">
            <a:solidFill>
              <a:srgbClr val="34D399"/>
            </a:solidFill>
            <a:prstDash val="solid"/>
          </a:ln>
          <a:effectLst>
            <a:outerShdw sx="100000" sy="100000" kx="0" ky="0" algn="bl" rotWithShape="0" blurRad="419100" dist="50800" dir="16200000">
              <a:srgbClr val="34D399">
                <a:alpha val="19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30041" y="2028825"/>
            <a:ext cx="13827919" cy="1905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2151261" y="1943100"/>
            <a:ext cx="171450" cy="171450"/>
          </a:xfrm>
          <a:prstGeom prst="ellipse">
            <a:avLst/>
          </a:prstGeom>
          <a:solidFill>
            <a:srgbClr val="080B12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95250" dist="50800" dir="16200000">
              <a:srgbClr val="A78BFA">
                <a:alpha val="5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715889" y="2247900"/>
            <a:ext cx="1042095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dirty="0">
                <a:solidFill>
                  <a:srgbClr val="9AA6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VideoAnalysis</a:t>
            </a:r>
            <a:endParaRPr lang="en-US" sz="975" dirty="0"/>
          </a:p>
        </p:txBody>
      </p:sp>
      <p:sp>
        <p:nvSpPr>
          <p:cNvPr id="11" name="Shape 9"/>
          <p:cNvSpPr/>
          <p:nvPr/>
        </p:nvSpPr>
        <p:spPr>
          <a:xfrm>
            <a:off x="4453533" y="1943100"/>
            <a:ext cx="171450" cy="171450"/>
          </a:xfrm>
          <a:prstGeom prst="ellipse">
            <a:avLst/>
          </a:prstGeom>
          <a:solidFill>
            <a:srgbClr val="080B12"/>
          </a:solidFill>
          <a:ln w="19050">
            <a:solidFill>
              <a:srgbClr val="22D3EE"/>
            </a:solidFill>
            <a:prstDash val="solid"/>
          </a:ln>
          <a:effectLst>
            <a:outerShdw sx="100000" sy="100000" kx="0" ky="0" algn="bl" rotWithShape="0" blurRad="95250" dist="50800" dir="16200000">
              <a:srgbClr val="22D3EE">
                <a:alpha val="5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762831" y="2247900"/>
            <a:ext cx="1552853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dirty="0">
                <a:solidFill>
                  <a:srgbClr val="9AA6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ViralStructureGraph</a:t>
            </a:r>
            <a:endParaRPr lang="en-US" sz="975" dirty="0"/>
          </a:p>
        </p:txBody>
      </p:sp>
      <p:sp>
        <p:nvSpPr>
          <p:cNvPr id="13" name="Shape 11"/>
          <p:cNvSpPr/>
          <p:nvPr/>
        </p:nvSpPr>
        <p:spPr>
          <a:xfrm>
            <a:off x="6755904" y="1943100"/>
            <a:ext cx="171450" cy="171450"/>
          </a:xfrm>
          <a:prstGeom prst="ellipse">
            <a:avLst/>
          </a:prstGeom>
          <a:solidFill>
            <a:srgbClr val="080B12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95250" dist="50800" dir="16200000">
              <a:srgbClr val="34D399">
                <a:alpha val="5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394847" y="2247900"/>
            <a:ext cx="893465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dirty="0">
                <a:solidFill>
                  <a:srgbClr val="9AA6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AssetCard[]</a:t>
            </a:r>
            <a:endParaRPr lang="en-US" sz="975" dirty="0"/>
          </a:p>
        </p:txBody>
      </p:sp>
      <p:sp>
        <p:nvSpPr>
          <p:cNvPr id="15" name="Shape 13"/>
          <p:cNvSpPr/>
          <p:nvPr/>
        </p:nvSpPr>
        <p:spPr>
          <a:xfrm>
            <a:off x="9032458" y="1917383"/>
            <a:ext cx="222886" cy="222885"/>
          </a:xfrm>
          <a:prstGeom prst="ellipse">
            <a:avLst/>
          </a:prstGeom>
          <a:solidFill>
            <a:srgbClr val="FBBF24"/>
          </a:solidFill>
          <a:ln w="24765">
            <a:solidFill>
              <a:srgbClr val="FBBF24"/>
            </a:solidFill>
            <a:prstDash val="solid"/>
          </a:ln>
          <a:effectLst>
            <a:outerShdw sx="100000" sy="100000" kx="0" ky="0" algn="bl" rotWithShape="0" blurRad="190500" dist="50800" dir="16200000">
              <a:srgbClr val="FBBF24">
                <a:alpha val="10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697218" y="2247900"/>
            <a:ext cx="893465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dirty="0">
                <a:solidFill>
                  <a:srgbClr val="9AA6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SlotMatch[]</a:t>
            </a:r>
            <a:endParaRPr lang="en-US" sz="975" dirty="0"/>
          </a:p>
        </p:txBody>
      </p:sp>
      <p:sp>
        <p:nvSpPr>
          <p:cNvPr id="17" name="Shape 15"/>
          <p:cNvSpPr/>
          <p:nvPr/>
        </p:nvSpPr>
        <p:spPr>
          <a:xfrm>
            <a:off x="11360547" y="1943100"/>
            <a:ext cx="171450" cy="171450"/>
          </a:xfrm>
          <a:prstGeom prst="ellipse">
            <a:avLst/>
          </a:prstGeom>
          <a:solidFill>
            <a:srgbClr val="080B12"/>
          </a:solidFill>
          <a:ln w="19050">
            <a:solidFill>
              <a:srgbClr val="FF4D6D"/>
            </a:solidFill>
            <a:prstDash val="solid"/>
          </a:ln>
          <a:effectLst>
            <a:outerShdw sx="100000" sy="100000" kx="0" ky="0" algn="bl" rotWithShape="0" blurRad="95250" dist="50800" dir="16200000">
              <a:srgbClr val="FF4D6D">
                <a:alpha val="5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1073805" y="2247900"/>
            <a:ext cx="744934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dirty="0">
                <a:solidFill>
                  <a:srgbClr val="9AA6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Diagnosis</a:t>
            </a:r>
            <a:endParaRPr lang="en-US" sz="975" dirty="0"/>
          </a:p>
        </p:txBody>
      </p:sp>
      <p:sp>
        <p:nvSpPr>
          <p:cNvPr id="19" name="Shape 17"/>
          <p:cNvSpPr/>
          <p:nvPr/>
        </p:nvSpPr>
        <p:spPr>
          <a:xfrm>
            <a:off x="13662820" y="1943100"/>
            <a:ext cx="171450" cy="171450"/>
          </a:xfrm>
          <a:prstGeom prst="ellipse">
            <a:avLst/>
          </a:prstGeom>
          <a:solidFill>
            <a:srgbClr val="080B12"/>
          </a:solidFill>
          <a:ln w="19050">
            <a:solidFill>
              <a:srgbClr val="22D3EE"/>
            </a:solidFill>
            <a:prstDash val="solid"/>
          </a:ln>
          <a:effectLst>
            <a:outerShdw sx="100000" sy="100000" kx="0" ky="0" algn="bl" rotWithShape="0" blurRad="95250" dist="50800" dir="16200000">
              <a:srgbClr val="22D3EE">
                <a:alpha val="5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2931300" y="2247900"/>
            <a:ext cx="1634490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dirty="0">
                <a:solidFill>
                  <a:srgbClr val="9AA6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OrchestratedTimeline</a:t>
            </a:r>
            <a:endParaRPr lang="en-US" sz="975" dirty="0"/>
          </a:p>
        </p:txBody>
      </p:sp>
      <p:sp>
        <p:nvSpPr>
          <p:cNvPr id="21" name="Shape 19"/>
          <p:cNvSpPr/>
          <p:nvPr/>
        </p:nvSpPr>
        <p:spPr>
          <a:xfrm>
            <a:off x="15965191" y="1943100"/>
            <a:ext cx="171450" cy="171450"/>
          </a:xfrm>
          <a:prstGeom prst="ellipse">
            <a:avLst/>
          </a:prstGeom>
          <a:solidFill>
            <a:srgbClr val="080B12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95250" dist="50800" dir="16200000">
              <a:srgbClr val="34D399">
                <a:alpha val="5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5418495" y="2247900"/>
            <a:ext cx="1264940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dirty="0">
                <a:solidFill>
                  <a:srgbClr val="9AA6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AuthoredTimeline</a:t>
            </a:r>
            <a:endParaRPr lang="en-US" sz="975" dirty="0"/>
          </a:p>
        </p:txBody>
      </p:sp>
      <p:sp>
        <p:nvSpPr>
          <p:cNvPr id="23" name="Text 21"/>
          <p:cNvSpPr/>
          <p:nvPr/>
        </p:nvSpPr>
        <p:spPr>
          <a:xfrm>
            <a:off x="1047750" y="5041900"/>
            <a:ext cx="1781175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203" kern="0" dirty="0">
                <a:solidFill>
                  <a:srgbClr val="FFD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 4 · SLOT MATCHER</a:t>
            </a:r>
            <a:endParaRPr lang="en-US" sz="1125" dirty="0"/>
          </a:p>
        </p:txBody>
      </p:sp>
      <p:sp>
        <p:nvSpPr>
          <p:cNvPr id="24" name="Shape 22"/>
          <p:cNvSpPr/>
          <p:nvPr/>
        </p:nvSpPr>
        <p:spPr>
          <a:xfrm>
            <a:off x="1047750" y="5441950"/>
            <a:ext cx="4649292" cy="908050"/>
          </a:xfrm>
          <a:prstGeom prst="roundRect">
            <a:avLst>
              <a:gd name="adj" fmla="val 14685"/>
            </a:avLst>
          </a:prstGeom>
          <a:solidFill>
            <a:srgbClr val="FFFFFF">
              <a:alpha val="2000"/>
            </a:srgbClr>
          </a:solidFill>
          <a:ln w="635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282700" y="5638800"/>
            <a:ext cx="4597331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6B7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282700" y="5861050"/>
            <a:ext cx="4597331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E2E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ShotSlot × AssetCard</a:t>
            </a:r>
            <a:endParaRPr lang="en-US" sz="1575" dirty="0"/>
          </a:p>
        </p:txBody>
      </p:sp>
      <p:sp>
        <p:nvSpPr>
          <p:cNvPr id="27" name="Text 25"/>
          <p:cNvSpPr/>
          <p:nvPr/>
        </p:nvSpPr>
        <p:spPr>
          <a:xfrm>
            <a:off x="5830392" y="5441950"/>
            <a:ext cx="304800" cy="946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F4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6192342" y="5441950"/>
            <a:ext cx="5903218" cy="908050"/>
          </a:xfrm>
          <a:prstGeom prst="roundRect">
            <a:avLst>
              <a:gd name="adj" fmla="val 14685"/>
            </a:avLst>
          </a:prstGeom>
          <a:solidFill>
            <a:srgbClr val="FBBF24">
              <a:alpha val="5000"/>
            </a:srgbClr>
          </a:solidFill>
          <a:ln w="6350">
            <a:solidFill>
              <a:srgbClr val="FBBF24">
                <a:alpha val="25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27291" y="5638800"/>
            <a:ext cx="5976650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FFD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PROCESS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427291" y="5861050"/>
            <a:ext cx="597665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功能核匹配 · 4 态判定</a:t>
            </a:r>
            <a:endParaRPr lang="en-US" sz="1575" dirty="0"/>
          </a:p>
        </p:txBody>
      </p:sp>
      <p:sp>
        <p:nvSpPr>
          <p:cNvPr id="31" name="Text 29"/>
          <p:cNvSpPr/>
          <p:nvPr/>
        </p:nvSpPr>
        <p:spPr>
          <a:xfrm>
            <a:off x="12228909" y="5441950"/>
            <a:ext cx="304800" cy="946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F4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12590859" y="5441950"/>
            <a:ext cx="4649391" cy="908050"/>
          </a:xfrm>
          <a:prstGeom prst="roundRect">
            <a:avLst>
              <a:gd name="adj" fmla="val 14685"/>
            </a:avLst>
          </a:prstGeom>
          <a:solidFill>
            <a:srgbClr val="FFFFFF">
              <a:alpha val="2000"/>
            </a:srgbClr>
          </a:solidFill>
          <a:ln w="635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2825810" y="5638800"/>
            <a:ext cx="4597440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6B7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2825810" y="5861050"/>
            <a:ext cx="4597440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E2E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SlotMatch[]</a:t>
            </a:r>
            <a:endParaRPr lang="en-US" sz="1575" dirty="0"/>
          </a:p>
        </p:txBody>
      </p:sp>
      <p:sp>
        <p:nvSpPr>
          <p:cNvPr id="35" name="Shape 33"/>
          <p:cNvSpPr/>
          <p:nvPr/>
        </p:nvSpPr>
        <p:spPr>
          <a:xfrm>
            <a:off x="1047750" y="6559550"/>
            <a:ext cx="16192500" cy="546100"/>
          </a:xfrm>
          <a:prstGeom prst="roundRect">
            <a:avLst>
              <a:gd name="adj" fmla="val 20930"/>
            </a:avLst>
          </a:prstGeom>
          <a:solidFill>
            <a:srgbClr val="FBBF24">
              <a:alpha val="6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1047750" y="6559550"/>
            <a:ext cx="25400" cy="54610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37" name="Text 35"/>
          <p:cNvSpPr/>
          <p:nvPr/>
        </p:nvSpPr>
        <p:spPr>
          <a:xfrm>
            <a:off x="1263650" y="6759575"/>
            <a:ext cx="816868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08" kern="0" dirty="0">
                <a:solidFill>
                  <a:srgbClr val="FFD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GUARDRAIL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137668" y="6692900"/>
            <a:ext cx="3198912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C8D2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判断功能支撑,不做关键词相关匹配</a:t>
            </a:r>
            <a:endParaRPr lang="en-US" sz="1500" dirty="0"/>
          </a:p>
        </p:txBody>
      </p:sp>
      <p:pic>
        <p:nvPicPr>
          <p:cNvPr id="3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9600" y="9601200"/>
            <a:ext cx="209550" cy="209550"/>
          </a:xfrm>
          <a:prstGeom prst="rect">
            <a:avLst/>
          </a:prstGeom>
        </p:spPr>
      </p:pic>
      <p:sp>
        <p:nvSpPr>
          <p:cNvPr id="40" name="Text 37"/>
          <p:cNvSpPr/>
          <p:nvPr/>
        </p:nvSpPr>
        <p:spPr>
          <a:xfrm>
            <a:off x="933450" y="9623425"/>
            <a:ext cx="1634490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95" kern="0" dirty="0">
                <a:solidFill>
                  <a:srgbClr val="5A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VIRAL STRUCT AI</a:t>
            </a:r>
            <a:endParaRPr lang="en-US" sz="975" dirty="0"/>
          </a:p>
        </p:txBody>
      </p:sp>
      <p:sp>
        <p:nvSpPr>
          <p:cNvPr id="41" name="Shape 38"/>
          <p:cNvSpPr/>
          <p:nvPr/>
        </p:nvSpPr>
        <p:spPr>
          <a:xfrm>
            <a:off x="15430500" y="9572625"/>
            <a:ext cx="152400" cy="28575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42" name="Shape 39"/>
          <p:cNvSpPr/>
          <p:nvPr/>
        </p:nvSpPr>
        <p:spPr>
          <a:xfrm>
            <a:off x="15640050" y="9572625"/>
            <a:ext cx="152400" cy="28575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43" name="Shape 40"/>
          <p:cNvSpPr/>
          <p:nvPr/>
        </p:nvSpPr>
        <p:spPr>
          <a:xfrm>
            <a:off x="15849600" y="9572625"/>
            <a:ext cx="152400" cy="28575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44" name="Shape 41"/>
          <p:cNvSpPr/>
          <p:nvPr/>
        </p:nvSpPr>
        <p:spPr>
          <a:xfrm>
            <a:off x="16059150" y="9572625"/>
            <a:ext cx="152400" cy="28575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45" name="Shape 42"/>
          <p:cNvSpPr/>
          <p:nvPr/>
        </p:nvSpPr>
        <p:spPr>
          <a:xfrm>
            <a:off x="16268700" y="9572625"/>
            <a:ext cx="152400" cy="28575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46" name="Shape 43"/>
          <p:cNvSpPr/>
          <p:nvPr/>
        </p:nvSpPr>
        <p:spPr>
          <a:xfrm>
            <a:off x="16478250" y="9572625"/>
            <a:ext cx="152400" cy="28575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  <a:effectLst>
            <a:outerShdw sx="100000" sy="100000" kx="0" ky="0" algn="bl" rotWithShape="0" blurRad="95250" dist="50800" dir="16200000">
              <a:srgbClr val="22D3EE">
                <a:alpha val="85000"/>
              </a:srgbClr>
            </a:outerShdw>
          </a:effectLst>
        </p:spPr>
      </p:sp>
      <p:sp>
        <p:nvSpPr>
          <p:cNvPr id="47" name="Shape 44"/>
          <p:cNvSpPr/>
          <p:nvPr/>
        </p:nvSpPr>
        <p:spPr>
          <a:xfrm>
            <a:off x="16687800" y="9572625"/>
            <a:ext cx="152400" cy="28575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48" name="Shape 45"/>
          <p:cNvSpPr/>
          <p:nvPr/>
        </p:nvSpPr>
        <p:spPr>
          <a:xfrm>
            <a:off x="16897350" y="9572625"/>
            <a:ext cx="152400" cy="28575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49" name="Shape 46"/>
          <p:cNvSpPr/>
          <p:nvPr/>
        </p:nvSpPr>
        <p:spPr>
          <a:xfrm>
            <a:off x="17106900" y="9572625"/>
            <a:ext cx="152400" cy="28575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50" name="Shape 47"/>
          <p:cNvSpPr/>
          <p:nvPr/>
        </p:nvSpPr>
        <p:spPr>
          <a:xfrm>
            <a:off x="17316450" y="9572625"/>
            <a:ext cx="152400" cy="28575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51" name="Shape 48"/>
          <p:cNvSpPr/>
          <p:nvPr/>
        </p:nvSpPr>
        <p:spPr>
          <a:xfrm>
            <a:off x="17526000" y="9572625"/>
            <a:ext cx="152400" cy="28575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52" name="Text 49"/>
          <p:cNvSpPr/>
          <p:nvPr/>
        </p:nvSpPr>
        <p:spPr>
          <a:xfrm>
            <a:off x="15430500" y="9639300"/>
            <a:ext cx="700286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17" kern="0" dirty="0">
                <a:solidFill>
                  <a:srgbClr val="5A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/ 11</a:t>
            </a:r>
            <a:endParaRPr lang="en-US" sz="97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0C1426">
                  <a:alpha val="100000"/>
                </a:srgbClr>
              </a:gs>
              <a:gs pos="52000">
                <a:srgbClr val="070A12">
                  <a:alpha val="100000"/>
                </a:srgbClr>
              </a:gs>
              <a:gs pos="100000">
                <a:srgbClr val="05070D">
                  <a:alpha val="100000"/>
                </a:srgbClr>
              </a:gs>
            </a:gsLst>
            <a:path path="circle">
              <a:fillToRect l="50000" t="0" r="5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2D3EE">
                  <a:alpha val="7000"/>
                </a:srgbClr>
              </a:gs>
              <a:gs pos="70000">
                <a:srgbClr val="22D3EE">
                  <a:alpha val="0"/>
                </a:srgbClr>
              </a:gs>
            </a:gsLst>
            <a:path path="circle">
              <a:fillToRect l="50000" t="16000" r="50000" b="84000"/>
            </a:path>
          </a:gradFill>
          <a:ln/>
        </p:spPr>
      </p:sp>
      <p:sp>
        <p:nvSpPr>
          <p:cNvPr id="4" name="Shape 2"/>
          <p:cNvSpPr/>
          <p:nvPr/>
        </p:nvSpPr>
        <p:spPr>
          <a:xfrm>
            <a:off x="1047750" y="833438"/>
            <a:ext cx="171450" cy="28575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  <a:effectLst>
            <a:outerShdw sx="100000" sy="100000" kx="0" ky="0" algn="bl" rotWithShape="0" blurRad="114300" dist="50800" dir="16200000">
              <a:srgbClr val="22D3EE">
                <a:alpha val="7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352550" y="762000"/>
            <a:ext cx="344709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357" kern="0" dirty="0">
                <a:solidFill>
                  <a:srgbClr val="7C8A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PIPELINE · PROTOCOL-FIRST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047750" y="1085850"/>
            <a:ext cx="1781175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750" b="1" spc="-37" kern="0" dirty="0">
                <a:solidFill>
                  <a:srgbClr val="F1F5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从视频证据,到可执行时间线</a:t>
            </a:r>
            <a:endParaRPr lang="en-US" sz="3750" dirty="0"/>
          </a:p>
        </p:txBody>
      </p:sp>
      <p:sp>
        <p:nvSpPr>
          <p:cNvPr id="7" name="Shape 5"/>
          <p:cNvSpPr/>
          <p:nvPr/>
        </p:nvSpPr>
        <p:spPr>
          <a:xfrm>
            <a:off x="7992765" y="1847850"/>
            <a:ext cx="2302272" cy="876300"/>
          </a:xfrm>
          <a:prstGeom prst="roundRect">
            <a:avLst>
              <a:gd name="adj" fmla="val 17391"/>
            </a:avLst>
          </a:prstGeom>
          <a:solidFill>
            <a:srgbClr val="FBBF24">
              <a:alpha val="7000"/>
            </a:srgbClr>
          </a:solidFill>
          <a:ln w="6350">
            <a:solidFill>
              <a:srgbClr val="FBBF24"/>
            </a:solidFill>
            <a:prstDash val="solid"/>
          </a:ln>
          <a:effectLst>
            <a:outerShdw sx="100000" sy="100000" kx="0" ky="0" algn="bl" rotWithShape="0" blurRad="419100" dist="50800" dir="16200000">
              <a:srgbClr val="FBBF24">
                <a:alpha val="19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30041" y="2028825"/>
            <a:ext cx="13827919" cy="1905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2151261" y="1943100"/>
            <a:ext cx="171450" cy="171450"/>
          </a:xfrm>
          <a:prstGeom prst="ellipse">
            <a:avLst/>
          </a:prstGeom>
          <a:solidFill>
            <a:srgbClr val="080B12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95250" dist="50800" dir="16200000">
              <a:srgbClr val="A78BFA">
                <a:alpha val="5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715889" y="2247900"/>
            <a:ext cx="1042095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dirty="0">
                <a:solidFill>
                  <a:srgbClr val="9AA6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VideoAnalysis</a:t>
            </a:r>
            <a:endParaRPr lang="en-US" sz="975" dirty="0"/>
          </a:p>
        </p:txBody>
      </p:sp>
      <p:sp>
        <p:nvSpPr>
          <p:cNvPr id="11" name="Shape 9"/>
          <p:cNvSpPr/>
          <p:nvPr/>
        </p:nvSpPr>
        <p:spPr>
          <a:xfrm>
            <a:off x="4453533" y="1943100"/>
            <a:ext cx="171450" cy="171450"/>
          </a:xfrm>
          <a:prstGeom prst="ellipse">
            <a:avLst/>
          </a:prstGeom>
          <a:solidFill>
            <a:srgbClr val="080B12"/>
          </a:solidFill>
          <a:ln w="19050">
            <a:solidFill>
              <a:srgbClr val="22D3EE"/>
            </a:solidFill>
            <a:prstDash val="solid"/>
          </a:ln>
          <a:effectLst>
            <a:outerShdw sx="100000" sy="100000" kx="0" ky="0" algn="bl" rotWithShape="0" blurRad="95250" dist="50800" dir="16200000">
              <a:srgbClr val="22D3EE">
                <a:alpha val="5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762831" y="2247900"/>
            <a:ext cx="1552853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dirty="0">
                <a:solidFill>
                  <a:srgbClr val="9AA6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ViralStructureGraph</a:t>
            </a:r>
            <a:endParaRPr lang="en-US" sz="975" dirty="0"/>
          </a:p>
        </p:txBody>
      </p:sp>
      <p:sp>
        <p:nvSpPr>
          <p:cNvPr id="13" name="Shape 11"/>
          <p:cNvSpPr/>
          <p:nvPr/>
        </p:nvSpPr>
        <p:spPr>
          <a:xfrm>
            <a:off x="6755904" y="1943100"/>
            <a:ext cx="171450" cy="171450"/>
          </a:xfrm>
          <a:prstGeom prst="ellipse">
            <a:avLst/>
          </a:prstGeom>
          <a:solidFill>
            <a:srgbClr val="080B12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95250" dist="50800" dir="16200000">
              <a:srgbClr val="34D399">
                <a:alpha val="5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394847" y="2247900"/>
            <a:ext cx="893465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dirty="0">
                <a:solidFill>
                  <a:srgbClr val="9AA6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AssetCard[]</a:t>
            </a:r>
            <a:endParaRPr lang="en-US" sz="975" dirty="0"/>
          </a:p>
        </p:txBody>
      </p:sp>
      <p:sp>
        <p:nvSpPr>
          <p:cNvPr id="15" name="Shape 13"/>
          <p:cNvSpPr/>
          <p:nvPr/>
        </p:nvSpPr>
        <p:spPr>
          <a:xfrm>
            <a:off x="9058176" y="1943100"/>
            <a:ext cx="171450" cy="171450"/>
          </a:xfrm>
          <a:prstGeom prst="ellipse">
            <a:avLst/>
          </a:prstGeom>
          <a:solidFill>
            <a:srgbClr val="080B12"/>
          </a:solidFill>
          <a:ln w="19050">
            <a:solidFill>
              <a:srgbClr val="FBBF24"/>
            </a:solidFill>
            <a:prstDash val="solid"/>
          </a:ln>
          <a:effectLst>
            <a:outerShdw sx="100000" sy="100000" kx="0" ky="0" algn="bl" rotWithShape="0" blurRad="95250" dist="50800" dir="16200000">
              <a:srgbClr val="FBBF24">
                <a:alpha val="5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697218" y="2247900"/>
            <a:ext cx="893465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dirty="0">
                <a:solidFill>
                  <a:srgbClr val="9AA6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SlotMatch[]</a:t>
            </a:r>
            <a:endParaRPr lang="en-US" sz="975" dirty="0"/>
          </a:p>
        </p:txBody>
      </p:sp>
      <p:sp>
        <p:nvSpPr>
          <p:cNvPr id="17" name="Shape 15"/>
          <p:cNvSpPr/>
          <p:nvPr/>
        </p:nvSpPr>
        <p:spPr>
          <a:xfrm>
            <a:off x="11334829" y="1917383"/>
            <a:ext cx="222886" cy="222885"/>
          </a:xfrm>
          <a:prstGeom prst="ellipse">
            <a:avLst/>
          </a:prstGeom>
          <a:solidFill>
            <a:srgbClr val="FF4D6D"/>
          </a:solidFill>
          <a:ln w="24765">
            <a:solidFill>
              <a:srgbClr val="FF4D6D"/>
            </a:solidFill>
            <a:prstDash val="solid"/>
          </a:ln>
          <a:effectLst>
            <a:outerShdw sx="100000" sy="100000" kx="0" ky="0" algn="bl" rotWithShape="0" blurRad="190500" dist="50800" dir="16200000">
              <a:srgbClr val="FF4D6D">
                <a:alpha val="10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1073805" y="2247900"/>
            <a:ext cx="744934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dirty="0">
                <a:solidFill>
                  <a:srgbClr val="9AA6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Diagnosis</a:t>
            </a:r>
            <a:endParaRPr lang="en-US" sz="975" dirty="0"/>
          </a:p>
        </p:txBody>
      </p:sp>
      <p:sp>
        <p:nvSpPr>
          <p:cNvPr id="19" name="Shape 17"/>
          <p:cNvSpPr/>
          <p:nvPr/>
        </p:nvSpPr>
        <p:spPr>
          <a:xfrm>
            <a:off x="13662820" y="1943100"/>
            <a:ext cx="171450" cy="171450"/>
          </a:xfrm>
          <a:prstGeom prst="ellipse">
            <a:avLst/>
          </a:prstGeom>
          <a:solidFill>
            <a:srgbClr val="080B12"/>
          </a:solidFill>
          <a:ln w="19050">
            <a:solidFill>
              <a:srgbClr val="22D3EE"/>
            </a:solidFill>
            <a:prstDash val="solid"/>
          </a:ln>
          <a:effectLst>
            <a:outerShdw sx="100000" sy="100000" kx="0" ky="0" algn="bl" rotWithShape="0" blurRad="95250" dist="50800" dir="16200000">
              <a:srgbClr val="22D3EE">
                <a:alpha val="5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2931300" y="2247900"/>
            <a:ext cx="1634490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dirty="0">
                <a:solidFill>
                  <a:srgbClr val="9AA6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OrchestratedTimeline</a:t>
            </a:r>
            <a:endParaRPr lang="en-US" sz="975" dirty="0"/>
          </a:p>
        </p:txBody>
      </p:sp>
      <p:sp>
        <p:nvSpPr>
          <p:cNvPr id="21" name="Shape 19"/>
          <p:cNvSpPr/>
          <p:nvPr/>
        </p:nvSpPr>
        <p:spPr>
          <a:xfrm>
            <a:off x="15965191" y="1943100"/>
            <a:ext cx="171450" cy="171450"/>
          </a:xfrm>
          <a:prstGeom prst="ellipse">
            <a:avLst/>
          </a:prstGeom>
          <a:solidFill>
            <a:srgbClr val="080B12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95250" dist="50800" dir="16200000">
              <a:srgbClr val="34D399">
                <a:alpha val="5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5418495" y="2247900"/>
            <a:ext cx="1264940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dirty="0">
                <a:solidFill>
                  <a:srgbClr val="9AA6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AuthoredTimeline</a:t>
            </a:r>
            <a:endParaRPr lang="en-US" sz="975" dirty="0"/>
          </a:p>
        </p:txBody>
      </p:sp>
      <p:sp>
        <p:nvSpPr>
          <p:cNvPr id="23" name="Text 21"/>
          <p:cNvSpPr/>
          <p:nvPr/>
        </p:nvSpPr>
        <p:spPr>
          <a:xfrm>
            <a:off x="1047750" y="5041900"/>
            <a:ext cx="1781175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203" kern="0" dirty="0">
                <a:solidFill>
                  <a:srgbClr val="FF80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 5 · GAP DIAGNOSIS &amp; REPAIR</a:t>
            </a:r>
            <a:endParaRPr lang="en-US" sz="1125" dirty="0"/>
          </a:p>
        </p:txBody>
      </p:sp>
      <p:sp>
        <p:nvSpPr>
          <p:cNvPr id="24" name="Shape 22"/>
          <p:cNvSpPr/>
          <p:nvPr/>
        </p:nvSpPr>
        <p:spPr>
          <a:xfrm>
            <a:off x="1047750" y="5441950"/>
            <a:ext cx="4649292" cy="908050"/>
          </a:xfrm>
          <a:prstGeom prst="roundRect">
            <a:avLst>
              <a:gd name="adj" fmla="val 14685"/>
            </a:avLst>
          </a:prstGeom>
          <a:solidFill>
            <a:srgbClr val="FFFFFF">
              <a:alpha val="2000"/>
            </a:srgbClr>
          </a:solidFill>
          <a:ln w="635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282700" y="5638800"/>
            <a:ext cx="4597331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6B7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282700" y="5861050"/>
            <a:ext cx="4597331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E2E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SlotMatch[]</a:t>
            </a:r>
            <a:endParaRPr lang="en-US" sz="1575" dirty="0"/>
          </a:p>
        </p:txBody>
      </p:sp>
      <p:sp>
        <p:nvSpPr>
          <p:cNvPr id="27" name="Text 25"/>
          <p:cNvSpPr/>
          <p:nvPr/>
        </p:nvSpPr>
        <p:spPr>
          <a:xfrm>
            <a:off x="5830392" y="5441950"/>
            <a:ext cx="304800" cy="946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F4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6192342" y="5441950"/>
            <a:ext cx="5903218" cy="908050"/>
          </a:xfrm>
          <a:prstGeom prst="roundRect">
            <a:avLst>
              <a:gd name="adj" fmla="val 14685"/>
            </a:avLst>
          </a:prstGeom>
          <a:solidFill>
            <a:srgbClr val="FF4D6D">
              <a:alpha val="5000"/>
            </a:srgbClr>
          </a:solidFill>
          <a:ln w="6350">
            <a:solidFill>
              <a:srgbClr val="FF4D6D">
                <a:alpha val="25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27291" y="5638800"/>
            <a:ext cx="5976650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FF80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PROCESS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427291" y="5861050"/>
            <a:ext cx="597665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缺口诊断 → 补全简报</a:t>
            </a:r>
            <a:endParaRPr lang="en-US" sz="1575" dirty="0"/>
          </a:p>
        </p:txBody>
      </p:sp>
      <p:sp>
        <p:nvSpPr>
          <p:cNvPr id="31" name="Text 29"/>
          <p:cNvSpPr/>
          <p:nvPr/>
        </p:nvSpPr>
        <p:spPr>
          <a:xfrm>
            <a:off x="12228909" y="5441950"/>
            <a:ext cx="304800" cy="946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F4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12590859" y="5441950"/>
            <a:ext cx="4649391" cy="908050"/>
          </a:xfrm>
          <a:prstGeom prst="roundRect">
            <a:avLst>
              <a:gd name="adj" fmla="val 14685"/>
            </a:avLst>
          </a:prstGeom>
          <a:solidFill>
            <a:srgbClr val="FFFFFF">
              <a:alpha val="2000"/>
            </a:srgbClr>
          </a:solidFill>
          <a:ln w="635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2825810" y="5638800"/>
            <a:ext cx="4597440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6B7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2825810" y="5861050"/>
            <a:ext cx="4597440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E2E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MaterialGap[] + brief</a:t>
            </a:r>
            <a:endParaRPr lang="en-US" sz="1575" dirty="0"/>
          </a:p>
        </p:txBody>
      </p:sp>
      <p:sp>
        <p:nvSpPr>
          <p:cNvPr id="35" name="Shape 33"/>
          <p:cNvSpPr/>
          <p:nvPr/>
        </p:nvSpPr>
        <p:spPr>
          <a:xfrm>
            <a:off x="1047750" y="6559550"/>
            <a:ext cx="16192500" cy="546100"/>
          </a:xfrm>
          <a:prstGeom prst="roundRect">
            <a:avLst>
              <a:gd name="adj" fmla="val 20930"/>
            </a:avLst>
          </a:prstGeom>
          <a:solidFill>
            <a:srgbClr val="FF4D6D">
              <a:alpha val="6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1047750" y="6559550"/>
            <a:ext cx="25400" cy="546100"/>
          </a:xfrm>
          <a:prstGeom prst="rect">
            <a:avLst/>
          </a:prstGeom>
          <a:solidFill>
            <a:srgbClr val="FF4D6D"/>
          </a:solidFill>
          <a:ln/>
        </p:spPr>
      </p:sp>
      <p:sp>
        <p:nvSpPr>
          <p:cNvPr id="37" name="Text 35"/>
          <p:cNvSpPr/>
          <p:nvPr/>
        </p:nvSpPr>
        <p:spPr>
          <a:xfrm>
            <a:off x="1263650" y="6759575"/>
            <a:ext cx="816868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08" kern="0" dirty="0">
                <a:solidFill>
                  <a:srgbClr val="FF80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GUARDRAIL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137668" y="6692900"/>
            <a:ext cx="4808518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C8D2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AIGC 是缺口补全,不是默认替代真实素材(plan-only)</a:t>
            </a:r>
            <a:endParaRPr lang="en-US" sz="1500" dirty="0"/>
          </a:p>
        </p:txBody>
      </p:sp>
      <p:pic>
        <p:nvPicPr>
          <p:cNvPr id="3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9600" y="9601200"/>
            <a:ext cx="209550" cy="209550"/>
          </a:xfrm>
          <a:prstGeom prst="rect">
            <a:avLst/>
          </a:prstGeom>
        </p:spPr>
      </p:pic>
      <p:sp>
        <p:nvSpPr>
          <p:cNvPr id="40" name="Text 37"/>
          <p:cNvSpPr/>
          <p:nvPr/>
        </p:nvSpPr>
        <p:spPr>
          <a:xfrm>
            <a:off x="933450" y="9623425"/>
            <a:ext cx="1634490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95" kern="0" dirty="0">
                <a:solidFill>
                  <a:srgbClr val="5A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VIRAL STRUCT AI</a:t>
            </a:r>
            <a:endParaRPr lang="en-US" sz="975" dirty="0"/>
          </a:p>
        </p:txBody>
      </p:sp>
      <p:sp>
        <p:nvSpPr>
          <p:cNvPr id="41" name="Shape 38"/>
          <p:cNvSpPr/>
          <p:nvPr/>
        </p:nvSpPr>
        <p:spPr>
          <a:xfrm>
            <a:off x="15430500" y="9572625"/>
            <a:ext cx="152400" cy="28575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42" name="Shape 39"/>
          <p:cNvSpPr/>
          <p:nvPr/>
        </p:nvSpPr>
        <p:spPr>
          <a:xfrm>
            <a:off x="15640050" y="9572625"/>
            <a:ext cx="152400" cy="28575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43" name="Shape 40"/>
          <p:cNvSpPr/>
          <p:nvPr/>
        </p:nvSpPr>
        <p:spPr>
          <a:xfrm>
            <a:off x="15849600" y="9572625"/>
            <a:ext cx="152400" cy="28575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44" name="Shape 41"/>
          <p:cNvSpPr/>
          <p:nvPr/>
        </p:nvSpPr>
        <p:spPr>
          <a:xfrm>
            <a:off x="16059150" y="9572625"/>
            <a:ext cx="152400" cy="28575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45" name="Shape 42"/>
          <p:cNvSpPr/>
          <p:nvPr/>
        </p:nvSpPr>
        <p:spPr>
          <a:xfrm>
            <a:off x="16268700" y="9572625"/>
            <a:ext cx="152400" cy="28575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46" name="Shape 43"/>
          <p:cNvSpPr/>
          <p:nvPr/>
        </p:nvSpPr>
        <p:spPr>
          <a:xfrm>
            <a:off x="16478250" y="9572625"/>
            <a:ext cx="152400" cy="28575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  <a:effectLst>
            <a:outerShdw sx="100000" sy="100000" kx="0" ky="0" algn="bl" rotWithShape="0" blurRad="95250" dist="50800" dir="16200000">
              <a:srgbClr val="22D3EE">
                <a:alpha val="85000"/>
              </a:srgbClr>
            </a:outerShdw>
          </a:effectLst>
        </p:spPr>
      </p:sp>
      <p:sp>
        <p:nvSpPr>
          <p:cNvPr id="47" name="Shape 44"/>
          <p:cNvSpPr/>
          <p:nvPr/>
        </p:nvSpPr>
        <p:spPr>
          <a:xfrm>
            <a:off x="16687800" y="9572625"/>
            <a:ext cx="152400" cy="28575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48" name="Shape 45"/>
          <p:cNvSpPr/>
          <p:nvPr/>
        </p:nvSpPr>
        <p:spPr>
          <a:xfrm>
            <a:off x="16897350" y="9572625"/>
            <a:ext cx="152400" cy="28575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49" name="Shape 46"/>
          <p:cNvSpPr/>
          <p:nvPr/>
        </p:nvSpPr>
        <p:spPr>
          <a:xfrm>
            <a:off x="17106900" y="9572625"/>
            <a:ext cx="152400" cy="28575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50" name="Shape 47"/>
          <p:cNvSpPr/>
          <p:nvPr/>
        </p:nvSpPr>
        <p:spPr>
          <a:xfrm>
            <a:off x="17316450" y="9572625"/>
            <a:ext cx="152400" cy="28575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51" name="Shape 48"/>
          <p:cNvSpPr/>
          <p:nvPr/>
        </p:nvSpPr>
        <p:spPr>
          <a:xfrm>
            <a:off x="17526000" y="9572625"/>
            <a:ext cx="152400" cy="28575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52" name="Text 49"/>
          <p:cNvSpPr/>
          <p:nvPr/>
        </p:nvSpPr>
        <p:spPr>
          <a:xfrm>
            <a:off x="15430500" y="9639300"/>
            <a:ext cx="700286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17" kern="0" dirty="0">
                <a:solidFill>
                  <a:srgbClr val="5A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/ 11</a:t>
            </a:r>
            <a:endParaRPr lang="en-US" sz="97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0C1426">
                  <a:alpha val="100000"/>
                </a:srgbClr>
              </a:gs>
              <a:gs pos="52000">
                <a:srgbClr val="070A12">
                  <a:alpha val="100000"/>
                </a:srgbClr>
              </a:gs>
              <a:gs pos="100000">
                <a:srgbClr val="05070D">
                  <a:alpha val="100000"/>
                </a:srgbClr>
              </a:gs>
            </a:gsLst>
            <a:path path="circle">
              <a:fillToRect l="50000" t="0" r="5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2D3EE">
                  <a:alpha val="7000"/>
                </a:srgbClr>
              </a:gs>
              <a:gs pos="70000">
                <a:srgbClr val="22D3EE">
                  <a:alpha val="0"/>
                </a:srgbClr>
              </a:gs>
            </a:gsLst>
            <a:path path="circle">
              <a:fillToRect l="50000" t="16000" r="50000" b="84000"/>
            </a:path>
          </a:gradFill>
          <a:ln/>
        </p:spPr>
      </p:sp>
      <p:sp>
        <p:nvSpPr>
          <p:cNvPr id="4" name="Shape 2"/>
          <p:cNvSpPr/>
          <p:nvPr/>
        </p:nvSpPr>
        <p:spPr>
          <a:xfrm>
            <a:off x="1047750" y="833438"/>
            <a:ext cx="171450" cy="28575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  <a:effectLst>
            <a:outerShdw sx="100000" sy="100000" kx="0" ky="0" algn="bl" rotWithShape="0" blurRad="114300" dist="50800" dir="16200000">
              <a:srgbClr val="22D3EE">
                <a:alpha val="7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352550" y="762000"/>
            <a:ext cx="344709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357" kern="0" dirty="0">
                <a:solidFill>
                  <a:srgbClr val="7C8A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PIPELINE · PROTOCOL-FIRST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047750" y="1085850"/>
            <a:ext cx="1781175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750" b="1" spc="-37" kern="0" dirty="0">
                <a:solidFill>
                  <a:srgbClr val="F1F5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从视频证据,到可执行时间线</a:t>
            </a:r>
            <a:endParaRPr lang="en-US" sz="3750" dirty="0"/>
          </a:p>
        </p:txBody>
      </p:sp>
      <p:sp>
        <p:nvSpPr>
          <p:cNvPr id="7" name="Shape 5"/>
          <p:cNvSpPr/>
          <p:nvPr/>
        </p:nvSpPr>
        <p:spPr>
          <a:xfrm>
            <a:off x="10295137" y="1847850"/>
            <a:ext cx="2302272" cy="876300"/>
          </a:xfrm>
          <a:prstGeom prst="roundRect">
            <a:avLst>
              <a:gd name="adj" fmla="val 17391"/>
            </a:avLst>
          </a:prstGeom>
          <a:solidFill>
            <a:srgbClr val="FF4D6D">
              <a:alpha val="7000"/>
            </a:srgbClr>
          </a:solidFill>
          <a:ln w="6350">
            <a:solidFill>
              <a:srgbClr val="FF4D6D"/>
            </a:solidFill>
            <a:prstDash val="solid"/>
          </a:ln>
          <a:effectLst>
            <a:outerShdw sx="100000" sy="100000" kx="0" ky="0" algn="bl" rotWithShape="0" blurRad="419100" dist="50800" dir="16200000">
              <a:srgbClr val="FF4D6D">
                <a:alpha val="19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30041" y="2028825"/>
            <a:ext cx="13827919" cy="1905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2151261" y="1943100"/>
            <a:ext cx="171450" cy="171450"/>
          </a:xfrm>
          <a:prstGeom prst="ellipse">
            <a:avLst/>
          </a:prstGeom>
          <a:solidFill>
            <a:srgbClr val="080B12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95250" dist="50800" dir="16200000">
              <a:srgbClr val="A78BFA">
                <a:alpha val="5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715889" y="2247900"/>
            <a:ext cx="1042095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dirty="0">
                <a:solidFill>
                  <a:srgbClr val="9AA6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VideoAnalysis</a:t>
            </a:r>
            <a:endParaRPr lang="en-US" sz="975" dirty="0"/>
          </a:p>
        </p:txBody>
      </p:sp>
      <p:sp>
        <p:nvSpPr>
          <p:cNvPr id="11" name="Shape 9"/>
          <p:cNvSpPr/>
          <p:nvPr/>
        </p:nvSpPr>
        <p:spPr>
          <a:xfrm>
            <a:off x="4453533" y="1943100"/>
            <a:ext cx="171450" cy="171450"/>
          </a:xfrm>
          <a:prstGeom prst="ellipse">
            <a:avLst/>
          </a:prstGeom>
          <a:solidFill>
            <a:srgbClr val="080B12"/>
          </a:solidFill>
          <a:ln w="19050">
            <a:solidFill>
              <a:srgbClr val="22D3EE"/>
            </a:solidFill>
            <a:prstDash val="solid"/>
          </a:ln>
          <a:effectLst>
            <a:outerShdw sx="100000" sy="100000" kx="0" ky="0" algn="bl" rotWithShape="0" blurRad="95250" dist="50800" dir="16200000">
              <a:srgbClr val="22D3EE">
                <a:alpha val="5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762831" y="2247900"/>
            <a:ext cx="1552853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dirty="0">
                <a:solidFill>
                  <a:srgbClr val="9AA6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ViralStructureGraph</a:t>
            </a:r>
            <a:endParaRPr lang="en-US" sz="975" dirty="0"/>
          </a:p>
        </p:txBody>
      </p:sp>
      <p:sp>
        <p:nvSpPr>
          <p:cNvPr id="13" name="Shape 11"/>
          <p:cNvSpPr/>
          <p:nvPr/>
        </p:nvSpPr>
        <p:spPr>
          <a:xfrm>
            <a:off x="6755904" y="1943100"/>
            <a:ext cx="171450" cy="171450"/>
          </a:xfrm>
          <a:prstGeom prst="ellipse">
            <a:avLst/>
          </a:prstGeom>
          <a:solidFill>
            <a:srgbClr val="080B12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95250" dist="50800" dir="16200000">
              <a:srgbClr val="34D399">
                <a:alpha val="5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394847" y="2247900"/>
            <a:ext cx="893465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dirty="0">
                <a:solidFill>
                  <a:srgbClr val="9AA6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AssetCard[]</a:t>
            </a:r>
            <a:endParaRPr lang="en-US" sz="975" dirty="0"/>
          </a:p>
        </p:txBody>
      </p:sp>
      <p:sp>
        <p:nvSpPr>
          <p:cNvPr id="15" name="Shape 13"/>
          <p:cNvSpPr/>
          <p:nvPr/>
        </p:nvSpPr>
        <p:spPr>
          <a:xfrm>
            <a:off x="9058176" y="1943100"/>
            <a:ext cx="171450" cy="171450"/>
          </a:xfrm>
          <a:prstGeom prst="ellipse">
            <a:avLst/>
          </a:prstGeom>
          <a:solidFill>
            <a:srgbClr val="080B12"/>
          </a:solidFill>
          <a:ln w="19050">
            <a:solidFill>
              <a:srgbClr val="FBBF24"/>
            </a:solidFill>
            <a:prstDash val="solid"/>
          </a:ln>
          <a:effectLst>
            <a:outerShdw sx="100000" sy="100000" kx="0" ky="0" algn="bl" rotWithShape="0" blurRad="95250" dist="50800" dir="16200000">
              <a:srgbClr val="FBBF24">
                <a:alpha val="5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697218" y="2247900"/>
            <a:ext cx="893465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dirty="0">
                <a:solidFill>
                  <a:srgbClr val="9AA6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SlotMatch[]</a:t>
            </a:r>
            <a:endParaRPr lang="en-US" sz="975" dirty="0"/>
          </a:p>
        </p:txBody>
      </p:sp>
      <p:sp>
        <p:nvSpPr>
          <p:cNvPr id="17" name="Shape 15"/>
          <p:cNvSpPr/>
          <p:nvPr/>
        </p:nvSpPr>
        <p:spPr>
          <a:xfrm>
            <a:off x="11360547" y="1943100"/>
            <a:ext cx="171450" cy="171450"/>
          </a:xfrm>
          <a:prstGeom prst="ellipse">
            <a:avLst/>
          </a:prstGeom>
          <a:solidFill>
            <a:srgbClr val="080B12"/>
          </a:solidFill>
          <a:ln w="19050">
            <a:solidFill>
              <a:srgbClr val="FF4D6D"/>
            </a:solidFill>
            <a:prstDash val="solid"/>
          </a:ln>
          <a:effectLst>
            <a:outerShdw sx="100000" sy="100000" kx="0" ky="0" algn="bl" rotWithShape="0" blurRad="95250" dist="50800" dir="16200000">
              <a:srgbClr val="FF4D6D">
                <a:alpha val="5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1073805" y="2247900"/>
            <a:ext cx="744934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dirty="0">
                <a:solidFill>
                  <a:srgbClr val="9AA6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Diagnosis</a:t>
            </a:r>
            <a:endParaRPr lang="en-US" sz="975" dirty="0"/>
          </a:p>
        </p:txBody>
      </p:sp>
      <p:sp>
        <p:nvSpPr>
          <p:cNvPr id="19" name="Shape 17"/>
          <p:cNvSpPr/>
          <p:nvPr/>
        </p:nvSpPr>
        <p:spPr>
          <a:xfrm>
            <a:off x="13637101" y="1917383"/>
            <a:ext cx="222886" cy="222885"/>
          </a:xfrm>
          <a:prstGeom prst="ellipse">
            <a:avLst/>
          </a:prstGeom>
          <a:solidFill>
            <a:srgbClr val="22D3EE"/>
          </a:solidFill>
          <a:ln w="24765">
            <a:solidFill>
              <a:srgbClr val="22D3EE"/>
            </a:solidFill>
            <a:prstDash val="solid"/>
          </a:ln>
          <a:effectLst>
            <a:outerShdw sx="100000" sy="100000" kx="0" ky="0" algn="bl" rotWithShape="0" blurRad="190500" dist="50800" dir="16200000">
              <a:srgbClr val="22D3EE">
                <a:alpha val="10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2931300" y="2247900"/>
            <a:ext cx="1634490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dirty="0">
                <a:solidFill>
                  <a:srgbClr val="9AA6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OrchestratedTimeline</a:t>
            </a:r>
            <a:endParaRPr lang="en-US" sz="975" dirty="0"/>
          </a:p>
        </p:txBody>
      </p:sp>
      <p:sp>
        <p:nvSpPr>
          <p:cNvPr id="21" name="Shape 19"/>
          <p:cNvSpPr/>
          <p:nvPr/>
        </p:nvSpPr>
        <p:spPr>
          <a:xfrm>
            <a:off x="15965191" y="1943100"/>
            <a:ext cx="171450" cy="171450"/>
          </a:xfrm>
          <a:prstGeom prst="ellipse">
            <a:avLst/>
          </a:prstGeom>
          <a:solidFill>
            <a:srgbClr val="080B12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95250" dist="50800" dir="16200000">
              <a:srgbClr val="34D399">
                <a:alpha val="5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5418495" y="2247900"/>
            <a:ext cx="1264940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dirty="0">
                <a:solidFill>
                  <a:srgbClr val="9AA6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AuthoredTimeline</a:t>
            </a:r>
            <a:endParaRPr lang="en-US" sz="975" dirty="0"/>
          </a:p>
        </p:txBody>
      </p:sp>
      <p:sp>
        <p:nvSpPr>
          <p:cNvPr id="23" name="Text 21"/>
          <p:cNvSpPr/>
          <p:nvPr/>
        </p:nvSpPr>
        <p:spPr>
          <a:xfrm>
            <a:off x="1047750" y="5057775"/>
            <a:ext cx="1781175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203" kern="0" dirty="0">
                <a:solidFill>
                  <a:srgbClr val="7DE7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 6 · DIRECTOR</a:t>
            </a:r>
            <a:endParaRPr lang="en-US" sz="1125" dirty="0"/>
          </a:p>
        </p:txBody>
      </p:sp>
      <p:sp>
        <p:nvSpPr>
          <p:cNvPr id="24" name="Shape 22"/>
          <p:cNvSpPr/>
          <p:nvPr/>
        </p:nvSpPr>
        <p:spPr>
          <a:xfrm>
            <a:off x="1047750" y="5457825"/>
            <a:ext cx="4932065" cy="876300"/>
          </a:xfrm>
          <a:prstGeom prst="roundRect">
            <a:avLst>
              <a:gd name="adj" fmla="val 15217"/>
            </a:avLst>
          </a:prstGeom>
          <a:solidFill>
            <a:srgbClr val="FFFFFF">
              <a:alpha val="2000"/>
            </a:srgbClr>
          </a:solidFill>
          <a:ln w="635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282700" y="5654675"/>
            <a:ext cx="4908381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6B7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282700" y="5876925"/>
            <a:ext cx="4908381" cy="298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E2E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 · Intelligence · Assets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113165" y="5457825"/>
            <a:ext cx="30480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F4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6475115" y="5457825"/>
            <a:ext cx="5743377" cy="876300"/>
          </a:xfrm>
          <a:prstGeom prst="roundRect">
            <a:avLst>
              <a:gd name="adj" fmla="val 15217"/>
            </a:avLst>
          </a:prstGeom>
          <a:solidFill>
            <a:srgbClr val="22D3EE">
              <a:alpha val="5000"/>
            </a:srgbClr>
          </a:solidFill>
          <a:ln w="6350">
            <a:solidFill>
              <a:srgbClr val="22D3EE">
                <a:alpha val="25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10065" y="5654675"/>
            <a:ext cx="5800825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7DE7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PROCESS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710065" y="5876925"/>
            <a:ext cx="5800825" cy="298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· compress · replace · repair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2351841" y="5457825"/>
            <a:ext cx="30480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F4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12713791" y="5457825"/>
            <a:ext cx="4526459" cy="876300"/>
          </a:xfrm>
          <a:prstGeom prst="roundRect">
            <a:avLst>
              <a:gd name="adj" fmla="val 15217"/>
            </a:avLst>
          </a:prstGeom>
          <a:solidFill>
            <a:srgbClr val="FFFFFF">
              <a:alpha val="2000"/>
            </a:srgbClr>
          </a:solidFill>
          <a:ln w="635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2948742" y="5654675"/>
            <a:ext cx="4462215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6B7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2948742" y="5876925"/>
            <a:ext cx="4462215" cy="298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E2E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OrchestratedTimeline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1047750" y="6543675"/>
            <a:ext cx="16192500" cy="546100"/>
          </a:xfrm>
          <a:prstGeom prst="roundRect">
            <a:avLst>
              <a:gd name="adj" fmla="val 20930"/>
            </a:avLst>
          </a:prstGeom>
          <a:solidFill>
            <a:srgbClr val="22D3EE">
              <a:alpha val="6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1047750" y="6543675"/>
            <a:ext cx="25400" cy="5461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7" name="Text 35"/>
          <p:cNvSpPr/>
          <p:nvPr/>
        </p:nvSpPr>
        <p:spPr>
          <a:xfrm>
            <a:off x="1263650" y="6743700"/>
            <a:ext cx="816868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08" kern="0" dirty="0">
                <a:solidFill>
                  <a:srgbClr val="7DE7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GUARDRAIL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137668" y="6677025"/>
            <a:ext cx="5319078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C8D2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迁移结构方法,不复制源片元素(创作导演,不是文案生成器)</a:t>
            </a:r>
            <a:endParaRPr lang="en-US" sz="1500" dirty="0"/>
          </a:p>
        </p:txBody>
      </p:sp>
      <p:pic>
        <p:nvPicPr>
          <p:cNvPr id="3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9600" y="9601200"/>
            <a:ext cx="209550" cy="209550"/>
          </a:xfrm>
          <a:prstGeom prst="rect">
            <a:avLst/>
          </a:prstGeom>
        </p:spPr>
      </p:pic>
      <p:sp>
        <p:nvSpPr>
          <p:cNvPr id="40" name="Text 37"/>
          <p:cNvSpPr/>
          <p:nvPr/>
        </p:nvSpPr>
        <p:spPr>
          <a:xfrm>
            <a:off x="933450" y="9623425"/>
            <a:ext cx="1634490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95" kern="0" dirty="0">
                <a:solidFill>
                  <a:srgbClr val="5A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VIRAL STRUCT AI</a:t>
            </a:r>
            <a:endParaRPr lang="en-US" sz="975" dirty="0"/>
          </a:p>
        </p:txBody>
      </p:sp>
      <p:sp>
        <p:nvSpPr>
          <p:cNvPr id="41" name="Shape 38"/>
          <p:cNvSpPr/>
          <p:nvPr/>
        </p:nvSpPr>
        <p:spPr>
          <a:xfrm>
            <a:off x="15430500" y="9572625"/>
            <a:ext cx="152400" cy="28575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42" name="Shape 39"/>
          <p:cNvSpPr/>
          <p:nvPr/>
        </p:nvSpPr>
        <p:spPr>
          <a:xfrm>
            <a:off x="15640050" y="9572625"/>
            <a:ext cx="152400" cy="28575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43" name="Shape 40"/>
          <p:cNvSpPr/>
          <p:nvPr/>
        </p:nvSpPr>
        <p:spPr>
          <a:xfrm>
            <a:off x="15849600" y="9572625"/>
            <a:ext cx="152400" cy="28575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44" name="Shape 41"/>
          <p:cNvSpPr/>
          <p:nvPr/>
        </p:nvSpPr>
        <p:spPr>
          <a:xfrm>
            <a:off x="16059150" y="9572625"/>
            <a:ext cx="152400" cy="28575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45" name="Shape 42"/>
          <p:cNvSpPr/>
          <p:nvPr/>
        </p:nvSpPr>
        <p:spPr>
          <a:xfrm>
            <a:off x="16268700" y="9572625"/>
            <a:ext cx="152400" cy="28575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46" name="Shape 43"/>
          <p:cNvSpPr/>
          <p:nvPr/>
        </p:nvSpPr>
        <p:spPr>
          <a:xfrm>
            <a:off x="16478250" y="9572625"/>
            <a:ext cx="152400" cy="28575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  <a:effectLst>
            <a:outerShdw sx="100000" sy="100000" kx="0" ky="0" algn="bl" rotWithShape="0" blurRad="95250" dist="50800" dir="16200000">
              <a:srgbClr val="22D3EE">
                <a:alpha val="85000"/>
              </a:srgbClr>
            </a:outerShdw>
          </a:effectLst>
        </p:spPr>
      </p:sp>
      <p:sp>
        <p:nvSpPr>
          <p:cNvPr id="47" name="Shape 44"/>
          <p:cNvSpPr/>
          <p:nvPr/>
        </p:nvSpPr>
        <p:spPr>
          <a:xfrm>
            <a:off x="16687800" y="9572625"/>
            <a:ext cx="152400" cy="28575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48" name="Shape 45"/>
          <p:cNvSpPr/>
          <p:nvPr/>
        </p:nvSpPr>
        <p:spPr>
          <a:xfrm>
            <a:off x="16897350" y="9572625"/>
            <a:ext cx="152400" cy="28575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49" name="Shape 46"/>
          <p:cNvSpPr/>
          <p:nvPr/>
        </p:nvSpPr>
        <p:spPr>
          <a:xfrm>
            <a:off x="17106900" y="9572625"/>
            <a:ext cx="152400" cy="28575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50" name="Shape 47"/>
          <p:cNvSpPr/>
          <p:nvPr/>
        </p:nvSpPr>
        <p:spPr>
          <a:xfrm>
            <a:off x="17316450" y="9572625"/>
            <a:ext cx="152400" cy="28575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51" name="Shape 48"/>
          <p:cNvSpPr/>
          <p:nvPr/>
        </p:nvSpPr>
        <p:spPr>
          <a:xfrm>
            <a:off x="17526000" y="9572625"/>
            <a:ext cx="152400" cy="28575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52" name="Text 49"/>
          <p:cNvSpPr/>
          <p:nvPr/>
        </p:nvSpPr>
        <p:spPr>
          <a:xfrm>
            <a:off x="15430500" y="9639300"/>
            <a:ext cx="700286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17" kern="0" dirty="0">
                <a:solidFill>
                  <a:srgbClr val="5A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/ 11</a:t>
            </a:r>
            <a:endParaRPr lang="en-US" sz="97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0C1426">
                  <a:alpha val="100000"/>
                </a:srgbClr>
              </a:gs>
              <a:gs pos="52000">
                <a:srgbClr val="070A12">
                  <a:alpha val="100000"/>
                </a:srgbClr>
              </a:gs>
              <a:gs pos="100000">
                <a:srgbClr val="05070D">
                  <a:alpha val="100000"/>
                </a:srgbClr>
              </a:gs>
            </a:gsLst>
            <a:path path="circle">
              <a:fillToRect l="50000" t="0" r="5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2D3EE">
                  <a:alpha val="7000"/>
                </a:srgbClr>
              </a:gs>
              <a:gs pos="70000">
                <a:srgbClr val="22D3EE">
                  <a:alpha val="0"/>
                </a:srgbClr>
              </a:gs>
            </a:gsLst>
            <a:path path="circle">
              <a:fillToRect l="50000" t="16000" r="50000" b="84000"/>
            </a:path>
          </a:gradFill>
          <a:ln/>
        </p:spPr>
      </p:sp>
      <p:sp>
        <p:nvSpPr>
          <p:cNvPr id="4" name="Shape 2"/>
          <p:cNvSpPr/>
          <p:nvPr/>
        </p:nvSpPr>
        <p:spPr>
          <a:xfrm>
            <a:off x="1047750" y="833438"/>
            <a:ext cx="171450" cy="28575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  <a:effectLst>
            <a:outerShdw sx="100000" sy="100000" kx="0" ky="0" algn="bl" rotWithShape="0" blurRad="114300" dist="50800" dir="16200000">
              <a:srgbClr val="22D3EE">
                <a:alpha val="7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352550" y="762000"/>
            <a:ext cx="344709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357" kern="0" dirty="0">
                <a:solidFill>
                  <a:srgbClr val="7C8A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PIPELINE · PROTOCOL-FIRST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047750" y="1085850"/>
            <a:ext cx="1781175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750" b="1" spc="-37" kern="0" dirty="0">
                <a:solidFill>
                  <a:srgbClr val="F1F5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从视频证据,到可执行时间线</a:t>
            </a:r>
            <a:endParaRPr lang="en-US" sz="3750" dirty="0"/>
          </a:p>
        </p:txBody>
      </p:sp>
      <p:sp>
        <p:nvSpPr>
          <p:cNvPr id="7" name="Shape 5"/>
          <p:cNvSpPr/>
          <p:nvPr/>
        </p:nvSpPr>
        <p:spPr>
          <a:xfrm>
            <a:off x="12597408" y="1847850"/>
            <a:ext cx="2302272" cy="876300"/>
          </a:xfrm>
          <a:prstGeom prst="roundRect">
            <a:avLst>
              <a:gd name="adj" fmla="val 17391"/>
            </a:avLst>
          </a:prstGeom>
          <a:solidFill>
            <a:srgbClr val="22D3EE">
              <a:alpha val="7000"/>
            </a:srgbClr>
          </a:solidFill>
          <a:ln w="6350">
            <a:solidFill>
              <a:srgbClr val="22D3EE"/>
            </a:solidFill>
            <a:prstDash val="solid"/>
          </a:ln>
          <a:effectLst>
            <a:outerShdw sx="100000" sy="100000" kx="0" ky="0" algn="bl" rotWithShape="0" blurRad="419100" dist="50800" dir="16200000">
              <a:srgbClr val="22D3EE">
                <a:alpha val="19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30041" y="2028825"/>
            <a:ext cx="13827919" cy="1905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2151261" y="1943100"/>
            <a:ext cx="171450" cy="171450"/>
          </a:xfrm>
          <a:prstGeom prst="ellipse">
            <a:avLst/>
          </a:prstGeom>
          <a:solidFill>
            <a:srgbClr val="080B12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95250" dist="50800" dir="16200000">
              <a:srgbClr val="A78BFA">
                <a:alpha val="5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715889" y="2247900"/>
            <a:ext cx="1042095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dirty="0">
                <a:solidFill>
                  <a:srgbClr val="9AA6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VideoAnalysis</a:t>
            </a:r>
            <a:endParaRPr lang="en-US" sz="975" dirty="0"/>
          </a:p>
        </p:txBody>
      </p:sp>
      <p:sp>
        <p:nvSpPr>
          <p:cNvPr id="11" name="Shape 9"/>
          <p:cNvSpPr/>
          <p:nvPr/>
        </p:nvSpPr>
        <p:spPr>
          <a:xfrm>
            <a:off x="4453533" y="1943100"/>
            <a:ext cx="171450" cy="171450"/>
          </a:xfrm>
          <a:prstGeom prst="ellipse">
            <a:avLst/>
          </a:prstGeom>
          <a:solidFill>
            <a:srgbClr val="080B12"/>
          </a:solidFill>
          <a:ln w="19050">
            <a:solidFill>
              <a:srgbClr val="22D3EE"/>
            </a:solidFill>
            <a:prstDash val="solid"/>
          </a:ln>
          <a:effectLst>
            <a:outerShdw sx="100000" sy="100000" kx="0" ky="0" algn="bl" rotWithShape="0" blurRad="95250" dist="50800" dir="16200000">
              <a:srgbClr val="22D3EE">
                <a:alpha val="5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762831" y="2247900"/>
            <a:ext cx="1552853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dirty="0">
                <a:solidFill>
                  <a:srgbClr val="9AA6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ViralStructureGraph</a:t>
            </a:r>
            <a:endParaRPr lang="en-US" sz="975" dirty="0"/>
          </a:p>
        </p:txBody>
      </p:sp>
      <p:sp>
        <p:nvSpPr>
          <p:cNvPr id="13" name="Shape 11"/>
          <p:cNvSpPr/>
          <p:nvPr/>
        </p:nvSpPr>
        <p:spPr>
          <a:xfrm>
            <a:off x="6755904" y="1943100"/>
            <a:ext cx="171450" cy="171450"/>
          </a:xfrm>
          <a:prstGeom prst="ellipse">
            <a:avLst/>
          </a:prstGeom>
          <a:solidFill>
            <a:srgbClr val="080B12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95250" dist="50800" dir="16200000">
              <a:srgbClr val="34D399">
                <a:alpha val="5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394847" y="2247900"/>
            <a:ext cx="893465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dirty="0">
                <a:solidFill>
                  <a:srgbClr val="9AA6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AssetCard[]</a:t>
            </a:r>
            <a:endParaRPr lang="en-US" sz="975" dirty="0"/>
          </a:p>
        </p:txBody>
      </p:sp>
      <p:sp>
        <p:nvSpPr>
          <p:cNvPr id="15" name="Shape 13"/>
          <p:cNvSpPr/>
          <p:nvPr/>
        </p:nvSpPr>
        <p:spPr>
          <a:xfrm>
            <a:off x="9058176" y="1943100"/>
            <a:ext cx="171450" cy="171450"/>
          </a:xfrm>
          <a:prstGeom prst="ellipse">
            <a:avLst/>
          </a:prstGeom>
          <a:solidFill>
            <a:srgbClr val="080B12"/>
          </a:solidFill>
          <a:ln w="19050">
            <a:solidFill>
              <a:srgbClr val="FBBF24"/>
            </a:solidFill>
            <a:prstDash val="solid"/>
          </a:ln>
          <a:effectLst>
            <a:outerShdw sx="100000" sy="100000" kx="0" ky="0" algn="bl" rotWithShape="0" blurRad="95250" dist="50800" dir="16200000">
              <a:srgbClr val="FBBF24">
                <a:alpha val="5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697218" y="2247900"/>
            <a:ext cx="893465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dirty="0">
                <a:solidFill>
                  <a:srgbClr val="9AA6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SlotMatch[]</a:t>
            </a:r>
            <a:endParaRPr lang="en-US" sz="975" dirty="0"/>
          </a:p>
        </p:txBody>
      </p:sp>
      <p:sp>
        <p:nvSpPr>
          <p:cNvPr id="17" name="Shape 15"/>
          <p:cNvSpPr/>
          <p:nvPr/>
        </p:nvSpPr>
        <p:spPr>
          <a:xfrm>
            <a:off x="11360547" y="1943100"/>
            <a:ext cx="171450" cy="171450"/>
          </a:xfrm>
          <a:prstGeom prst="ellipse">
            <a:avLst/>
          </a:prstGeom>
          <a:solidFill>
            <a:srgbClr val="080B12"/>
          </a:solidFill>
          <a:ln w="19050">
            <a:solidFill>
              <a:srgbClr val="FF4D6D"/>
            </a:solidFill>
            <a:prstDash val="solid"/>
          </a:ln>
          <a:effectLst>
            <a:outerShdw sx="100000" sy="100000" kx="0" ky="0" algn="bl" rotWithShape="0" blurRad="95250" dist="50800" dir="16200000">
              <a:srgbClr val="FF4D6D">
                <a:alpha val="5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1073805" y="2247900"/>
            <a:ext cx="744934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dirty="0">
                <a:solidFill>
                  <a:srgbClr val="9AA6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Diagnosis</a:t>
            </a:r>
            <a:endParaRPr lang="en-US" sz="975" dirty="0"/>
          </a:p>
        </p:txBody>
      </p:sp>
      <p:sp>
        <p:nvSpPr>
          <p:cNvPr id="19" name="Shape 17"/>
          <p:cNvSpPr/>
          <p:nvPr/>
        </p:nvSpPr>
        <p:spPr>
          <a:xfrm>
            <a:off x="13662820" y="1943100"/>
            <a:ext cx="171450" cy="171450"/>
          </a:xfrm>
          <a:prstGeom prst="ellipse">
            <a:avLst/>
          </a:prstGeom>
          <a:solidFill>
            <a:srgbClr val="080B12"/>
          </a:solidFill>
          <a:ln w="19050">
            <a:solidFill>
              <a:srgbClr val="22D3EE"/>
            </a:solidFill>
            <a:prstDash val="solid"/>
          </a:ln>
          <a:effectLst>
            <a:outerShdw sx="100000" sy="100000" kx="0" ky="0" algn="bl" rotWithShape="0" blurRad="95250" dist="50800" dir="16200000">
              <a:srgbClr val="22D3EE">
                <a:alpha val="5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2931300" y="2247900"/>
            <a:ext cx="1634490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dirty="0">
                <a:solidFill>
                  <a:srgbClr val="9AA6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OrchestratedTimeline</a:t>
            </a:r>
            <a:endParaRPr lang="en-US" sz="975" dirty="0"/>
          </a:p>
        </p:txBody>
      </p:sp>
      <p:sp>
        <p:nvSpPr>
          <p:cNvPr id="21" name="Shape 19"/>
          <p:cNvSpPr/>
          <p:nvPr/>
        </p:nvSpPr>
        <p:spPr>
          <a:xfrm>
            <a:off x="15939472" y="1917383"/>
            <a:ext cx="222886" cy="222885"/>
          </a:xfrm>
          <a:prstGeom prst="ellipse">
            <a:avLst/>
          </a:prstGeom>
          <a:solidFill>
            <a:srgbClr val="34D399"/>
          </a:solidFill>
          <a:ln w="24765">
            <a:solidFill>
              <a:srgbClr val="34D399"/>
            </a:solidFill>
            <a:prstDash val="solid"/>
          </a:ln>
          <a:effectLst>
            <a:outerShdw sx="100000" sy="100000" kx="0" ky="0" algn="bl" rotWithShape="0" blurRad="190500" dist="50800" dir="16200000">
              <a:srgbClr val="34D399">
                <a:alpha val="10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5418495" y="2247900"/>
            <a:ext cx="1264940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dirty="0">
                <a:solidFill>
                  <a:srgbClr val="9AA6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AuthoredTimeline</a:t>
            </a:r>
            <a:endParaRPr lang="en-US" sz="975" dirty="0"/>
          </a:p>
        </p:txBody>
      </p:sp>
      <p:sp>
        <p:nvSpPr>
          <p:cNvPr id="23" name="Text 21"/>
          <p:cNvSpPr/>
          <p:nvPr/>
        </p:nvSpPr>
        <p:spPr>
          <a:xfrm>
            <a:off x="1047750" y="5051425"/>
            <a:ext cx="1781175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203" kern="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 7 · VIDEO SAFETY</a:t>
            </a:r>
            <a:endParaRPr lang="en-US" sz="1125" dirty="0"/>
          </a:p>
        </p:txBody>
      </p:sp>
      <p:sp>
        <p:nvSpPr>
          <p:cNvPr id="24" name="Shape 22"/>
          <p:cNvSpPr/>
          <p:nvPr/>
        </p:nvSpPr>
        <p:spPr>
          <a:xfrm>
            <a:off x="1047750" y="5451475"/>
            <a:ext cx="4649292" cy="889000"/>
          </a:xfrm>
          <a:prstGeom prst="roundRect">
            <a:avLst>
              <a:gd name="adj" fmla="val 15000"/>
            </a:avLst>
          </a:prstGeom>
          <a:solidFill>
            <a:srgbClr val="FFFFFF">
              <a:alpha val="2000"/>
            </a:srgbClr>
          </a:solidFill>
          <a:ln w="635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282700" y="5648325"/>
            <a:ext cx="4597331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6B7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282700" y="5870575"/>
            <a:ext cx="4597331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E2E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OrchestratedTimeline</a:t>
            </a:r>
            <a:endParaRPr lang="en-US" sz="1575" dirty="0"/>
          </a:p>
        </p:txBody>
      </p:sp>
      <p:sp>
        <p:nvSpPr>
          <p:cNvPr id="27" name="Text 25"/>
          <p:cNvSpPr/>
          <p:nvPr/>
        </p:nvSpPr>
        <p:spPr>
          <a:xfrm>
            <a:off x="5830392" y="5451475"/>
            <a:ext cx="304800" cy="927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F4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6192342" y="5451475"/>
            <a:ext cx="5903218" cy="889000"/>
          </a:xfrm>
          <a:prstGeom prst="roundRect">
            <a:avLst>
              <a:gd name="adj" fmla="val 15000"/>
            </a:avLst>
          </a:prstGeom>
          <a:solidFill>
            <a:srgbClr val="34D399">
              <a:alpha val="5000"/>
            </a:srgbClr>
          </a:solidFill>
          <a:ln w="6350">
            <a:solidFill>
              <a:srgbClr val="34D399">
                <a:alpha val="25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27291" y="5648325"/>
            <a:ext cx="5976650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PROCESS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427291" y="5870575"/>
            <a:ext cx="5976650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authoring + handoff + check</a:t>
            </a:r>
            <a:endParaRPr lang="en-US" sz="1575" dirty="0"/>
          </a:p>
        </p:txBody>
      </p:sp>
      <p:sp>
        <p:nvSpPr>
          <p:cNvPr id="31" name="Text 29"/>
          <p:cNvSpPr/>
          <p:nvPr/>
        </p:nvSpPr>
        <p:spPr>
          <a:xfrm>
            <a:off x="12228909" y="5451475"/>
            <a:ext cx="304800" cy="927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F4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12590859" y="5451475"/>
            <a:ext cx="4649391" cy="889000"/>
          </a:xfrm>
          <a:prstGeom prst="roundRect">
            <a:avLst>
              <a:gd name="adj" fmla="val 15000"/>
            </a:avLst>
          </a:prstGeom>
          <a:solidFill>
            <a:srgbClr val="FFFFFF">
              <a:alpha val="2000"/>
            </a:srgbClr>
          </a:solidFill>
          <a:ln w="635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2825810" y="5648325"/>
            <a:ext cx="4597440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6B7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2825810" y="5870575"/>
            <a:ext cx="4597440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E2E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AuthoredTimeline + Report</a:t>
            </a:r>
            <a:endParaRPr lang="en-US" sz="1575" dirty="0"/>
          </a:p>
        </p:txBody>
      </p:sp>
      <p:sp>
        <p:nvSpPr>
          <p:cNvPr id="35" name="Shape 33"/>
          <p:cNvSpPr/>
          <p:nvPr/>
        </p:nvSpPr>
        <p:spPr>
          <a:xfrm>
            <a:off x="1047750" y="6550025"/>
            <a:ext cx="16192500" cy="546100"/>
          </a:xfrm>
          <a:prstGeom prst="roundRect">
            <a:avLst>
              <a:gd name="adj" fmla="val 20930"/>
            </a:avLst>
          </a:prstGeom>
          <a:solidFill>
            <a:srgbClr val="34D399">
              <a:alpha val="6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1047750" y="6550025"/>
            <a:ext cx="25400" cy="54610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37" name="Text 35"/>
          <p:cNvSpPr/>
          <p:nvPr/>
        </p:nvSpPr>
        <p:spPr>
          <a:xfrm>
            <a:off x="1263650" y="6750050"/>
            <a:ext cx="816868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08" kern="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GUARDRAIL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137668" y="6683375"/>
            <a:ext cx="3673673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C8D2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不伪造成片,不复制源片,不编造营销事实</a:t>
            </a:r>
            <a:endParaRPr lang="en-US" sz="1500" dirty="0"/>
          </a:p>
        </p:txBody>
      </p:sp>
      <p:pic>
        <p:nvPicPr>
          <p:cNvPr id="3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9600" y="9601200"/>
            <a:ext cx="209550" cy="209550"/>
          </a:xfrm>
          <a:prstGeom prst="rect">
            <a:avLst/>
          </a:prstGeom>
        </p:spPr>
      </p:pic>
      <p:sp>
        <p:nvSpPr>
          <p:cNvPr id="40" name="Text 37"/>
          <p:cNvSpPr/>
          <p:nvPr/>
        </p:nvSpPr>
        <p:spPr>
          <a:xfrm>
            <a:off x="933450" y="9623425"/>
            <a:ext cx="1634490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95" kern="0" dirty="0">
                <a:solidFill>
                  <a:srgbClr val="5A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VIRAL STRUCT AI</a:t>
            </a:r>
            <a:endParaRPr lang="en-US" sz="975" dirty="0"/>
          </a:p>
        </p:txBody>
      </p:sp>
      <p:sp>
        <p:nvSpPr>
          <p:cNvPr id="41" name="Shape 38"/>
          <p:cNvSpPr/>
          <p:nvPr/>
        </p:nvSpPr>
        <p:spPr>
          <a:xfrm>
            <a:off x="15430500" y="9572625"/>
            <a:ext cx="152400" cy="28575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42" name="Shape 39"/>
          <p:cNvSpPr/>
          <p:nvPr/>
        </p:nvSpPr>
        <p:spPr>
          <a:xfrm>
            <a:off x="15640050" y="9572625"/>
            <a:ext cx="152400" cy="28575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43" name="Shape 40"/>
          <p:cNvSpPr/>
          <p:nvPr/>
        </p:nvSpPr>
        <p:spPr>
          <a:xfrm>
            <a:off x="15849600" y="9572625"/>
            <a:ext cx="152400" cy="28575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44" name="Shape 41"/>
          <p:cNvSpPr/>
          <p:nvPr/>
        </p:nvSpPr>
        <p:spPr>
          <a:xfrm>
            <a:off x="16059150" y="9572625"/>
            <a:ext cx="152400" cy="28575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45" name="Shape 42"/>
          <p:cNvSpPr/>
          <p:nvPr/>
        </p:nvSpPr>
        <p:spPr>
          <a:xfrm>
            <a:off x="16268700" y="9572625"/>
            <a:ext cx="152400" cy="28575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46" name="Shape 43"/>
          <p:cNvSpPr/>
          <p:nvPr/>
        </p:nvSpPr>
        <p:spPr>
          <a:xfrm>
            <a:off x="16478250" y="9572625"/>
            <a:ext cx="152400" cy="28575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  <a:effectLst>
            <a:outerShdw sx="100000" sy="100000" kx="0" ky="0" algn="bl" rotWithShape="0" blurRad="95250" dist="50800" dir="16200000">
              <a:srgbClr val="22D3EE">
                <a:alpha val="85000"/>
              </a:srgbClr>
            </a:outerShdw>
          </a:effectLst>
        </p:spPr>
      </p:sp>
      <p:sp>
        <p:nvSpPr>
          <p:cNvPr id="47" name="Shape 44"/>
          <p:cNvSpPr/>
          <p:nvPr/>
        </p:nvSpPr>
        <p:spPr>
          <a:xfrm>
            <a:off x="16687800" y="9572625"/>
            <a:ext cx="152400" cy="28575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48" name="Shape 45"/>
          <p:cNvSpPr/>
          <p:nvPr/>
        </p:nvSpPr>
        <p:spPr>
          <a:xfrm>
            <a:off x="16897350" y="9572625"/>
            <a:ext cx="152400" cy="28575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49" name="Shape 46"/>
          <p:cNvSpPr/>
          <p:nvPr/>
        </p:nvSpPr>
        <p:spPr>
          <a:xfrm>
            <a:off x="17106900" y="9572625"/>
            <a:ext cx="152400" cy="28575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50" name="Shape 47"/>
          <p:cNvSpPr/>
          <p:nvPr/>
        </p:nvSpPr>
        <p:spPr>
          <a:xfrm>
            <a:off x="17316450" y="9572625"/>
            <a:ext cx="152400" cy="28575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51" name="Shape 48"/>
          <p:cNvSpPr/>
          <p:nvPr/>
        </p:nvSpPr>
        <p:spPr>
          <a:xfrm>
            <a:off x="17526000" y="9572625"/>
            <a:ext cx="152400" cy="28575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52" name="Text 49"/>
          <p:cNvSpPr/>
          <p:nvPr/>
        </p:nvSpPr>
        <p:spPr>
          <a:xfrm>
            <a:off x="15430500" y="9639300"/>
            <a:ext cx="700286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17" kern="0" dirty="0">
                <a:solidFill>
                  <a:srgbClr val="5A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/ 11</a:t>
            </a:r>
            <a:endParaRPr lang="en-US" sz="97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0C1426">
                  <a:alpha val="100000"/>
                </a:srgbClr>
              </a:gs>
              <a:gs pos="52000">
                <a:srgbClr val="070A12">
                  <a:alpha val="100000"/>
                </a:srgbClr>
              </a:gs>
              <a:gs pos="100000">
                <a:srgbClr val="05070D">
                  <a:alpha val="100000"/>
                </a:srgbClr>
              </a:gs>
            </a:gsLst>
            <a:path path="circle">
              <a:fillToRect l="50000" t="0" r="5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2D3EE">
                  <a:alpha val="7000"/>
                </a:srgbClr>
              </a:gs>
              <a:gs pos="70000">
                <a:srgbClr val="22D3EE">
                  <a:alpha val="0"/>
                </a:srgbClr>
              </a:gs>
            </a:gsLst>
            <a:path path="circle">
              <a:fillToRect l="50000" t="16000" r="50000" b="84000"/>
            </a:path>
          </a:gradFill>
          <a:ln/>
        </p:spPr>
      </p:sp>
      <p:sp>
        <p:nvSpPr>
          <p:cNvPr id="4" name="Shape 2"/>
          <p:cNvSpPr/>
          <p:nvPr/>
        </p:nvSpPr>
        <p:spPr>
          <a:xfrm>
            <a:off x="1257300" y="833438"/>
            <a:ext cx="171450" cy="28575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/>
          <a:effectLst>
            <a:outerShdw sx="100000" sy="100000" kx="0" ky="0" algn="bl" rotWithShape="0" blurRad="114300" dist="50800" dir="16200000">
              <a:srgbClr val="FBBF24">
                <a:alpha val="7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562100" y="762000"/>
            <a:ext cx="271661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357" kern="0" dirty="0">
                <a:solidFill>
                  <a:srgbClr val="7C8A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SLOTMATCHER · 诚实诊断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257300" y="1085850"/>
            <a:ext cx="17350740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750" b="1" spc="-37" kern="0" dirty="0">
                <a:solidFill>
                  <a:srgbClr val="F1F5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素材相关 </a:t>
            </a:r>
            <a:pPr algn="l" indent="0" marL="0">
              <a:lnSpc>
                <a:spcPct val="110000"/>
              </a:lnSpc>
              <a:buNone/>
            </a:pPr>
            <a:r>
              <a:rPr lang="en-US" sz="3750" b="1" spc="-37" kern="0" dirty="0">
                <a:solidFill>
                  <a:srgbClr val="FF4D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≠ </a:t>
            </a:r>
            <a:pPr algn="l" indent="0" marL="0">
              <a:lnSpc>
                <a:spcPct val="110000"/>
              </a:lnSpc>
              <a:buNone/>
            </a:pPr>
            <a:r>
              <a:rPr lang="en-US" sz="3750" b="1" spc="-37" kern="0" dirty="0">
                <a:solidFill>
                  <a:srgbClr val="F1F5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素材可用</a:t>
            </a:r>
            <a:endParaRPr lang="en-US" sz="3750" dirty="0"/>
          </a:p>
        </p:txBody>
      </p:sp>
      <p:sp>
        <p:nvSpPr>
          <p:cNvPr id="7" name="Text 5"/>
          <p:cNvSpPr/>
          <p:nvPr/>
        </p:nvSpPr>
        <p:spPr>
          <a:xfrm>
            <a:off x="1257300" y="3500438"/>
            <a:ext cx="314325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matched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257300" y="3757613"/>
            <a:ext cx="314325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7E8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直接支撑槽位</a:t>
            </a:r>
            <a:endParaRPr lang="en-US" sz="1125" dirty="0"/>
          </a:p>
        </p:txBody>
      </p:sp>
      <p:sp>
        <p:nvSpPr>
          <p:cNvPr id="9" name="Shape 7"/>
          <p:cNvSpPr/>
          <p:nvPr/>
        </p:nvSpPr>
        <p:spPr>
          <a:xfrm>
            <a:off x="4305300" y="3686175"/>
            <a:ext cx="8191500" cy="95250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4305300" y="3686175"/>
            <a:ext cx="7536160" cy="9525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34D399">
                  <a:alpha val="100000"/>
                </a:srgbClr>
              </a:gs>
              <a:gs pos="100000">
                <a:srgbClr val="6EE7B7">
                  <a:alpha val="100000"/>
                </a:srgbClr>
              </a:gs>
            </a:gsLst>
            <a:lin ang="0" scaled="0"/>
          </a:gradFill>
          <a:ln/>
          <a:effectLst>
            <a:outerShdw sx="100000" sy="100000" kx="0" ky="0" algn="bl" rotWithShape="0" blurRad="133350" dist="50800" dir="16200000">
              <a:srgbClr val="34D399">
                <a:alpha val="5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2611100" y="3606800"/>
            <a:ext cx="571500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5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57300" y="4195763"/>
            <a:ext cx="314325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FFD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partial_asset_support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257300" y="4452938"/>
            <a:ext cx="314325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7E8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需裁切 / 包装</a:t>
            </a:r>
            <a:endParaRPr lang="en-US" sz="1125" dirty="0"/>
          </a:p>
        </p:txBody>
      </p:sp>
      <p:sp>
        <p:nvSpPr>
          <p:cNvPr id="14" name="Shape 12"/>
          <p:cNvSpPr/>
          <p:nvPr/>
        </p:nvSpPr>
        <p:spPr>
          <a:xfrm>
            <a:off x="4305300" y="4381500"/>
            <a:ext cx="8191500" cy="95250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4305300" y="4381500"/>
            <a:ext cx="5406330" cy="9525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BBF24">
                  <a:alpha val="100000"/>
                </a:srgbClr>
              </a:gs>
              <a:gs pos="100000">
                <a:srgbClr val="FFD66B">
                  <a:alpha val="100000"/>
                </a:srgbClr>
              </a:gs>
            </a:gsLst>
            <a:lin ang="0" scaled="0"/>
          </a:gradFill>
          <a:ln/>
          <a:effectLst>
            <a:outerShdw sx="100000" sy="100000" kx="0" ky="0" algn="bl" rotWithShape="0" blurRad="133350" dist="50800" dir="16200000">
              <a:srgbClr val="FBBF24">
                <a:alpha val="5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2611100" y="4302125"/>
            <a:ext cx="571500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500" dirty="0">
                <a:solidFill>
                  <a:srgbClr val="FFD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66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257300" y="4891088"/>
            <a:ext cx="314325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7DE7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needs_hyperframes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257300" y="5148263"/>
            <a:ext cx="314325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7E8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需动效补全</a:t>
            </a:r>
            <a:endParaRPr lang="en-US" sz="1125" dirty="0"/>
          </a:p>
        </p:txBody>
      </p:sp>
      <p:sp>
        <p:nvSpPr>
          <p:cNvPr id="19" name="Shape 17"/>
          <p:cNvSpPr/>
          <p:nvPr/>
        </p:nvSpPr>
        <p:spPr>
          <a:xfrm>
            <a:off x="4305300" y="5076825"/>
            <a:ext cx="8191500" cy="95250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4305300" y="5076825"/>
            <a:ext cx="4177605" cy="9525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22D3EE">
                  <a:alpha val="100000"/>
                </a:srgbClr>
              </a:gs>
              <a:gs pos="100000">
                <a:srgbClr val="7DE7F2">
                  <a:alpha val="100000"/>
                </a:srgbClr>
              </a:gs>
            </a:gsLst>
            <a:lin ang="0" scaled="0"/>
          </a:gradFill>
          <a:ln/>
          <a:effectLst>
            <a:outerShdw sx="100000" sy="100000" kx="0" ky="0" algn="bl" rotWithShape="0" blurRad="133350" dist="50800" dir="16200000">
              <a:srgbClr val="22D3EE">
                <a:alpha val="5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2611100" y="4997450"/>
            <a:ext cx="571500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500" dirty="0">
                <a:solidFill>
                  <a:srgbClr val="7DE7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51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257300" y="5586413"/>
            <a:ext cx="314325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FF80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missing_generation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257300" y="5843588"/>
            <a:ext cx="314325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7E8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需补拍或生成</a:t>
            </a:r>
            <a:endParaRPr lang="en-US" sz="1125" dirty="0"/>
          </a:p>
        </p:txBody>
      </p:sp>
      <p:sp>
        <p:nvSpPr>
          <p:cNvPr id="24" name="Shape 22"/>
          <p:cNvSpPr/>
          <p:nvPr/>
        </p:nvSpPr>
        <p:spPr>
          <a:xfrm>
            <a:off x="4305300" y="5772150"/>
            <a:ext cx="8191500" cy="95250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4305300" y="5772150"/>
            <a:ext cx="1965920" cy="9525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4D6D">
                  <a:alpha val="100000"/>
                </a:srgbClr>
              </a:gs>
              <a:gs pos="100000">
                <a:srgbClr val="FF8098">
                  <a:alpha val="100000"/>
                </a:srgbClr>
              </a:gs>
            </a:gsLst>
            <a:lin ang="0" scaled="0"/>
          </a:gradFill>
          <a:ln/>
          <a:effectLst>
            <a:outerShdw sx="100000" sy="100000" kx="0" ky="0" algn="bl" rotWithShape="0" blurRad="133350" dist="50800" dir="16200000">
              <a:srgbClr val="FF4D6D">
                <a:alpha val="5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12611100" y="5692775"/>
            <a:ext cx="571500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500" dirty="0">
                <a:solidFill>
                  <a:srgbClr val="FF80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257300" y="6319838"/>
            <a:ext cx="992584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6B7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阈值 ≥75 覆盖</a:t>
            </a:r>
            <a:endParaRPr lang="en-US" sz="975" dirty="0"/>
          </a:p>
        </p:txBody>
      </p:sp>
      <p:sp>
        <p:nvSpPr>
          <p:cNvPr id="28" name="Text 26"/>
          <p:cNvSpPr/>
          <p:nvPr/>
        </p:nvSpPr>
        <p:spPr>
          <a:xfrm>
            <a:off x="2383234" y="6319838"/>
            <a:ext cx="670620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6B7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≥50 偏弱</a:t>
            </a:r>
            <a:endParaRPr lang="en-US" sz="975" dirty="0"/>
          </a:p>
        </p:txBody>
      </p:sp>
      <p:sp>
        <p:nvSpPr>
          <p:cNvPr id="29" name="Text 27"/>
          <p:cNvSpPr/>
          <p:nvPr/>
        </p:nvSpPr>
        <p:spPr>
          <a:xfrm>
            <a:off x="3187204" y="6319838"/>
            <a:ext cx="621109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6B7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&lt;50 缺口</a:t>
            </a:r>
            <a:endParaRPr lang="en-US" sz="975" dirty="0"/>
          </a:p>
        </p:txBody>
      </p:sp>
      <p:pic>
        <p:nvPicPr>
          <p:cNvPr id="3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982700" y="3300413"/>
            <a:ext cx="2857500" cy="2857500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15274280" y="3281363"/>
            <a:ext cx="350540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7E8A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hook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16508711" y="4100513"/>
            <a:ext cx="350540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7E8A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pain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16360080" y="5154613"/>
            <a:ext cx="556320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7E8A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selling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16097250" y="6030913"/>
            <a:ext cx="419100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FF80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usage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14382750" y="6030913"/>
            <a:ext cx="762000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FF80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comparison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13982700" y="5154613"/>
            <a:ext cx="419100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7E8A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proof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14039850" y="4100513"/>
            <a:ext cx="281980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7E8A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cta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14589919" y="6364288"/>
            <a:ext cx="133350" cy="12700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39" name="Text 36"/>
          <p:cNvSpPr/>
          <p:nvPr/>
        </p:nvSpPr>
        <p:spPr>
          <a:xfrm>
            <a:off x="14789944" y="6291263"/>
            <a:ext cx="671513" cy="196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8" dirty="0">
                <a:solidFill>
                  <a:srgbClr val="8A96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需求天花板</a:t>
            </a:r>
            <a:endParaRPr lang="en-US" sz="938" dirty="0"/>
          </a:p>
        </p:txBody>
      </p:sp>
      <p:sp>
        <p:nvSpPr>
          <p:cNvPr id="40" name="Shape 37"/>
          <p:cNvSpPr/>
          <p:nvPr/>
        </p:nvSpPr>
        <p:spPr>
          <a:xfrm>
            <a:off x="15556706" y="6327775"/>
            <a:ext cx="133350" cy="85725"/>
          </a:xfrm>
          <a:prstGeom prst="roundRect">
            <a:avLst>
              <a:gd name="adj" fmla="val 22222"/>
            </a:avLst>
          </a:prstGeom>
          <a:solidFill>
            <a:srgbClr val="22D3EE">
              <a:alpha val="40000"/>
            </a:srgbClr>
          </a:solidFill>
          <a:ln w="6350">
            <a:solidFill>
              <a:srgbClr val="22D3EE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15756731" y="6291263"/>
            <a:ext cx="552450" cy="196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8" dirty="0">
                <a:solidFill>
                  <a:srgbClr val="8A96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实际覆盖</a:t>
            </a:r>
            <a:endParaRPr lang="en-US" sz="938" dirty="0"/>
          </a:p>
        </p:txBody>
      </p:sp>
      <p:sp>
        <p:nvSpPr>
          <p:cNvPr id="42" name="Text 39"/>
          <p:cNvSpPr/>
          <p:nvPr/>
        </p:nvSpPr>
        <p:spPr>
          <a:xfrm>
            <a:off x="14502110" y="6526213"/>
            <a:ext cx="2000439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spc="35" kern="0" dirty="0">
                <a:solidFill>
                  <a:srgbClr val="5A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⚠ 离线启发式估算 · 非真实测量</a:t>
            </a:r>
            <a:endParaRPr lang="en-US" sz="863" dirty="0"/>
          </a:p>
        </p:txBody>
      </p:sp>
      <p:sp>
        <p:nvSpPr>
          <p:cNvPr id="43" name="Text 40"/>
          <p:cNvSpPr/>
          <p:nvPr/>
        </p:nvSpPr>
        <p:spPr>
          <a:xfrm>
            <a:off x="1257300" y="8356600"/>
            <a:ext cx="178161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9AA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产品可见 </a:t>
            </a:r>
            <a:pPr algn="l" indent="0" marL="0">
              <a:buNone/>
            </a:pPr>
            <a:r>
              <a:rPr lang="en-US" sz="1425" dirty="0">
                <a:solidFill>
                  <a:srgbClr val="FF4D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≠ </a:t>
            </a:r>
            <a:pPr algn="l" indent="0" marL="0">
              <a:buNone/>
            </a:pPr>
            <a:r>
              <a:rPr lang="en-US" sz="1425" dirty="0">
                <a:solidFill>
                  <a:srgbClr val="9AA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使用演示</a:t>
            </a:r>
            <a:endParaRPr lang="en-US" sz="1425" dirty="0"/>
          </a:p>
        </p:txBody>
      </p:sp>
      <p:sp>
        <p:nvSpPr>
          <p:cNvPr id="44" name="Text 41"/>
          <p:cNvSpPr/>
          <p:nvPr/>
        </p:nvSpPr>
        <p:spPr>
          <a:xfrm>
            <a:off x="3010297" y="8356600"/>
            <a:ext cx="1143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F4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200" dirty="0"/>
          </a:p>
        </p:txBody>
      </p:sp>
      <p:sp>
        <p:nvSpPr>
          <p:cNvPr id="45" name="Text 42"/>
          <p:cNvSpPr/>
          <p:nvPr/>
        </p:nvSpPr>
        <p:spPr>
          <a:xfrm>
            <a:off x="3178175" y="8356600"/>
            <a:ext cx="178161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9AA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手拿瓶子 </a:t>
            </a:r>
            <a:pPr algn="l" indent="0" marL="0">
              <a:buNone/>
            </a:pPr>
            <a:r>
              <a:rPr lang="en-US" sz="1425" dirty="0">
                <a:solidFill>
                  <a:srgbClr val="FF4D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≠ </a:t>
            </a:r>
            <a:pPr algn="l" indent="0" marL="0">
              <a:buNone/>
            </a:pPr>
            <a:r>
              <a:rPr lang="en-US" sz="1425" dirty="0">
                <a:solidFill>
                  <a:srgbClr val="9AA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开盖动作</a:t>
            </a:r>
            <a:endParaRPr lang="en-US" sz="1425" dirty="0"/>
          </a:p>
        </p:txBody>
      </p:sp>
      <p:sp>
        <p:nvSpPr>
          <p:cNvPr id="46" name="Text 43"/>
          <p:cNvSpPr/>
          <p:nvPr/>
        </p:nvSpPr>
        <p:spPr>
          <a:xfrm>
            <a:off x="4931172" y="8356600"/>
            <a:ext cx="1143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F4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200" dirty="0"/>
          </a:p>
        </p:txBody>
      </p:sp>
      <p:sp>
        <p:nvSpPr>
          <p:cNvPr id="47" name="Text 44"/>
          <p:cNvSpPr/>
          <p:nvPr/>
        </p:nvSpPr>
        <p:spPr>
          <a:xfrm>
            <a:off x="5099050" y="8356600"/>
            <a:ext cx="178161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9AA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单瓶产品 </a:t>
            </a:r>
            <a:pPr algn="l" indent="0" marL="0">
              <a:buNone/>
            </a:pPr>
            <a:r>
              <a:rPr lang="en-US" sz="1425" dirty="0">
                <a:solidFill>
                  <a:srgbClr val="FF4D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≠ </a:t>
            </a:r>
            <a:pPr algn="l" indent="0" marL="0">
              <a:buNone/>
            </a:pPr>
            <a:r>
              <a:rPr lang="en-US" sz="1425" dirty="0">
                <a:solidFill>
                  <a:srgbClr val="9AA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社交证明</a:t>
            </a:r>
            <a:endParaRPr lang="en-US" sz="1425" dirty="0"/>
          </a:p>
        </p:txBody>
      </p:sp>
      <p:sp>
        <p:nvSpPr>
          <p:cNvPr id="48" name="Text 45"/>
          <p:cNvSpPr/>
          <p:nvPr/>
        </p:nvSpPr>
        <p:spPr>
          <a:xfrm>
            <a:off x="6852047" y="8356600"/>
            <a:ext cx="1143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F4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200" dirty="0"/>
          </a:p>
        </p:txBody>
      </p:sp>
      <p:sp>
        <p:nvSpPr>
          <p:cNvPr id="49" name="Text 46"/>
          <p:cNvSpPr/>
          <p:nvPr/>
        </p:nvSpPr>
        <p:spPr>
          <a:xfrm>
            <a:off x="7019925" y="8356600"/>
            <a:ext cx="201779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9AA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尾帧缺失 </a:t>
            </a:r>
            <a:pPr algn="l" indent="0" marL="0">
              <a:buNone/>
            </a:pPr>
            <a:r>
              <a:rPr lang="en-US" sz="1425" dirty="0">
                <a:solidFill>
                  <a:srgbClr val="FF4D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≠ </a:t>
            </a:r>
            <a:pPr algn="l" indent="0" marL="0">
              <a:buNone/>
            </a:pPr>
            <a:r>
              <a:rPr lang="en-US" sz="1425" dirty="0">
                <a:solidFill>
                  <a:srgbClr val="9AA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CTA lockup</a:t>
            </a:r>
            <a:endParaRPr lang="en-US" sz="1425" dirty="0"/>
          </a:p>
        </p:txBody>
      </p:sp>
      <p:sp>
        <p:nvSpPr>
          <p:cNvPr id="50" name="Shape 47"/>
          <p:cNvSpPr/>
          <p:nvPr/>
        </p:nvSpPr>
        <p:spPr>
          <a:xfrm>
            <a:off x="1257300" y="8813800"/>
            <a:ext cx="15773400" cy="558800"/>
          </a:xfrm>
          <a:prstGeom prst="roundRect">
            <a:avLst>
              <a:gd name="adj" fmla="val 20455"/>
            </a:avLst>
          </a:prstGeom>
          <a:solidFill>
            <a:srgbClr val="FBBF24">
              <a:alpha val="6000"/>
            </a:srgbClr>
          </a:solidFill>
          <a:ln/>
        </p:spPr>
      </p:sp>
      <p:sp>
        <p:nvSpPr>
          <p:cNvPr id="51" name="Shape 48"/>
          <p:cNvSpPr/>
          <p:nvPr/>
        </p:nvSpPr>
        <p:spPr>
          <a:xfrm>
            <a:off x="1257300" y="8813800"/>
            <a:ext cx="25400" cy="55880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52" name="Text 49"/>
          <p:cNvSpPr/>
          <p:nvPr/>
        </p:nvSpPr>
        <p:spPr>
          <a:xfrm>
            <a:off x="1492250" y="9020175"/>
            <a:ext cx="816868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08" kern="0" dirty="0">
                <a:solidFill>
                  <a:srgbClr val="FFD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GUARDRAIL</a:t>
            </a:r>
            <a:endParaRPr lang="en-US" sz="900" dirty="0"/>
          </a:p>
        </p:txBody>
      </p:sp>
      <p:sp>
        <p:nvSpPr>
          <p:cNvPr id="53" name="Text 50"/>
          <p:cNvSpPr/>
          <p:nvPr/>
        </p:nvSpPr>
        <p:spPr>
          <a:xfrm>
            <a:off x="2366268" y="8947150"/>
            <a:ext cx="3358912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C8D2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判断功能支撑,不做关键词相关匹配</a:t>
            </a:r>
            <a:endParaRPr lang="en-US" sz="1575" dirty="0"/>
          </a:p>
        </p:txBody>
      </p:sp>
      <p:pic>
        <p:nvPicPr>
          <p:cNvPr id="5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9600" y="9601200"/>
            <a:ext cx="209550" cy="209550"/>
          </a:xfrm>
          <a:prstGeom prst="rect">
            <a:avLst/>
          </a:prstGeom>
        </p:spPr>
      </p:pic>
      <p:sp>
        <p:nvSpPr>
          <p:cNvPr id="55" name="Text 51"/>
          <p:cNvSpPr/>
          <p:nvPr/>
        </p:nvSpPr>
        <p:spPr>
          <a:xfrm>
            <a:off x="933450" y="9623425"/>
            <a:ext cx="1634490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95" kern="0" dirty="0">
                <a:solidFill>
                  <a:srgbClr val="5A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VIRAL STRUCT AI</a:t>
            </a:r>
            <a:endParaRPr lang="en-US" sz="975" dirty="0"/>
          </a:p>
        </p:txBody>
      </p:sp>
      <p:sp>
        <p:nvSpPr>
          <p:cNvPr id="56" name="Shape 52"/>
          <p:cNvSpPr/>
          <p:nvPr/>
        </p:nvSpPr>
        <p:spPr>
          <a:xfrm>
            <a:off x="15430500" y="9572625"/>
            <a:ext cx="152400" cy="28575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57" name="Shape 53"/>
          <p:cNvSpPr/>
          <p:nvPr/>
        </p:nvSpPr>
        <p:spPr>
          <a:xfrm>
            <a:off x="15640050" y="9572625"/>
            <a:ext cx="152400" cy="28575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58" name="Shape 54"/>
          <p:cNvSpPr/>
          <p:nvPr/>
        </p:nvSpPr>
        <p:spPr>
          <a:xfrm>
            <a:off x="15849600" y="9572625"/>
            <a:ext cx="152400" cy="28575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59" name="Shape 55"/>
          <p:cNvSpPr/>
          <p:nvPr/>
        </p:nvSpPr>
        <p:spPr>
          <a:xfrm>
            <a:off x="16059150" y="9572625"/>
            <a:ext cx="152400" cy="28575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60" name="Shape 56"/>
          <p:cNvSpPr/>
          <p:nvPr/>
        </p:nvSpPr>
        <p:spPr>
          <a:xfrm>
            <a:off x="16268700" y="9572625"/>
            <a:ext cx="152400" cy="28575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61" name="Shape 57"/>
          <p:cNvSpPr/>
          <p:nvPr/>
        </p:nvSpPr>
        <p:spPr>
          <a:xfrm>
            <a:off x="16478250" y="9572625"/>
            <a:ext cx="152400" cy="28575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  <a:effectLst>
            <a:outerShdw sx="100000" sy="100000" kx="0" ky="0" algn="bl" rotWithShape="0" blurRad="95250" dist="50800" dir="16200000">
              <a:srgbClr val="22D3EE">
                <a:alpha val="85000"/>
              </a:srgbClr>
            </a:outerShdw>
          </a:effectLst>
        </p:spPr>
      </p:sp>
      <p:sp>
        <p:nvSpPr>
          <p:cNvPr id="62" name="Shape 58"/>
          <p:cNvSpPr/>
          <p:nvPr/>
        </p:nvSpPr>
        <p:spPr>
          <a:xfrm>
            <a:off x="16687800" y="9572625"/>
            <a:ext cx="152400" cy="28575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63" name="Shape 59"/>
          <p:cNvSpPr/>
          <p:nvPr/>
        </p:nvSpPr>
        <p:spPr>
          <a:xfrm>
            <a:off x="16897350" y="9572625"/>
            <a:ext cx="152400" cy="28575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64" name="Shape 60"/>
          <p:cNvSpPr/>
          <p:nvPr/>
        </p:nvSpPr>
        <p:spPr>
          <a:xfrm>
            <a:off x="17106900" y="9572625"/>
            <a:ext cx="152400" cy="28575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65" name="Shape 61"/>
          <p:cNvSpPr/>
          <p:nvPr/>
        </p:nvSpPr>
        <p:spPr>
          <a:xfrm>
            <a:off x="17316450" y="9572625"/>
            <a:ext cx="152400" cy="28575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66" name="Shape 62"/>
          <p:cNvSpPr/>
          <p:nvPr/>
        </p:nvSpPr>
        <p:spPr>
          <a:xfrm>
            <a:off x="17526000" y="9572625"/>
            <a:ext cx="152400" cy="28575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67" name="Text 63"/>
          <p:cNvSpPr/>
          <p:nvPr/>
        </p:nvSpPr>
        <p:spPr>
          <a:xfrm>
            <a:off x="15430500" y="9639300"/>
            <a:ext cx="700286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17" kern="0" dirty="0">
                <a:solidFill>
                  <a:srgbClr val="5A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/ 11</a:t>
            </a:r>
            <a:endParaRPr lang="en-US" sz="97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0C1426">
                  <a:alpha val="100000"/>
                </a:srgbClr>
              </a:gs>
              <a:gs pos="52000">
                <a:srgbClr val="070A12">
                  <a:alpha val="100000"/>
                </a:srgbClr>
              </a:gs>
              <a:gs pos="100000">
                <a:srgbClr val="05070D">
                  <a:alpha val="100000"/>
                </a:srgbClr>
              </a:gs>
            </a:gsLst>
            <a:path path="circle">
              <a:fillToRect l="50000" t="0" r="5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2D3EE">
                  <a:alpha val="7000"/>
                </a:srgbClr>
              </a:gs>
              <a:gs pos="70000">
                <a:srgbClr val="22D3EE">
                  <a:alpha val="0"/>
                </a:srgbClr>
              </a:gs>
            </a:gsLst>
            <a:path path="circle">
              <a:fillToRect l="50000" t="16000" r="50000" b="84000"/>
            </a:path>
          </a:gradFill>
          <a:ln/>
        </p:spPr>
      </p:sp>
      <p:sp>
        <p:nvSpPr>
          <p:cNvPr id="4" name="Shape 2"/>
          <p:cNvSpPr/>
          <p:nvPr/>
        </p:nvSpPr>
        <p:spPr>
          <a:xfrm>
            <a:off x="1257300" y="833438"/>
            <a:ext cx="171450" cy="28575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/>
          <a:effectLst>
            <a:outerShdw sx="100000" sy="100000" kx="0" ky="0" algn="bl" rotWithShape="0" blurRad="114300" dist="50800" dir="16200000">
              <a:srgbClr val="34D399">
                <a:alpha val="7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562100" y="762000"/>
            <a:ext cx="1516727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357" kern="0" dirty="0">
                <a:solidFill>
                  <a:srgbClr val="7C8A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ENGINEERING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257300" y="1085850"/>
            <a:ext cx="17350740" cy="6038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050" b="1" spc="-40" kern="0" dirty="0">
                <a:solidFill>
                  <a:srgbClr val="F1F5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工程化保障:可运行、可测试、可失败定位</a:t>
            </a:r>
            <a:endParaRPr lang="en-US" sz="4050" dirty="0"/>
          </a:p>
        </p:txBody>
      </p:sp>
      <p:sp>
        <p:nvSpPr>
          <p:cNvPr id="7" name="Shape 5"/>
          <p:cNvSpPr/>
          <p:nvPr/>
        </p:nvSpPr>
        <p:spPr>
          <a:xfrm>
            <a:off x="1257300" y="3721398"/>
            <a:ext cx="4914900" cy="952500"/>
          </a:xfrm>
          <a:prstGeom prst="roundRect">
            <a:avLst>
              <a:gd name="adj" fmla="val 14000"/>
            </a:avLst>
          </a:prstGeom>
          <a:solidFill>
            <a:srgbClr val="FFFFFF">
              <a:alpha val="2000"/>
            </a:srgbClr>
          </a:solidFill>
          <a:ln w="635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92250" y="3937298"/>
            <a:ext cx="4889500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7DE7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Monorepo</a:t>
            </a:r>
            <a:endParaRPr lang="en-US" sz="1425" dirty="0"/>
          </a:p>
        </p:txBody>
      </p:sp>
      <p:sp>
        <p:nvSpPr>
          <p:cNvPr id="9" name="Text 7"/>
          <p:cNvSpPr/>
          <p:nvPr/>
        </p:nvSpPr>
        <p:spPr>
          <a:xfrm>
            <a:off x="1492250" y="4235748"/>
            <a:ext cx="4889500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8A96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pnpm + Turbo 统一编排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24600" y="3721398"/>
            <a:ext cx="4914900" cy="952500"/>
          </a:xfrm>
          <a:prstGeom prst="roundRect">
            <a:avLst>
              <a:gd name="adj" fmla="val 14000"/>
            </a:avLst>
          </a:prstGeom>
          <a:solidFill>
            <a:srgbClr val="FFFFFF">
              <a:alpha val="2000"/>
            </a:srgbClr>
          </a:solidFill>
          <a:ln w="635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59550" y="3937298"/>
            <a:ext cx="4889500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C4B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Zod Schema</a:t>
            </a:r>
            <a:endParaRPr lang="en-US" sz="1425" dirty="0"/>
          </a:p>
        </p:txBody>
      </p:sp>
      <p:sp>
        <p:nvSpPr>
          <p:cNvPr id="12" name="Text 10"/>
          <p:cNvSpPr/>
          <p:nvPr/>
        </p:nvSpPr>
        <p:spPr>
          <a:xfrm>
            <a:off x="6559550" y="4235748"/>
            <a:ext cx="4889500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8A96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protocol-first 强类型契约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257300" y="4826298"/>
            <a:ext cx="4914900" cy="952500"/>
          </a:xfrm>
          <a:prstGeom prst="roundRect">
            <a:avLst>
              <a:gd name="adj" fmla="val 14000"/>
            </a:avLst>
          </a:prstGeom>
          <a:solidFill>
            <a:srgbClr val="FFFFFF">
              <a:alpha val="2000"/>
            </a:srgbClr>
          </a:solidFill>
          <a:ln w="635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492250" y="5042198"/>
            <a:ext cx="4889500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Job Harness</a:t>
            </a:r>
            <a:endParaRPr lang="en-US" sz="1425" dirty="0"/>
          </a:p>
        </p:txBody>
      </p:sp>
      <p:sp>
        <p:nvSpPr>
          <p:cNvPr id="15" name="Text 13"/>
          <p:cNvSpPr/>
          <p:nvPr/>
        </p:nvSpPr>
        <p:spPr>
          <a:xfrm>
            <a:off x="1492250" y="5340648"/>
            <a:ext cx="4889500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8A96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长任务异步可观测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324600" y="4826298"/>
            <a:ext cx="4914900" cy="952500"/>
          </a:xfrm>
          <a:prstGeom prst="roundRect">
            <a:avLst>
              <a:gd name="adj" fmla="val 14000"/>
            </a:avLst>
          </a:prstGeom>
          <a:solidFill>
            <a:srgbClr val="FFFFFF">
              <a:alpha val="2000"/>
            </a:srgbClr>
          </a:solidFill>
          <a:ln w="635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59550" y="5042198"/>
            <a:ext cx="4889500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FFD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Resume Fingerprint</a:t>
            </a:r>
            <a:endParaRPr lang="en-US" sz="1425" dirty="0"/>
          </a:p>
        </p:txBody>
      </p:sp>
      <p:sp>
        <p:nvSpPr>
          <p:cNvPr id="18" name="Text 16"/>
          <p:cNvSpPr/>
          <p:nvPr/>
        </p:nvSpPr>
        <p:spPr>
          <a:xfrm>
            <a:off x="6559550" y="5340648"/>
            <a:ext cx="4889500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8A96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断点续跑,不重复计算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257300" y="5931198"/>
            <a:ext cx="4914900" cy="952500"/>
          </a:xfrm>
          <a:prstGeom prst="roundRect">
            <a:avLst>
              <a:gd name="adj" fmla="val 14000"/>
            </a:avLst>
          </a:prstGeom>
          <a:solidFill>
            <a:srgbClr val="FFFFFF">
              <a:alpha val="2000"/>
            </a:srgbClr>
          </a:solidFill>
          <a:ln w="635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492250" y="6147098"/>
            <a:ext cx="4889500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FF80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Fail-fast</a:t>
            </a:r>
            <a:endParaRPr lang="en-US" sz="1425" dirty="0"/>
          </a:p>
        </p:txBody>
      </p:sp>
      <p:sp>
        <p:nvSpPr>
          <p:cNvPr id="21" name="Text 19"/>
          <p:cNvSpPr/>
          <p:nvPr/>
        </p:nvSpPr>
        <p:spPr>
          <a:xfrm>
            <a:off x="1492250" y="6445548"/>
            <a:ext cx="4889500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8A96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早失败、可定位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324600" y="5931198"/>
            <a:ext cx="4914900" cy="952500"/>
          </a:xfrm>
          <a:prstGeom prst="roundRect">
            <a:avLst>
              <a:gd name="adj" fmla="val 14000"/>
            </a:avLst>
          </a:prstGeom>
          <a:solidFill>
            <a:srgbClr val="FFFFFF">
              <a:alpha val="2000"/>
            </a:srgbClr>
          </a:solidFill>
          <a:ln w="635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59550" y="6147098"/>
            <a:ext cx="4889500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7DE7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Secret Scan</a:t>
            </a:r>
            <a:endParaRPr lang="en-US" sz="1425" dirty="0"/>
          </a:p>
        </p:txBody>
      </p:sp>
      <p:sp>
        <p:nvSpPr>
          <p:cNvPr id="24" name="Text 22"/>
          <p:cNvSpPr/>
          <p:nvPr/>
        </p:nvSpPr>
        <p:spPr>
          <a:xfrm>
            <a:off x="6559550" y="6445548"/>
            <a:ext cx="4889500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8A96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密钥扫描,守住边界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1696700" y="4286548"/>
            <a:ext cx="5334000" cy="2032000"/>
          </a:xfrm>
          <a:prstGeom prst="roundRect">
            <a:avLst>
              <a:gd name="adj" fmla="val 8438"/>
            </a:avLst>
          </a:prstGeom>
          <a:solidFill>
            <a:srgbClr val="080C14">
              <a:alpha val="80000"/>
            </a:srgbClr>
          </a:solidFill>
          <a:ln w="6350">
            <a:solidFill>
              <a:srgbClr val="FFFFFF">
                <a:alpha val="9000"/>
              </a:srgbClr>
            </a:solidFill>
            <a:prstDash val="solid"/>
          </a:ln>
          <a:effectLst>
            <a:outerShdw sx="100000" sy="100000" kx="0" ky="0" algn="bl" rotWithShape="0" blurRad="571500" dist="228600" dir="5400000">
              <a:srgbClr val="000000">
                <a:alpha val="4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11703051" y="4724698"/>
            <a:ext cx="5321300" cy="9525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1874501" y="4456410"/>
            <a:ext cx="104775" cy="104775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28" name="Shape 26"/>
          <p:cNvSpPr/>
          <p:nvPr/>
        </p:nvSpPr>
        <p:spPr>
          <a:xfrm>
            <a:off x="12055476" y="4456410"/>
            <a:ext cx="104775" cy="104775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29" name="Shape 27"/>
          <p:cNvSpPr/>
          <p:nvPr/>
        </p:nvSpPr>
        <p:spPr>
          <a:xfrm>
            <a:off x="12236451" y="4456410"/>
            <a:ext cx="104775" cy="104775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30" name="Text 28"/>
          <p:cNvSpPr/>
          <p:nvPr/>
        </p:nvSpPr>
        <p:spPr>
          <a:xfrm>
            <a:off x="12512676" y="4426248"/>
            <a:ext cx="744934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6B7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verify.sh</a:t>
            </a:r>
            <a:endParaRPr lang="en-US" sz="975" dirty="0"/>
          </a:p>
        </p:txBody>
      </p:sp>
      <p:sp>
        <p:nvSpPr>
          <p:cNvPr id="31" name="Text 29"/>
          <p:cNvSpPr/>
          <p:nvPr/>
        </p:nvSpPr>
        <p:spPr>
          <a:xfrm>
            <a:off x="11969751" y="4978698"/>
            <a:ext cx="4931537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200000"/>
              </a:lnSpc>
              <a:buNone/>
            </a:pPr>
            <a:r>
              <a:rPr lang="en-US" sz="1425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algn="l" indent="0" marL="0">
              <a:lnSpc>
                <a:spcPct val="200000"/>
              </a:lnSpc>
              <a:buNone/>
            </a:pPr>
            <a:r>
              <a:rPr lang="en-US" sz="1425" dirty="0">
                <a:solidFill>
                  <a:srgbClr val="C4CE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pnpm typecheck </a:t>
            </a:r>
            <a:pPr algn="l" indent="0" marL="0">
              <a:lnSpc>
                <a:spcPct val="200000"/>
              </a:lnSpc>
              <a:buNone/>
            </a:pPr>
            <a:r>
              <a:rPr lang="en-US" sz="1425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类型正确</a:t>
            </a:r>
            <a:endParaRPr lang="en-US" sz="1425" dirty="0"/>
          </a:p>
        </p:txBody>
      </p:sp>
      <p:sp>
        <p:nvSpPr>
          <p:cNvPr id="32" name="Text 30"/>
          <p:cNvSpPr/>
          <p:nvPr/>
        </p:nvSpPr>
        <p:spPr>
          <a:xfrm>
            <a:off x="11969751" y="5340648"/>
            <a:ext cx="4931537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200000"/>
              </a:lnSpc>
              <a:buNone/>
            </a:pPr>
            <a:r>
              <a:rPr lang="en-US" sz="1425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algn="l" indent="0" marL="0">
              <a:lnSpc>
                <a:spcPct val="200000"/>
              </a:lnSpc>
              <a:buNone/>
            </a:pPr>
            <a:r>
              <a:rPr lang="en-US" sz="1425" dirty="0">
                <a:solidFill>
                  <a:srgbClr val="C4CE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pnpm test </a:t>
            </a:r>
            <a:pPr algn="l" indent="0" marL="0">
              <a:lnSpc>
                <a:spcPct val="200000"/>
              </a:lnSpc>
              <a:buNone/>
            </a:pPr>
            <a:r>
              <a:rPr lang="en-US" sz="1425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回归通过</a:t>
            </a:r>
            <a:endParaRPr lang="en-US" sz="1425" dirty="0"/>
          </a:p>
        </p:txBody>
      </p:sp>
      <p:sp>
        <p:nvSpPr>
          <p:cNvPr id="33" name="Text 31"/>
          <p:cNvSpPr/>
          <p:nvPr/>
        </p:nvSpPr>
        <p:spPr>
          <a:xfrm>
            <a:off x="11969751" y="5702598"/>
            <a:ext cx="4931537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200000"/>
              </a:lnSpc>
              <a:buNone/>
            </a:pPr>
            <a:r>
              <a:rPr lang="en-US" sz="1425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algn="l" indent="0" marL="0">
              <a:lnSpc>
                <a:spcPct val="200000"/>
              </a:lnSpc>
              <a:buNone/>
            </a:pPr>
            <a:r>
              <a:rPr lang="en-US" sz="1425" dirty="0">
                <a:solidFill>
                  <a:srgbClr val="C4CE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pnpm build </a:t>
            </a:r>
            <a:pPr algn="l" indent="0" marL="0">
              <a:lnSpc>
                <a:spcPct val="200000"/>
              </a:lnSpc>
              <a:buNone/>
            </a:pPr>
            <a:r>
              <a:rPr lang="en-US" sz="1425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可发布</a:t>
            </a:r>
            <a:endParaRPr lang="en-US" sz="1425" dirty="0"/>
          </a:p>
        </p:txBody>
      </p:sp>
      <p:sp>
        <p:nvSpPr>
          <p:cNvPr id="34" name="Text 32"/>
          <p:cNvSpPr/>
          <p:nvPr/>
        </p:nvSpPr>
        <p:spPr>
          <a:xfrm>
            <a:off x="1257300" y="8934450"/>
            <a:ext cx="288131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7DE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3000" dirty="0"/>
          </a:p>
        </p:txBody>
      </p:sp>
      <p:sp>
        <p:nvSpPr>
          <p:cNvPr id="35" name="Text 33"/>
          <p:cNvSpPr/>
          <p:nvPr/>
        </p:nvSpPr>
        <p:spPr>
          <a:xfrm>
            <a:off x="1564481" y="9086850"/>
            <a:ext cx="76021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8A96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个 Agent</a:t>
            </a:r>
            <a:endParaRPr lang="en-US" sz="1350" dirty="0"/>
          </a:p>
        </p:txBody>
      </p:sp>
      <p:sp>
        <p:nvSpPr>
          <p:cNvPr id="36" name="Shape 34"/>
          <p:cNvSpPr/>
          <p:nvPr/>
        </p:nvSpPr>
        <p:spPr>
          <a:xfrm>
            <a:off x="2629495" y="8991600"/>
            <a:ext cx="9525" cy="32385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3020020" y="8934450"/>
            <a:ext cx="722511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~71</a:t>
            </a:r>
            <a:endParaRPr lang="en-US" sz="3000" dirty="0"/>
          </a:p>
        </p:txBody>
      </p:sp>
      <p:sp>
        <p:nvSpPr>
          <p:cNvPr id="38" name="Text 36"/>
          <p:cNvSpPr/>
          <p:nvPr/>
        </p:nvSpPr>
        <p:spPr>
          <a:xfrm>
            <a:off x="3761581" y="9086850"/>
            <a:ext cx="661392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8A96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TS 测试</a:t>
            </a:r>
            <a:endParaRPr lang="en-US" sz="1350" dirty="0"/>
          </a:p>
        </p:txBody>
      </p:sp>
      <p:sp>
        <p:nvSpPr>
          <p:cNvPr id="39" name="Shape 37"/>
          <p:cNvSpPr/>
          <p:nvPr/>
        </p:nvSpPr>
        <p:spPr>
          <a:xfrm>
            <a:off x="4727774" y="8991600"/>
            <a:ext cx="9525" cy="32385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5118299" y="8934450"/>
            <a:ext cx="722511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D6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~19</a:t>
            </a:r>
            <a:endParaRPr lang="en-US" sz="3000" dirty="0"/>
          </a:p>
        </p:txBody>
      </p:sp>
      <p:sp>
        <p:nvSpPr>
          <p:cNvPr id="41" name="Text 39"/>
          <p:cNvSpPr/>
          <p:nvPr/>
        </p:nvSpPr>
        <p:spPr>
          <a:xfrm>
            <a:off x="5859860" y="9086850"/>
            <a:ext cx="102800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8A96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测试</a:t>
            </a:r>
            <a:endParaRPr lang="en-US" sz="1350" dirty="0"/>
          </a:p>
        </p:txBody>
      </p:sp>
      <p:sp>
        <p:nvSpPr>
          <p:cNvPr id="42" name="Shape 40"/>
          <p:cNvSpPr/>
          <p:nvPr/>
        </p:nvSpPr>
        <p:spPr>
          <a:xfrm>
            <a:off x="15003066" y="8997950"/>
            <a:ext cx="1077615" cy="311150"/>
          </a:xfrm>
          <a:prstGeom prst="roundRect">
            <a:avLst>
              <a:gd name="adj" fmla="val 50000"/>
            </a:avLst>
          </a:prstGeom>
          <a:solidFill>
            <a:srgbClr val="22D3EE">
              <a:alpha val="7000"/>
            </a:srgbClr>
          </a:solidFill>
          <a:ln w="6350">
            <a:solidFill>
              <a:srgbClr val="22D3EE">
                <a:alpha val="40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5133241" y="9070975"/>
            <a:ext cx="893465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7DE7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implemented</a:t>
            </a:r>
            <a:endParaRPr lang="en-US" sz="975" dirty="0"/>
          </a:p>
        </p:txBody>
      </p:sp>
      <p:sp>
        <p:nvSpPr>
          <p:cNvPr id="44" name="Shape 42"/>
          <p:cNvSpPr/>
          <p:nvPr/>
        </p:nvSpPr>
        <p:spPr>
          <a:xfrm>
            <a:off x="16175931" y="8997950"/>
            <a:ext cx="854770" cy="311150"/>
          </a:xfrm>
          <a:prstGeom prst="roundRect">
            <a:avLst>
              <a:gd name="adj" fmla="val 50000"/>
            </a:avLst>
          </a:prstGeom>
          <a:solidFill>
            <a:srgbClr val="34D399">
              <a:alpha val="7000"/>
            </a:srgbClr>
          </a:solidFill>
          <a:ln w="6350">
            <a:solidFill>
              <a:srgbClr val="34D399">
                <a:alpha val="40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6306106" y="9070975"/>
            <a:ext cx="670620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verified</a:t>
            </a:r>
            <a:endParaRPr lang="en-US" sz="975" dirty="0"/>
          </a:p>
        </p:txBody>
      </p:sp>
      <p:pic>
        <p:nvPicPr>
          <p:cNvPr id="4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9600" y="9601200"/>
            <a:ext cx="209550" cy="209550"/>
          </a:xfrm>
          <a:prstGeom prst="rect">
            <a:avLst/>
          </a:prstGeom>
        </p:spPr>
      </p:pic>
      <p:sp>
        <p:nvSpPr>
          <p:cNvPr id="47" name="Text 44"/>
          <p:cNvSpPr/>
          <p:nvPr/>
        </p:nvSpPr>
        <p:spPr>
          <a:xfrm>
            <a:off x="933450" y="9623425"/>
            <a:ext cx="1634490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95" kern="0" dirty="0">
                <a:solidFill>
                  <a:srgbClr val="5A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VIRAL STRUCT AI</a:t>
            </a:r>
            <a:endParaRPr lang="en-US" sz="975" dirty="0"/>
          </a:p>
        </p:txBody>
      </p:sp>
      <p:sp>
        <p:nvSpPr>
          <p:cNvPr id="48" name="Shape 45"/>
          <p:cNvSpPr/>
          <p:nvPr/>
        </p:nvSpPr>
        <p:spPr>
          <a:xfrm>
            <a:off x="15430500" y="9572625"/>
            <a:ext cx="152400" cy="28575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49" name="Shape 46"/>
          <p:cNvSpPr/>
          <p:nvPr/>
        </p:nvSpPr>
        <p:spPr>
          <a:xfrm>
            <a:off x="15640050" y="9572625"/>
            <a:ext cx="152400" cy="28575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50" name="Shape 47"/>
          <p:cNvSpPr/>
          <p:nvPr/>
        </p:nvSpPr>
        <p:spPr>
          <a:xfrm>
            <a:off x="15849600" y="9572625"/>
            <a:ext cx="152400" cy="28575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51" name="Shape 48"/>
          <p:cNvSpPr/>
          <p:nvPr/>
        </p:nvSpPr>
        <p:spPr>
          <a:xfrm>
            <a:off x="16059150" y="9572625"/>
            <a:ext cx="152400" cy="28575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52" name="Shape 49"/>
          <p:cNvSpPr/>
          <p:nvPr/>
        </p:nvSpPr>
        <p:spPr>
          <a:xfrm>
            <a:off x="16268700" y="9572625"/>
            <a:ext cx="152400" cy="28575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53" name="Shape 50"/>
          <p:cNvSpPr/>
          <p:nvPr/>
        </p:nvSpPr>
        <p:spPr>
          <a:xfrm>
            <a:off x="16478250" y="9572625"/>
            <a:ext cx="152400" cy="28575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54" name="Shape 51"/>
          <p:cNvSpPr/>
          <p:nvPr/>
        </p:nvSpPr>
        <p:spPr>
          <a:xfrm>
            <a:off x="16687800" y="9572625"/>
            <a:ext cx="152400" cy="28575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  <a:effectLst>
            <a:outerShdw sx="100000" sy="100000" kx="0" ky="0" algn="bl" rotWithShape="0" blurRad="95250" dist="50800" dir="16200000">
              <a:srgbClr val="22D3EE">
                <a:alpha val="85000"/>
              </a:srgbClr>
            </a:outerShdw>
          </a:effectLst>
        </p:spPr>
      </p:sp>
      <p:sp>
        <p:nvSpPr>
          <p:cNvPr id="55" name="Shape 52"/>
          <p:cNvSpPr/>
          <p:nvPr/>
        </p:nvSpPr>
        <p:spPr>
          <a:xfrm>
            <a:off x="16897350" y="9572625"/>
            <a:ext cx="152400" cy="28575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56" name="Shape 53"/>
          <p:cNvSpPr/>
          <p:nvPr/>
        </p:nvSpPr>
        <p:spPr>
          <a:xfrm>
            <a:off x="17106900" y="9572625"/>
            <a:ext cx="152400" cy="28575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57" name="Shape 54"/>
          <p:cNvSpPr/>
          <p:nvPr/>
        </p:nvSpPr>
        <p:spPr>
          <a:xfrm>
            <a:off x="17316450" y="9572625"/>
            <a:ext cx="152400" cy="28575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58" name="Shape 55"/>
          <p:cNvSpPr/>
          <p:nvPr/>
        </p:nvSpPr>
        <p:spPr>
          <a:xfrm>
            <a:off x="17526000" y="9572625"/>
            <a:ext cx="152400" cy="28575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59" name="Text 56"/>
          <p:cNvSpPr/>
          <p:nvPr/>
        </p:nvSpPr>
        <p:spPr>
          <a:xfrm>
            <a:off x="15430500" y="9639300"/>
            <a:ext cx="700286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17" kern="0" dirty="0">
                <a:solidFill>
                  <a:srgbClr val="5A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/ 11</a:t>
            </a:r>
            <a:endParaRPr lang="en-US" sz="97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0C1426">
                  <a:alpha val="100000"/>
                </a:srgbClr>
              </a:gs>
              <a:gs pos="52000">
                <a:srgbClr val="070A12">
                  <a:alpha val="100000"/>
                </a:srgbClr>
              </a:gs>
              <a:gs pos="100000">
                <a:srgbClr val="05070D">
                  <a:alpha val="100000"/>
                </a:srgbClr>
              </a:gs>
            </a:gsLst>
            <a:path path="circle">
              <a:fillToRect l="50000" t="0" r="5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2D3EE">
                  <a:alpha val="7000"/>
                </a:srgbClr>
              </a:gs>
              <a:gs pos="70000">
                <a:srgbClr val="22D3EE">
                  <a:alpha val="0"/>
                </a:srgbClr>
              </a:gs>
            </a:gsLst>
            <a:path path="circle">
              <a:fillToRect l="50000" t="16000" r="50000" b="84000"/>
            </a:path>
          </a:gradFill>
          <a:ln/>
        </p:spPr>
      </p:sp>
      <p:sp>
        <p:nvSpPr>
          <p:cNvPr id="4" name="Shape 2"/>
          <p:cNvSpPr/>
          <p:nvPr/>
        </p:nvSpPr>
        <p:spPr>
          <a:xfrm>
            <a:off x="1257300" y="833438"/>
            <a:ext cx="171450" cy="28575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/>
          <a:effectLst>
            <a:outerShdw sx="100000" sy="100000" kx="0" ky="0" algn="bl" rotWithShape="0" blurRad="114300" dist="50800" dir="16200000">
              <a:srgbClr val="A78BFA">
                <a:alpha val="7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562100" y="762000"/>
            <a:ext cx="193047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357" kern="0" dirty="0">
                <a:solidFill>
                  <a:srgbClr val="7C8A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 METHODOLOGY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257300" y="1085850"/>
            <a:ext cx="17350740" cy="6457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350" b="1" spc="-43" kern="0" dirty="0">
                <a:solidFill>
                  <a:srgbClr val="F1F5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是开发助手,不是替代者</a:t>
            </a:r>
            <a:endParaRPr lang="en-US" sz="4350" dirty="0"/>
          </a:p>
        </p:txBody>
      </p:sp>
      <p:sp>
        <p:nvSpPr>
          <p:cNvPr id="7" name="Shape 5"/>
          <p:cNvSpPr/>
          <p:nvPr/>
        </p:nvSpPr>
        <p:spPr>
          <a:xfrm>
            <a:off x="1257300" y="4183658"/>
            <a:ext cx="5143500" cy="1066800"/>
          </a:xfrm>
          <a:prstGeom prst="roundRect">
            <a:avLst>
              <a:gd name="adj" fmla="val 14286"/>
            </a:avLst>
          </a:prstGeom>
          <a:solidFill>
            <a:srgbClr val="FFFFFF">
              <a:alpha val="2000"/>
            </a:srgbClr>
          </a:solidFill>
          <a:ln w="635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30350" y="4437658"/>
            <a:ext cx="505714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7DE7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· 赛题拆解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530350" y="4704358"/>
            <a:ext cx="505714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E2E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 / P1 / 评分点</a:t>
            </a:r>
            <a:endParaRPr lang="en-US" sz="1575" dirty="0"/>
          </a:p>
        </p:txBody>
      </p:sp>
      <p:sp>
        <p:nvSpPr>
          <p:cNvPr id="10" name="Shape 8"/>
          <p:cNvSpPr/>
          <p:nvPr/>
        </p:nvSpPr>
        <p:spPr>
          <a:xfrm>
            <a:off x="6572250" y="4183658"/>
            <a:ext cx="5143500" cy="1066800"/>
          </a:xfrm>
          <a:prstGeom prst="roundRect">
            <a:avLst>
              <a:gd name="adj" fmla="val 14286"/>
            </a:avLst>
          </a:prstGeom>
          <a:solidFill>
            <a:srgbClr val="A78BFA">
              <a:alpha val="5000"/>
            </a:srgbClr>
          </a:solidFill>
          <a:ln w="6350">
            <a:solidFill>
              <a:srgbClr val="A78BFA">
                <a:alpha val="22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45300" y="4437658"/>
            <a:ext cx="505714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C4B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· 架构设计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845300" y="4704358"/>
            <a:ext cx="505714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protocol-first 路线</a:t>
            </a:r>
            <a:endParaRPr lang="en-US" sz="1575" dirty="0"/>
          </a:p>
        </p:txBody>
      </p:sp>
      <p:sp>
        <p:nvSpPr>
          <p:cNvPr id="13" name="Shape 11"/>
          <p:cNvSpPr/>
          <p:nvPr/>
        </p:nvSpPr>
        <p:spPr>
          <a:xfrm>
            <a:off x="11887200" y="4183658"/>
            <a:ext cx="5143500" cy="1066800"/>
          </a:xfrm>
          <a:prstGeom prst="roundRect">
            <a:avLst>
              <a:gd name="adj" fmla="val 14286"/>
            </a:avLst>
          </a:prstGeom>
          <a:solidFill>
            <a:srgbClr val="FFFFFF">
              <a:alpha val="2000"/>
            </a:srgbClr>
          </a:solidFill>
          <a:ln w="635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160251" y="4437658"/>
            <a:ext cx="505714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· 任务拆分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2160251" y="4704358"/>
            <a:ext cx="5057140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E2E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SlotMatcher / Director / Fine Scan</a:t>
            </a:r>
            <a:endParaRPr lang="en-US" sz="1575" dirty="0"/>
          </a:p>
        </p:txBody>
      </p:sp>
      <p:sp>
        <p:nvSpPr>
          <p:cNvPr id="16" name="Shape 14"/>
          <p:cNvSpPr/>
          <p:nvPr/>
        </p:nvSpPr>
        <p:spPr>
          <a:xfrm>
            <a:off x="1257300" y="5421908"/>
            <a:ext cx="5143500" cy="1066800"/>
          </a:xfrm>
          <a:prstGeom prst="roundRect">
            <a:avLst>
              <a:gd name="adj" fmla="val 14286"/>
            </a:avLst>
          </a:prstGeom>
          <a:solidFill>
            <a:srgbClr val="FFFFFF">
              <a:alpha val="2000"/>
            </a:srgbClr>
          </a:solidFill>
          <a:ln w="635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530350" y="5675908"/>
            <a:ext cx="505714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7DE7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· Codex 实现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530350" y="5942608"/>
            <a:ext cx="505714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E2E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限定文件与验收标准</a:t>
            </a:r>
            <a:endParaRPr lang="en-US" sz="1575" dirty="0"/>
          </a:p>
        </p:txBody>
      </p:sp>
      <p:sp>
        <p:nvSpPr>
          <p:cNvPr id="19" name="Shape 17"/>
          <p:cNvSpPr/>
          <p:nvPr/>
        </p:nvSpPr>
        <p:spPr>
          <a:xfrm>
            <a:off x="6572250" y="5421908"/>
            <a:ext cx="5143500" cy="1066800"/>
          </a:xfrm>
          <a:prstGeom prst="roundRect">
            <a:avLst>
              <a:gd name="adj" fmla="val 14286"/>
            </a:avLst>
          </a:prstGeom>
          <a:solidFill>
            <a:srgbClr val="FFFFFF">
              <a:alpha val="2000"/>
            </a:srgbClr>
          </a:solidFill>
          <a:ln w="635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45300" y="5675908"/>
            <a:ext cx="505714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· 人工验证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845300" y="5942608"/>
            <a:ext cx="5057140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E2E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/ build / secret scan</a:t>
            </a:r>
            <a:endParaRPr lang="en-US" sz="1575" dirty="0"/>
          </a:p>
        </p:txBody>
      </p:sp>
      <p:sp>
        <p:nvSpPr>
          <p:cNvPr id="22" name="Shape 20"/>
          <p:cNvSpPr/>
          <p:nvPr/>
        </p:nvSpPr>
        <p:spPr>
          <a:xfrm>
            <a:off x="11887200" y="5421908"/>
            <a:ext cx="5143500" cy="1066800"/>
          </a:xfrm>
          <a:prstGeom prst="roundRect">
            <a:avLst>
              <a:gd name="adj" fmla="val 14286"/>
            </a:avLst>
          </a:prstGeom>
          <a:solidFill>
            <a:srgbClr val="FFFFFF">
              <a:alpha val="2000"/>
            </a:srgbClr>
          </a:solidFill>
          <a:ln w="635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2160251" y="5675908"/>
            <a:ext cx="505714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FD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· 迭代优化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2160251" y="5942608"/>
            <a:ext cx="505714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E2E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partial 过松 / 转场粗糙</a:t>
            </a:r>
            <a:endParaRPr lang="en-US" sz="1575" dirty="0"/>
          </a:p>
        </p:txBody>
      </p:sp>
      <p:sp>
        <p:nvSpPr>
          <p:cNvPr id="25" name="Text 23"/>
          <p:cNvSpPr/>
          <p:nvPr/>
        </p:nvSpPr>
        <p:spPr>
          <a:xfrm>
            <a:off x="468630" y="8959850"/>
            <a:ext cx="17350740" cy="412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025" dirty="0">
                <a:solidFill>
                  <a:srgbClr val="AEB9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Codex 辅助实现;我们负责</a:t>
            </a:r>
            <a:pPr algn="ctr" indent="0" marL="0">
              <a:buNone/>
            </a:pPr>
            <a:r>
              <a:rPr lang="en-US" sz="2025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问题定义、系统设计、结果验证和整合</a:t>
            </a:r>
            <a:endParaRPr lang="en-US" sz="2025" dirty="0"/>
          </a:p>
        </p:txBody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9600" y="9601200"/>
            <a:ext cx="209550" cy="209550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933450" y="9623425"/>
            <a:ext cx="1634490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95" kern="0" dirty="0">
                <a:solidFill>
                  <a:srgbClr val="5A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VIRAL STRUCT AI</a:t>
            </a:r>
            <a:endParaRPr lang="en-US" sz="975" dirty="0"/>
          </a:p>
        </p:txBody>
      </p:sp>
      <p:sp>
        <p:nvSpPr>
          <p:cNvPr id="28" name="Shape 25"/>
          <p:cNvSpPr/>
          <p:nvPr/>
        </p:nvSpPr>
        <p:spPr>
          <a:xfrm>
            <a:off x="15430500" y="9572625"/>
            <a:ext cx="152400" cy="28575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29" name="Shape 26"/>
          <p:cNvSpPr/>
          <p:nvPr/>
        </p:nvSpPr>
        <p:spPr>
          <a:xfrm>
            <a:off x="15640050" y="9572625"/>
            <a:ext cx="152400" cy="28575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30" name="Shape 27"/>
          <p:cNvSpPr/>
          <p:nvPr/>
        </p:nvSpPr>
        <p:spPr>
          <a:xfrm>
            <a:off x="15849600" y="9572625"/>
            <a:ext cx="152400" cy="28575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31" name="Shape 28"/>
          <p:cNvSpPr/>
          <p:nvPr/>
        </p:nvSpPr>
        <p:spPr>
          <a:xfrm>
            <a:off x="16059150" y="9572625"/>
            <a:ext cx="152400" cy="28575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32" name="Shape 29"/>
          <p:cNvSpPr/>
          <p:nvPr/>
        </p:nvSpPr>
        <p:spPr>
          <a:xfrm>
            <a:off x="16268700" y="9572625"/>
            <a:ext cx="152400" cy="28575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33" name="Shape 30"/>
          <p:cNvSpPr/>
          <p:nvPr/>
        </p:nvSpPr>
        <p:spPr>
          <a:xfrm>
            <a:off x="16478250" y="9572625"/>
            <a:ext cx="152400" cy="28575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34" name="Shape 31"/>
          <p:cNvSpPr/>
          <p:nvPr/>
        </p:nvSpPr>
        <p:spPr>
          <a:xfrm>
            <a:off x="16687800" y="9572625"/>
            <a:ext cx="152400" cy="28575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35" name="Shape 32"/>
          <p:cNvSpPr/>
          <p:nvPr/>
        </p:nvSpPr>
        <p:spPr>
          <a:xfrm>
            <a:off x="16897350" y="9572625"/>
            <a:ext cx="152400" cy="28575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  <a:effectLst>
            <a:outerShdw sx="100000" sy="100000" kx="0" ky="0" algn="bl" rotWithShape="0" blurRad="95250" dist="50800" dir="16200000">
              <a:srgbClr val="22D3EE">
                <a:alpha val="85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17106900" y="9572625"/>
            <a:ext cx="152400" cy="28575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37" name="Shape 34"/>
          <p:cNvSpPr/>
          <p:nvPr/>
        </p:nvSpPr>
        <p:spPr>
          <a:xfrm>
            <a:off x="17316450" y="9572625"/>
            <a:ext cx="152400" cy="28575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38" name="Shape 35"/>
          <p:cNvSpPr/>
          <p:nvPr/>
        </p:nvSpPr>
        <p:spPr>
          <a:xfrm>
            <a:off x="17526000" y="9572625"/>
            <a:ext cx="152400" cy="28575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39" name="Text 36"/>
          <p:cNvSpPr/>
          <p:nvPr/>
        </p:nvSpPr>
        <p:spPr>
          <a:xfrm>
            <a:off x="15430500" y="9639300"/>
            <a:ext cx="700286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17" kern="0" dirty="0">
                <a:solidFill>
                  <a:srgbClr val="5A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/ 11</a:t>
            </a:r>
            <a:endParaRPr lang="en-US" sz="97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0C1426">
                  <a:alpha val="100000"/>
                </a:srgbClr>
              </a:gs>
              <a:gs pos="52000">
                <a:srgbClr val="070A12">
                  <a:alpha val="100000"/>
                </a:srgbClr>
              </a:gs>
              <a:gs pos="100000">
                <a:srgbClr val="05070D">
                  <a:alpha val="100000"/>
                </a:srgbClr>
              </a:gs>
            </a:gsLst>
            <a:path path="circle">
              <a:fillToRect l="50000" t="0" r="5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2D3EE">
                  <a:alpha val="7000"/>
                </a:srgbClr>
              </a:gs>
              <a:gs pos="70000">
                <a:srgbClr val="22D3EE">
                  <a:alpha val="0"/>
                </a:srgbClr>
              </a:gs>
            </a:gsLst>
            <a:path path="circle">
              <a:fillToRect l="50000" t="16000" r="50000" b="84000"/>
            </a:path>
          </a:gradFill>
          <a:ln/>
        </p:spPr>
      </p:sp>
      <p:sp>
        <p:nvSpPr>
          <p:cNvPr id="4" name="Shape 2"/>
          <p:cNvSpPr/>
          <p:nvPr/>
        </p:nvSpPr>
        <p:spPr>
          <a:xfrm>
            <a:off x="1257300" y="814388"/>
            <a:ext cx="171450" cy="28575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  <a:effectLst>
            <a:outerShdw sx="100000" sy="100000" kx="0" ky="0" algn="bl" rotWithShape="0" blurRad="114300" dist="50800" dir="16200000">
              <a:srgbClr val="22D3EE">
                <a:alpha val="7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562100" y="742950"/>
            <a:ext cx="220616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357" kern="0" dirty="0">
                <a:solidFill>
                  <a:srgbClr val="7C8A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SCORING COVERAGE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257300" y="1047750"/>
            <a:ext cx="17350740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750" b="1" spc="-37" kern="0" dirty="0">
                <a:solidFill>
                  <a:srgbClr val="F1F5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评分点覆盖:从基础闭环到加分项</a:t>
            </a:r>
            <a:endParaRPr lang="en-US" sz="3750" dirty="0"/>
          </a:p>
        </p:txBody>
      </p:sp>
      <p:sp>
        <p:nvSpPr>
          <p:cNvPr id="7" name="Text 5"/>
          <p:cNvSpPr/>
          <p:nvPr/>
        </p:nvSpPr>
        <p:spPr>
          <a:xfrm>
            <a:off x="1466850" y="3040063"/>
            <a:ext cx="2724150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98" kern="0" dirty="0">
                <a:solidFill>
                  <a:srgbClr val="5A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比赛评分项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4171950" y="3040063"/>
            <a:ext cx="12091035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98" kern="0" dirty="0">
                <a:solidFill>
                  <a:srgbClr val="5A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项目实现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15249525" y="3040063"/>
            <a:ext cx="1571625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75" spc="98" kern="0" dirty="0">
                <a:solidFill>
                  <a:srgbClr val="5A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状态</a:t>
            </a:r>
            <a:endParaRPr lang="en-US" sz="975" dirty="0"/>
          </a:p>
        </p:txBody>
      </p:sp>
      <p:sp>
        <p:nvSpPr>
          <p:cNvPr id="10" name="Shape 8"/>
          <p:cNvSpPr/>
          <p:nvPr/>
        </p:nvSpPr>
        <p:spPr>
          <a:xfrm>
            <a:off x="1257300" y="3319463"/>
            <a:ext cx="15773400" cy="9525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466850" y="3468688"/>
            <a:ext cx="272415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E2E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样例输入与解析</a:t>
            </a:r>
            <a:endParaRPr lang="en-US" sz="1575" dirty="0"/>
          </a:p>
        </p:txBody>
      </p:sp>
      <p:sp>
        <p:nvSpPr>
          <p:cNvPr id="12" name="Text 10"/>
          <p:cNvSpPr/>
          <p:nvPr/>
        </p:nvSpPr>
        <p:spPr>
          <a:xfrm>
            <a:off x="4171950" y="3506788"/>
            <a:ext cx="12091035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9AA6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Rough / Fine Scan</a:t>
            </a:r>
            <a:endParaRPr lang="en-US" sz="1275" dirty="0"/>
          </a:p>
        </p:txBody>
      </p:sp>
      <p:sp>
        <p:nvSpPr>
          <p:cNvPr id="13" name="Shape 11"/>
          <p:cNvSpPr/>
          <p:nvPr/>
        </p:nvSpPr>
        <p:spPr>
          <a:xfrm>
            <a:off x="15794038" y="3500438"/>
            <a:ext cx="1027113" cy="266700"/>
          </a:xfrm>
          <a:prstGeom prst="roundRect">
            <a:avLst>
              <a:gd name="adj" fmla="val 50000"/>
            </a:avLst>
          </a:prstGeom>
          <a:ln w="6350">
            <a:solidFill>
              <a:srgbClr val="22D3EE">
                <a:alpha val="4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5838488" y="3554413"/>
            <a:ext cx="862013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38" dirty="0">
                <a:solidFill>
                  <a:srgbClr val="7DE7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implemented</a:t>
            </a:r>
            <a:endParaRPr lang="en-US" sz="938" dirty="0"/>
          </a:p>
        </p:txBody>
      </p:sp>
      <p:sp>
        <p:nvSpPr>
          <p:cNvPr id="15" name="Shape 13"/>
          <p:cNvSpPr/>
          <p:nvPr/>
        </p:nvSpPr>
        <p:spPr>
          <a:xfrm>
            <a:off x="1257300" y="3903663"/>
            <a:ext cx="15773400" cy="9525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1466850" y="4052888"/>
            <a:ext cx="272415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E2E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结构拆解</a:t>
            </a:r>
            <a:endParaRPr lang="en-US" sz="1575" dirty="0"/>
          </a:p>
        </p:txBody>
      </p:sp>
      <p:sp>
        <p:nvSpPr>
          <p:cNvPr id="17" name="Text 15"/>
          <p:cNvSpPr/>
          <p:nvPr/>
        </p:nvSpPr>
        <p:spPr>
          <a:xfrm>
            <a:off x="4171950" y="4090987"/>
            <a:ext cx="12091035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9AA6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ViralStructureGraph</a:t>
            </a:r>
            <a:endParaRPr lang="en-US" sz="1275" dirty="0"/>
          </a:p>
        </p:txBody>
      </p:sp>
      <p:sp>
        <p:nvSpPr>
          <p:cNvPr id="18" name="Shape 16"/>
          <p:cNvSpPr/>
          <p:nvPr/>
        </p:nvSpPr>
        <p:spPr>
          <a:xfrm>
            <a:off x="15794038" y="4084638"/>
            <a:ext cx="1027113" cy="266700"/>
          </a:xfrm>
          <a:prstGeom prst="roundRect">
            <a:avLst>
              <a:gd name="adj" fmla="val 50000"/>
            </a:avLst>
          </a:prstGeom>
          <a:ln w="6350">
            <a:solidFill>
              <a:srgbClr val="22D3EE">
                <a:alpha val="4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5838488" y="4138613"/>
            <a:ext cx="862013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38" dirty="0">
                <a:solidFill>
                  <a:srgbClr val="7DE7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implemented</a:t>
            </a:r>
            <a:endParaRPr lang="en-US" sz="938" dirty="0"/>
          </a:p>
        </p:txBody>
      </p:sp>
      <p:sp>
        <p:nvSpPr>
          <p:cNvPr id="20" name="Shape 18"/>
          <p:cNvSpPr/>
          <p:nvPr/>
        </p:nvSpPr>
        <p:spPr>
          <a:xfrm>
            <a:off x="1257300" y="4487863"/>
            <a:ext cx="15773400" cy="9525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1466850" y="4637088"/>
            <a:ext cx="272415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E2E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结构迁移生成</a:t>
            </a:r>
            <a:endParaRPr lang="en-US" sz="1575" dirty="0"/>
          </a:p>
        </p:txBody>
      </p:sp>
      <p:sp>
        <p:nvSpPr>
          <p:cNvPr id="22" name="Text 20"/>
          <p:cNvSpPr/>
          <p:nvPr/>
        </p:nvSpPr>
        <p:spPr>
          <a:xfrm>
            <a:off x="4171950" y="4675188"/>
            <a:ext cx="12091035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9AA6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Director Agent</a:t>
            </a:r>
            <a:endParaRPr lang="en-US" sz="1275" dirty="0"/>
          </a:p>
        </p:txBody>
      </p:sp>
      <p:sp>
        <p:nvSpPr>
          <p:cNvPr id="23" name="Shape 21"/>
          <p:cNvSpPr/>
          <p:nvPr/>
        </p:nvSpPr>
        <p:spPr>
          <a:xfrm>
            <a:off x="15794038" y="4668838"/>
            <a:ext cx="1027113" cy="266700"/>
          </a:xfrm>
          <a:prstGeom prst="roundRect">
            <a:avLst>
              <a:gd name="adj" fmla="val 50000"/>
            </a:avLst>
          </a:prstGeom>
          <a:ln w="6350">
            <a:solidFill>
              <a:srgbClr val="22D3EE">
                <a:alpha val="4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5838488" y="4722813"/>
            <a:ext cx="862013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38" dirty="0">
                <a:solidFill>
                  <a:srgbClr val="7DE7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implemented</a:t>
            </a:r>
            <a:endParaRPr lang="en-US" sz="938" dirty="0"/>
          </a:p>
        </p:txBody>
      </p:sp>
      <p:sp>
        <p:nvSpPr>
          <p:cNvPr id="25" name="Shape 23"/>
          <p:cNvSpPr/>
          <p:nvPr/>
        </p:nvSpPr>
        <p:spPr>
          <a:xfrm>
            <a:off x="1257300" y="5072063"/>
            <a:ext cx="15773400" cy="9525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1466850" y="5221288"/>
            <a:ext cx="272415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E2E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素材缺口识别</a:t>
            </a:r>
            <a:endParaRPr lang="en-US" sz="1575" dirty="0"/>
          </a:p>
        </p:txBody>
      </p:sp>
      <p:sp>
        <p:nvSpPr>
          <p:cNvPr id="27" name="Text 25"/>
          <p:cNvSpPr/>
          <p:nvPr/>
        </p:nvSpPr>
        <p:spPr>
          <a:xfrm>
            <a:off x="4171950" y="5259388"/>
            <a:ext cx="12091035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9AA6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SlotMatcher / Gap</a:t>
            </a:r>
            <a:endParaRPr lang="en-US" sz="1275" dirty="0"/>
          </a:p>
        </p:txBody>
      </p:sp>
      <p:sp>
        <p:nvSpPr>
          <p:cNvPr id="28" name="Shape 26"/>
          <p:cNvSpPr/>
          <p:nvPr/>
        </p:nvSpPr>
        <p:spPr>
          <a:xfrm>
            <a:off x="15794038" y="5253038"/>
            <a:ext cx="1027113" cy="266700"/>
          </a:xfrm>
          <a:prstGeom prst="roundRect">
            <a:avLst>
              <a:gd name="adj" fmla="val 50000"/>
            </a:avLst>
          </a:prstGeom>
          <a:ln w="6350">
            <a:solidFill>
              <a:srgbClr val="22D3EE">
                <a:alpha val="4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5838488" y="5307013"/>
            <a:ext cx="862013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38" dirty="0">
                <a:solidFill>
                  <a:srgbClr val="7DE7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implemented</a:t>
            </a:r>
            <a:endParaRPr lang="en-US" sz="938" dirty="0"/>
          </a:p>
        </p:txBody>
      </p:sp>
      <p:sp>
        <p:nvSpPr>
          <p:cNvPr id="30" name="Shape 28"/>
          <p:cNvSpPr/>
          <p:nvPr/>
        </p:nvSpPr>
        <p:spPr>
          <a:xfrm>
            <a:off x="1257300" y="5656263"/>
            <a:ext cx="15773400" cy="9525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1466850" y="5805488"/>
            <a:ext cx="272415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E2E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素材缺口补全</a:t>
            </a:r>
            <a:endParaRPr lang="en-US" sz="1575" dirty="0"/>
          </a:p>
        </p:txBody>
      </p:sp>
      <p:sp>
        <p:nvSpPr>
          <p:cNvPr id="32" name="Text 30"/>
          <p:cNvSpPr/>
          <p:nvPr/>
        </p:nvSpPr>
        <p:spPr>
          <a:xfrm>
            <a:off x="4171950" y="5843588"/>
            <a:ext cx="12091035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9AA6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reshoot / HF / AIGC</a:t>
            </a:r>
            <a:endParaRPr lang="en-US" sz="1275" dirty="0"/>
          </a:p>
        </p:txBody>
      </p:sp>
      <p:sp>
        <p:nvSpPr>
          <p:cNvPr id="33" name="Shape 31"/>
          <p:cNvSpPr/>
          <p:nvPr/>
        </p:nvSpPr>
        <p:spPr>
          <a:xfrm>
            <a:off x="15936913" y="5837238"/>
            <a:ext cx="884238" cy="266700"/>
          </a:xfrm>
          <a:prstGeom prst="roundRect">
            <a:avLst>
              <a:gd name="adj" fmla="val 50000"/>
            </a:avLst>
          </a:prstGeom>
          <a:ln w="6350">
            <a:solidFill>
              <a:srgbClr val="FBBF24">
                <a:alpha val="4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5981363" y="5891213"/>
            <a:ext cx="719138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38" dirty="0">
                <a:solidFill>
                  <a:srgbClr val="FFD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plan-only</a:t>
            </a:r>
            <a:endParaRPr lang="en-US" sz="938" dirty="0"/>
          </a:p>
        </p:txBody>
      </p:sp>
      <p:sp>
        <p:nvSpPr>
          <p:cNvPr id="35" name="Shape 33"/>
          <p:cNvSpPr/>
          <p:nvPr/>
        </p:nvSpPr>
        <p:spPr>
          <a:xfrm>
            <a:off x="1257300" y="6240463"/>
            <a:ext cx="15773400" cy="9525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1466850" y="6389688"/>
            <a:ext cx="272415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E2E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迁移过程可视化</a:t>
            </a:r>
            <a:endParaRPr lang="en-US" sz="1575" dirty="0"/>
          </a:p>
        </p:txBody>
      </p:sp>
      <p:sp>
        <p:nvSpPr>
          <p:cNvPr id="37" name="Text 35"/>
          <p:cNvSpPr/>
          <p:nvPr/>
        </p:nvSpPr>
        <p:spPr>
          <a:xfrm>
            <a:off x="4171950" y="6427788"/>
            <a:ext cx="12091035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9AA6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 timeline / report</a:t>
            </a:r>
            <a:endParaRPr lang="en-US" sz="1275" dirty="0"/>
          </a:p>
        </p:txBody>
      </p:sp>
      <p:sp>
        <p:nvSpPr>
          <p:cNvPr id="38" name="Shape 36"/>
          <p:cNvSpPr/>
          <p:nvPr/>
        </p:nvSpPr>
        <p:spPr>
          <a:xfrm>
            <a:off x="15794038" y="6421438"/>
            <a:ext cx="1027113" cy="266700"/>
          </a:xfrm>
          <a:prstGeom prst="roundRect">
            <a:avLst>
              <a:gd name="adj" fmla="val 50000"/>
            </a:avLst>
          </a:prstGeom>
          <a:ln w="6350">
            <a:solidFill>
              <a:srgbClr val="22D3EE">
                <a:alpha val="4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5838488" y="6475413"/>
            <a:ext cx="862013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38" dirty="0">
                <a:solidFill>
                  <a:srgbClr val="7DE7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implemented</a:t>
            </a:r>
            <a:endParaRPr lang="en-US" sz="938" dirty="0"/>
          </a:p>
        </p:txBody>
      </p:sp>
      <p:sp>
        <p:nvSpPr>
          <p:cNvPr id="40" name="Shape 38"/>
          <p:cNvSpPr/>
          <p:nvPr/>
        </p:nvSpPr>
        <p:spPr>
          <a:xfrm>
            <a:off x="1257300" y="6824663"/>
            <a:ext cx="15773400" cy="9525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1466850" y="6973888"/>
            <a:ext cx="272415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E2E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人机协同</a:t>
            </a:r>
            <a:endParaRPr lang="en-US" sz="1575" dirty="0"/>
          </a:p>
        </p:txBody>
      </p:sp>
      <p:sp>
        <p:nvSpPr>
          <p:cNvPr id="42" name="Text 40"/>
          <p:cNvSpPr/>
          <p:nvPr/>
        </p:nvSpPr>
        <p:spPr>
          <a:xfrm>
            <a:off x="4171950" y="7011988"/>
            <a:ext cx="12091035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9AA6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NL edit / patch</a:t>
            </a:r>
            <a:endParaRPr lang="en-US" sz="1275" dirty="0"/>
          </a:p>
        </p:txBody>
      </p:sp>
      <p:sp>
        <p:nvSpPr>
          <p:cNvPr id="43" name="Shape 41"/>
          <p:cNvSpPr/>
          <p:nvPr/>
        </p:nvSpPr>
        <p:spPr>
          <a:xfrm>
            <a:off x="15794038" y="7005638"/>
            <a:ext cx="1027113" cy="266700"/>
          </a:xfrm>
          <a:prstGeom prst="roundRect">
            <a:avLst>
              <a:gd name="adj" fmla="val 50000"/>
            </a:avLst>
          </a:prstGeom>
          <a:ln w="6350">
            <a:solidFill>
              <a:srgbClr val="22D3EE">
                <a:alpha val="40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5838488" y="7059613"/>
            <a:ext cx="862013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38" dirty="0">
                <a:solidFill>
                  <a:srgbClr val="7DE7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implemented</a:t>
            </a:r>
            <a:endParaRPr lang="en-US" sz="938" dirty="0"/>
          </a:p>
        </p:txBody>
      </p:sp>
      <p:sp>
        <p:nvSpPr>
          <p:cNvPr id="45" name="Shape 43"/>
          <p:cNvSpPr/>
          <p:nvPr/>
        </p:nvSpPr>
        <p:spPr>
          <a:xfrm>
            <a:off x="1257300" y="7993063"/>
            <a:ext cx="15773400" cy="9525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1257300" y="7408863"/>
            <a:ext cx="15773400" cy="9525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1466850" y="7558088"/>
            <a:ext cx="272415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E2E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工程质量</a:t>
            </a:r>
            <a:endParaRPr lang="en-US" sz="1575" dirty="0"/>
          </a:p>
        </p:txBody>
      </p:sp>
      <p:sp>
        <p:nvSpPr>
          <p:cNvPr id="48" name="Text 46"/>
          <p:cNvSpPr/>
          <p:nvPr/>
        </p:nvSpPr>
        <p:spPr>
          <a:xfrm>
            <a:off x="4171950" y="7596187"/>
            <a:ext cx="12091035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9AA6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typecheck / test / build</a:t>
            </a:r>
            <a:endParaRPr lang="en-US" sz="1275" dirty="0"/>
          </a:p>
        </p:txBody>
      </p:sp>
      <p:sp>
        <p:nvSpPr>
          <p:cNvPr id="49" name="Shape 47"/>
          <p:cNvSpPr/>
          <p:nvPr/>
        </p:nvSpPr>
        <p:spPr>
          <a:xfrm>
            <a:off x="16008351" y="7589838"/>
            <a:ext cx="812800" cy="266700"/>
          </a:xfrm>
          <a:prstGeom prst="roundRect">
            <a:avLst>
              <a:gd name="adj" fmla="val 50000"/>
            </a:avLst>
          </a:prstGeom>
          <a:ln w="6350">
            <a:solidFill>
              <a:srgbClr val="34D399">
                <a:alpha val="4000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6052801" y="7643813"/>
            <a:ext cx="647700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38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verified</a:t>
            </a:r>
            <a:endParaRPr lang="en-US" sz="938" dirty="0"/>
          </a:p>
        </p:txBody>
      </p:sp>
      <p:pic>
        <p:nvPicPr>
          <p:cNvPr id="5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9600" y="9601200"/>
            <a:ext cx="209550" cy="209550"/>
          </a:xfrm>
          <a:prstGeom prst="rect">
            <a:avLst/>
          </a:prstGeom>
        </p:spPr>
      </p:pic>
      <p:sp>
        <p:nvSpPr>
          <p:cNvPr id="52" name="Text 49"/>
          <p:cNvSpPr/>
          <p:nvPr/>
        </p:nvSpPr>
        <p:spPr>
          <a:xfrm>
            <a:off x="933450" y="9623425"/>
            <a:ext cx="1634490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95" kern="0" dirty="0">
                <a:solidFill>
                  <a:srgbClr val="5A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VIRAL STRUCT AI</a:t>
            </a:r>
            <a:endParaRPr lang="en-US" sz="975" dirty="0"/>
          </a:p>
        </p:txBody>
      </p:sp>
      <p:sp>
        <p:nvSpPr>
          <p:cNvPr id="53" name="Shape 50"/>
          <p:cNvSpPr/>
          <p:nvPr/>
        </p:nvSpPr>
        <p:spPr>
          <a:xfrm>
            <a:off x="15430500" y="9572625"/>
            <a:ext cx="152400" cy="28575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54" name="Shape 51"/>
          <p:cNvSpPr/>
          <p:nvPr/>
        </p:nvSpPr>
        <p:spPr>
          <a:xfrm>
            <a:off x="15640050" y="9572625"/>
            <a:ext cx="152400" cy="28575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55" name="Shape 52"/>
          <p:cNvSpPr/>
          <p:nvPr/>
        </p:nvSpPr>
        <p:spPr>
          <a:xfrm>
            <a:off x="15849600" y="9572625"/>
            <a:ext cx="152400" cy="28575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56" name="Shape 53"/>
          <p:cNvSpPr/>
          <p:nvPr/>
        </p:nvSpPr>
        <p:spPr>
          <a:xfrm>
            <a:off x="16059150" y="9572625"/>
            <a:ext cx="152400" cy="28575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57" name="Shape 54"/>
          <p:cNvSpPr/>
          <p:nvPr/>
        </p:nvSpPr>
        <p:spPr>
          <a:xfrm>
            <a:off x="16268700" y="9572625"/>
            <a:ext cx="152400" cy="28575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58" name="Shape 55"/>
          <p:cNvSpPr/>
          <p:nvPr/>
        </p:nvSpPr>
        <p:spPr>
          <a:xfrm>
            <a:off x="16478250" y="9572625"/>
            <a:ext cx="152400" cy="28575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59" name="Shape 56"/>
          <p:cNvSpPr/>
          <p:nvPr/>
        </p:nvSpPr>
        <p:spPr>
          <a:xfrm>
            <a:off x="16687800" y="9572625"/>
            <a:ext cx="152400" cy="28575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60" name="Shape 57"/>
          <p:cNvSpPr/>
          <p:nvPr/>
        </p:nvSpPr>
        <p:spPr>
          <a:xfrm>
            <a:off x="16897350" y="9572625"/>
            <a:ext cx="152400" cy="28575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61" name="Shape 58"/>
          <p:cNvSpPr/>
          <p:nvPr/>
        </p:nvSpPr>
        <p:spPr>
          <a:xfrm>
            <a:off x="17106900" y="9572625"/>
            <a:ext cx="152400" cy="28575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  <a:effectLst>
            <a:outerShdw sx="100000" sy="100000" kx="0" ky="0" algn="bl" rotWithShape="0" blurRad="95250" dist="50800" dir="16200000">
              <a:srgbClr val="22D3EE">
                <a:alpha val="85000"/>
              </a:srgbClr>
            </a:outerShdw>
          </a:effectLst>
        </p:spPr>
      </p:sp>
      <p:sp>
        <p:nvSpPr>
          <p:cNvPr id="62" name="Shape 59"/>
          <p:cNvSpPr/>
          <p:nvPr/>
        </p:nvSpPr>
        <p:spPr>
          <a:xfrm>
            <a:off x="17316450" y="9572625"/>
            <a:ext cx="152400" cy="28575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63" name="Shape 60"/>
          <p:cNvSpPr/>
          <p:nvPr/>
        </p:nvSpPr>
        <p:spPr>
          <a:xfrm>
            <a:off x="17526000" y="9572625"/>
            <a:ext cx="152400" cy="28575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64" name="Text 61"/>
          <p:cNvSpPr/>
          <p:nvPr/>
        </p:nvSpPr>
        <p:spPr>
          <a:xfrm>
            <a:off x="15430500" y="9639300"/>
            <a:ext cx="700286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17" kern="0" dirty="0">
                <a:solidFill>
                  <a:srgbClr val="5A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/ 11</a:t>
            </a:r>
            <a:endParaRPr lang="en-US" sz="97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0C1426">
                  <a:alpha val="100000"/>
                </a:srgbClr>
              </a:gs>
              <a:gs pos="52000">
                <a:srgbClr val="070A12">
                  <a:alpha val="100000"/>
                </a:srgbClr>
              </a:gs>
              <a:gs pos="100000">
                <a:srgbClr val="05070D">
                  <a:alpha val="100000"/>
                </a:srgbClr>
              </a:gs>
            </a:gsLst>
            <a:path path="circle">
              <a:fillToRect l="50000" t="0" r="5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2D3EE">
                  <a:alpha val="7000"/>
                </a:srgbClr>
              </a:gs>
              <a:gs pos="70000">
                <a:srgbClr val="22D3EE">
                  <a:alpha val="0"/>
                </a:srgbClr>
              </a:gs>
            </a:gsLst>
            <a:path path="circle">
              <a:fillToRect l="50000" t="16000" r="50000" b="84000"/>
            </a:path>
          </a:gradFill>
          <a:ln/>
        </p:spPr>
      </p:sp>
      <p:sp>
        <p:nvSpPr>
          <p:cNvPr id="4" name="Shape 2"/>
          <p:cNvSpPr/>
          <p:nvPr/>
        </p:nvSpPr>
        <p:spPr>
          <a:xfrm>
            <a:off x="1257300" y="833438"/>
            <a:ext cx="171450" cy="28575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  <a:effectLst>
            <a:outerShdw sx="100000" sy="100000" kx="0" ky="0" algn="bl" rotWithShape="0" blurRad="114300" dist="50800" dir="16200000">
              <a:srgbClr val="22D3EE">
                <a:alpha val="7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524000" y="762000"/>
            <a:ext cx="953691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50" spc="357" kern="0" dirty="0">
                <a:solidFill>
                  <a:srgbClr val="7C8A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SUMMARY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619634" y="2874268"/>
            <a:ext cx="11048634" cy="7112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4650" b="1" spc="-70" kern="0" dirty="0">
                <a:solidFill>
                  <a:srgbClr val="F4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从「模仿爆款」</a:t>
            </a:r>
            <a:pPr algn="ctr" indent="0" marL="0">
              <a:lnSpc>
                <a:spcPct val="114000"/>
              </a:lnSpc>
              <a:buNone/>
            </a:pPr>
            <a:r>
              <a:rPr lang="en-US" sz="4650" b="1" spc="-70" kern="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</a:t>
            </a:r>
            <a:pPr algn="ctr" indent="0" marL="0">
              <a:lnSpc>
                <a:spcPct val="114000"/>
              </a:lnSpc>
              <a:buNone/>
            </a:pPr>
            <a:r>
              <a:rPr lang="en-US" sz="4650" b="1" spc="-70" kern="0" dirty="0">
                <a:solidFill>
                  <a:srgbClr val="F4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到</a:t>
            </a:r>
            <a:pPr algn="ctr" indent="0" marL="0">
              <a:lnSpc>
                <a:spcPct val="114000"/>
              </a:lnSpc>
              <a:buNone/>
            </a:pPr>
            <a:r>
              <a:rPr lang="en-US" sz="4650" b="1" spc="-70" kern="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「编译爆款结构」</a:t>
            </a:r>
            <a:endParaRPr lang="en-US" sz="4650" dirty="0"/>
          </a:p>
        </p:txBody>
      </p:sp>
      <p:sp>
        <p:nvSpPr>
          <p:cNvPr id="7" name="Shape 5"/>
          <p:cNvSpPr/>
          <p:nvPr/>
        </p:nvSpPr>
        <p:spPr>
          <a:xfrm>
            <a:off x="3632200" y="4023717"/>
            <a:ext cx="3522067" cy="1845866"/>
          </a:xfrm>
          <a:prstGeom prst="roundRect">
            <a:avLst>
              <a:gd name="adj" fmla="val 9288"/>
            </a:avLst>
          </a:prstGeom>
          <a:solidFill>
            <a:srgbClr val="22D3EE">
              <a:alpha val="5000"/>
            </a:srgbClr>
          </a:solidFill>
          <a:ln w="6350">
            <a:solidFill>
              <a:srgbClr val="22D3EE">
                <a:alpha val="22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24300" y="4315817"/>
            <a:ext cx="3231654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7DE7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924300" y="4601567"/>
            <a:ext cx="3231654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F1F5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结构解耦</a:t>
            </a:r>
            <a:endParaRPr lang="en-US" sz="1875" dirty="0"/>
          </a:p>
        </p:txBody>
      </p:sp>
      <p:sp>
        <p:nvSpPr>
          <p:cNvPr id="10" name="Text 8"/>
          <p:cNvSpPr/>
          <p:nvPr/>
        </p:nvSpPr>
        <p:spPr>
          <a:xfrm>
            <a:off x="3924300" y="5046068"/>
            <a:ext cx="3026003" cy="5695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350" dirty="0">
                <a:solidFill>
                  <a:srgbClr val="9AA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迁移 role / subtype / motionToken,而非复制画面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7382867" y="4023717"/>
            <a:ext cx="3522166" cy="1845866"/>
          </a:xfrm>
          <a:prstGeom prst="roundRect">
            <a:avLst>
              <a:gd name="adj" fmla="val 9288"/>
            </a:avLst>
          </a:prstGeom>
          <a:solidFill>
            <a:srgbClr val="FBBF24">
              <a:alpha val="5000"/>
            </a:srgbClr>
          </a:solidFill>
          <a:ln w="6350">
            <a:solidFill>
              <a:srgbClr val="FBBF24">
                <a:alpha val="22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74968" y="4315817"/>
            <a:ext cx="3231763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FD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674968" y="4601567"/>
            <a:ext cx="3231763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F1F5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素材诚实诊断</a:t>
            </a:r>
            <a:endParaRPr lang="en-US" sz="1875" dirty="0"/>
          </a:p>
        </p:txBody>
      </p:sp>
      <p:sp>
        <p:nvSpPr>
          <p:cNvPr id="14" name="Text 12"/>
          <p:cNvSpPr/>
          <p:nvPr/>
        </p:nvSpPr>
        <p:spPr>
          <a:xfrm>
            <a:off x="7674968" y="5046068"/>
            <a:ext cx="3026106" cy="5695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350" dirty="0">
                <a:solidFill>
                  <a:srgbClr val="9AA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SlotMatcher 判功能,MaterialGap 暴缺口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11133634" y="4023717"/>
            <a:ext cx="3522166" cy="1845866"/>
          </a:xfrm>
          <a:prstGeom prst="roundRect">
            <a:avLst>
              <a:gd name="adj" fmla="val 9288"/>
            </a:avLst>
          </a:prstGeom>
          <a:solidFill>
            <a:srgbClr val="34D399">
              <a:alpha val="5000"/>
            </a:srgbClr>
          </a:solidFill>
          <a:ln w="6350">
            <a:solidFill>
              <a:srgbClr val="34D399">
                <a:alpha val="22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425734" y="4315817"/>
            <a:ext cx="3231763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1425734" y="4601567"/>
            <a:ext cx="3231763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F1F5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工程化 AI 协作</a:t>
            </a:r>
            <a:endParaRPr lang="en-US" sz="1875" dirty="0"/>
          </a:p>
        </p:txBody>
      </p:sp>
      <p:sp>
        <p:nvSpPr>
          <p:cNvPr id="18" name="Text 16"/>
          <p:cNvSpPr/>
          <p:nvPr/>
        </p:nvSpPr>
        <p:spPr>
          <a:xfrm>
            <a:off x="11425734" y="5046068"/>
            <a:ext cx="3231763" cy="303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350" dirty="0">
                <a:solidFill>
                  <a:srgbClr val="9AA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可解释、可验证、可降级的创作链路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047516" y="6269633"/>
            <a:ext cx="8192969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75" dirty="0">
                <a:solidFill>
                  <a:srgbClr val="AEB9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把「看起来有效的爆款视频」,变成</a:t>
            </a:r>
            <a:pPr algn="ctr" indent="0" marL="0">
              <a:buNone/>
            </a:pPr>
            <a:r>
              <a:rPr lang="en-US" sz="1875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可复用、可编辑、可迁移</a:t>
            </a:r>
            <a:pPr algn="ctr" indent="0" marL="0">
              <a:buNone/>
            </a:pPr>
            <a:r>
              <a:rPr lang="en-US" sz="1875" dirty="0">
                <a:solidFill>
                  <a:srgbClr val="AEB9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的创作结构</a:t>
            </a:r>
            <a:endParaRPr lang="en-US" sz="1875" dirty="0"/>
          </a:p>
        </p:txBody>
      </p:sp>
      <p:sp>
        <p:nvSpPr>
          <p:cNvPr id="20" name="Text 18"/>
          <p:cNvSpPr/>
          <p:nvPr/>
        </p:nvSpPr>
        <p:spPr>
          <a:xfrm>
            <a:off x="8417233" y="6942733"/>
            <a:ext cx="1453535" cy="508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550" b="1" spc="51" kern="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欢迎提问</a:t>
            </a:r>
            <a:endParaRPr lang="en-US" sz="2550" dirty="0"/>
          </a:p>
        </p:txBody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9600" y="9601200"/>
            <a:ext cx="209550" cy="20955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933450" y="9623425"/>
            <a:ext cx="1634490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95" kern="0" dirty="0">
                <a:solidFill>
                  <a:srgbClr val="5A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VIRAL STRUCT AI</a:t>
            </a:r>
            <a:endParaRPr lang="en-US" sz="975" dirty="0"/>
          </a:p>
        </p:txBody>
      </p:sp>
      <p:sp>
        <p:nvSpPr>
          <p:cNvPr id="23" name="Shape 20"/>
          <p:cNvSpPr/>
          <p:nvPr/>
        </p:nvSpPr>
        <p:spPr>
          <a:xfrm>
            <a:off x="15430500" y="9572625"/>
            <a:ext cx="152400" cy="28575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24" name="Shape 21"/>
          <p:cNvSpPr/>
          <p:nvPr/>
        </p:nvSpPr>
        <p:spPr>
          <a:xfrm>
            <a:off x="15640050" y="9572625"/>
            <a:ext cx="152400" cy="28575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25" name="Shape 22"/>
          <p:cNvSpPr/>
          <p:nvPr/>
        </p:nvSpPr>
        <p:spPr>
          <a:xfrm>
            <a:off x="15849600" y="9572625"/>
            <a:ext cx="152400" cy="28575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26" name="Shape 23"/>
          <p:cNvSpPr/>
          <p:nvPr/>
        </p:nvSpPr>
        <p:spPr>
          <a:xfrm>
            <a:off x="16059150" y="9572625"/>
            <a:ext cx="152400" cy="28575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27" name="Shape 24"/>
          <p:cNvSpPr/>
          <p:nvPr/>
        </p:nvSpPr>
        <p:spPr>
          <a:xfrm>
            <a:off x="16268700" y="9572625"/>
            <a:ext cx="152400" cy="28575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28" name="Shape 25"/>
          <p:cNvSpPr/>
          <p:nvPr/>
        </p:nvSpPr>
        <p:spPr>
          <a:xfrm>
            <a:off x="16478250" y="9572625"/>
            <a:ext cx="152400" cy="28575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29" name="Shape 26"/>
          <p:cNvSpPr/>
          <p:nvPr/>
        </p:nvSpPr>
        <p:spPr>
          <a:xfrm>
            <a:off x="16687800" y="9572625"/>
            <a:ext cx="152400" cy="28575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30" name="Shape 27"/>
          <p:cNvSpPr/>
          <p:nvPr/>
        </p:nvSpPr>
        <p:spPr>
          <a:xfrm>
            <a:off x="16897350" y="9572625"/>
            <a:ext cx="152400" cy="28575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31" name="Shape 28"/>
          <p:cNvSpPr/>
          <p:nvPr/>
        </p:nvSpPr>
        <p:spPr>
          <a:xfrm>
            <a:off x="17106900" y="9572625"/>
            <a:ext cx="152400" cy="28575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32" name="Shape 29"/>
          <p:cNvSpPr/>
          <p:nvPr/>
        </p:nvSpPr>
        <p:spPr>
          <a:xfrm>
            <a:off x="17316450" y="9572625"/>
            <a:ext cx="152400" cy="28575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  <a:effectLst>
            <a:outerShdw sx="100000" sy="100000" kx="0" ky="0" algn="bl" rotWithShape="0" blurRad="95250" dist="50800" dir="16200000">
              <a:srgbClr val="22D3EE">
                <a:alpha val="85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17526000" y="9572625"/>
            <a:ext cx="152400" cy="28575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34" name="Text 31"/>
          <p:cNvSpPr/>
          <p:nvPr/>
        </p:nvSpPr>
        <p:spPr>
          <a:xfrm>
            <a:off x="15430500" y="9639300"/>
            <a:ext cx="700286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17" kern="0" dirty="0">
                <a:solidFill>
                  <a:srgbClr val="5A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/ 11</a:t>
            </a:r>
            <a:endParaRPr lang="en-US" sz="9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2026-06-23T13:56:05Z</dcterms:created>
  <dcterms:modified xsi:type="dcterms:W3CDTF">2026-06-23T13:56:05Z</dcterms:modified>
</cp:coreProperties>
</file>